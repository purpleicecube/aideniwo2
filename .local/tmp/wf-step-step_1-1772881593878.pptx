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011680"/>
            <a:ext cx="10362895" cy="1828800"/>
          </a:xfrm>
          <a:prstGeom prst="rect">
            <a:avLst/>
          </a:prstGeom>
          <a:noFill/>
        </p:spPr>
        <p:txBody>
          <a:bodyPr wrap="square">
            <a:spAutoFit/>
          </a:bodyPr>
          <a:lstStyle/>
          <a:p>
            <a:pPr algn="ctr">
              <a:defRPr sz="4400" b="1">
                <a:solidFill>
                  <a:srgbClr val="FFFFFF"/>
                </a:solidFill>
              </a:defRPr>
            </a:pPr>
            <a:r>
              <a:t>Draft Content</a:t>
            </a:r>
          </a:p>
        </p:txBody>
      </p:sp>
      <p:sp>
        <p:nvSpPr>
          <p:cNvPr id="3" name="Rectangle 2"/>
          <p:cNvSpPr/>
          <p:nvPr/>
        </p:nvSpPr>
        <p:spPr>
          <a:xfrm>
            <a:off x="4114800" y="4023360"/>
            <a:ext cx="3962095" cy="508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1</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1 – Mission &amp; Vision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 Empowering the future of work through intelligent, seamless automation.</a:t>
            </a:r>
          </a:p>
          <a:p>
            <a:pPr>
              <a:spcAft>
                <a:spcPts val="800"/>
              </a:spcAft>
              <a:defRPr sz="1800">
                <a:solidFill>
                  <a:srgbClr val="2D2D2D"/>
                </a:solidFill>
              </a:defRPr>
            </a:pPr>
            <a:r>
              <a:t>•  We believe technology should amplify human potential, not replace it. Our mission is to create an intuitive, AI‑driven platform that removes friction from every workflow, letting teams focus on what truly matters: creativity, strategy, and impact.</a:t>
            </a:r>
          </a:p>
          <a:p>
            <a:pPr>
              <a:spcAft>
                <a:spcPts val="800"/>
              </a:spcAft>
              <a:defRPr sz="1800">
                <a:solidFill>
                  <a:srgbClr val="2D2D2D"/>
                </a:solidFill>
              </a:defRPr>
            </a:pPr>
            <a:r>
              <a:t>•  Why it matters</a:t>
            </a:r>
          </a:p>
          <a:p>
            <a:pPr>
              <a:spcAft>
                <a:spcPts val="800"/>
              </a:spcAft>
              <a:defRPr sz="1800">
                <a:solidFill>
                  <a:srgbClr val="2D2D2D"/>
                </a:solidFill>
              </a:defRPr>
            </a:pPr>
            <a:r>
              <a:t>•  Clarity – One unified interface that speaks the language of every department.</a:t>
            </a:r>
          </a:p>
          <a:p>
            <a:pPr>
              <a:spcAft>
                <a:spcPts val="800"/>
              </a:spcAft>
              <a:defRPr sz="1800">
                <a:solidFill>
                  <a:srgbClr val="2D2D2D"/>
                </a:solidFill>
              </a:defRPr>
            </a:pPr>
            <a:r>
              <a:t>•  Speed – Instant, context‑aware assistance that accelerates decision‑making.</a:t>
            </a:r>
          </a:p>
          <a:p>
            <a:pPr>
              <a:spcAft>
                <a:spcPts val="800"/>
              </a:spcAft>
              <a:defRPr sz="1800">
                <a:solidFill>
                  <a:srgbClr val="2D2D2D"/>
                </a:solidFill>
              </a:defRPr>
            </a:pPr>
            <a:r>
              <a:t>•  Trust – Transparent AI that respects privacy and security, built for enterprise standards.</a:t>
            </a:r>
          </a:p>
          <a:p>
            <a:pPr>
              <a:spcAft>
                <a:spcPts val="800"/>
              </a:spcAft>
              <a:defRPr sz="1800">
                <a:solidFill>
                  <a:srgbClr val="2D2D2D"/>
                </a:solidFill>
              </a:defRPr>
            </a:pPr>
            <a:r>
              <a: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2</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2 – Core Features &amp; Value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1. Adaptive Workflow Engine</a:t>
            </a:r>
          </a:p>
          <a:p>
            <a:pPr>
              <a:spcAft>
                <a:spcPts val="800"/>
              </a:spcAft>
              <a:defRPr sz="1800">
                <a:solidFill>
                  <a:srgbClr val="2D2D2D"/>
                </a:solidFill>
              </a:defRPr>
            </a:pPr>
            <a:r>
              <a:t>•  Automatically maps, optimizes, and executes processes across tools you already use.</a:t>
            </a:r>
          </a:p>
          <a:p>
            <a:pPr>
              <a:spcAft>
                <a:spcPts val="800"/>
              </a:spcAft>
              <a:defRPr sz="1800">
                <a:solidFill>
                  <a:srgbClr val="2D2D2D"/>
                </a:solidFill>
              </a:defRPr>
            </a:pPr>
            <a:r>
              <a:t>•  Zero‑code orchestration – Drag‑and‑drop flows that adapt in real‑time.</a:t>
            </a:r>
          </a:p>
          <a:p>
            <a:pPr>
              <a:spcAft>
                <a:spcPts val="800"/>
              </a:spcAft>
              <a:defRPr sz="1800">
                <a:solidFill>
                  <a:srgbClr val="2D2D2D"/>
                </a:solidFill>
              </a:defRPr>
            </a:pPr>
            <a:r>
              <a:t>•  Cross‑platform sync – Seamless integration with Slack, Teams, Jira, Salesforce, and more.</a:t>
            </a:r>
          </a:p>
          <a:p>
            <a:pPr>
              <a:spcAft>
                <a:spcPts val="800"/>
              </a:spcAft>
              <a:defRPr sz="1800">
                <a:solidFill>
                  <a:srgbClr val="2D2D2D"/>
                </a:solidFill>
              </a:defRPr>
            </a:pPr>
            <a:r>
              <a:t>•  ### 2. Conversational AI Assistant</a:t>
            </a:r>
          </a:p>
          <a:p>
            <a:pPr>
              <a:spcAft>
                <a:spcPts val="800"/>
              </a:spcAft>
              <a:defRPr sz="1800">
                <a:solidFill>
                  <a:srgbClr val="2D2D2D"/>
                </a:solidFill>
              </a:defRPr>
            </a:pPr>
            <a:r>
              <a:t>•  Natural‑language interface that understands intent and delivers results instantly.</a:t>
            </a:r>
          </a:p>
          <a:p>
            <a:pPr>
              <a:spcAft>
                <a:spcPts val="800"/>
              </a:spcAft>
              <a:defRPr sz="1800">
                <a:solidFill>
                  <a:srgbClr val="2D2D2D"/>
                </a:solidFill>
              </a:defRPr>
            </a:pPr>
            <a:r>
              <a:t>•  Contextual memory – Remembers project history, preferences, and deadlines.</a:t>
            </a:r>
          </a:p>
          <a:p>
            <a:pPr>
              <a:spcAft>
                <a:spcPts val="800"/>
              </a:spcAft>
              <a:defRPr sz="1800">
                <a:solidFill>
                  <a:srgbClr val="2D2D2D"/>
                </a:solidFill>
              </a:defRPr>
            </a:pPr>
            <a:r>
              <a:t>•  Actionable insights – Generates reports, forecasts, and recommendations on demand.</a:t>
            </a:r>
          </a:p>
          <a:p>
            <a:pPr>
              <a:spcAft>
                <a:spcPts val="800"/>
              </a:spcAft>
              <a:defRPr sz="1800">
                <a:solidFill>
                  <a:srgbClr val="2D2D2D"/>
                </a:solidFill>
              </a:defRPr>
            </a:pPr>
            <a:r>
              <a:t>•  ### 3. Intelligent Knowledge Hub</a:t>
            </a:r>
          </a:p>
          <a:p>
            <a:pPr>
              <a:spcAft>
                <a:spcPts val="800"/>
              </a:spcAft>
              <a:defRPr sz="1800">
                <a:solidFill>
                  <a:srgbClr val="2D2D2D"/>
                </a:solidFill>
              </a:defRPr>
            </a:pPr>
            <a:r>
              <a:t>•  Centralized, searchable repository powered by AI‑enhanced indexing.</a:t>
            </a:r>
          </a:p>
          <a:p>
            <a:pPr>
              <a:spcAft>
                <a:spcPts val="800"/>
              </a:spcAft>
              <a:defRPr sz="1800">
                <a:solidFill>
                  <a:srgbClr val="2D2D2D"/>
                </a:solidFill>
              </a:defRPr>
            </a:pPr>
            <a:r>
              <a:t>•  Dynamic retrieval – Finds the right document, code snippet, or policy in seconds.</a:t>
            </a:r>
          </a:p>
          <a:p>
            <a:pPr>
              <a:spcAft>
                <a:spcPts val="800"/>
              </a:spcAft>
              <a:defRPr sz="1800">
                <a:solidFill>
                  <a:srgbClr val="2D2D2D"/>
                </a:solidFill>
              </a:defRPr>
            </a:pPr>
            <a:r>
              <a:t>•  Continuous learning – Improves relevance as your organization evolves.</a:t>
            </a:r>
          </a:p>
          <a:p>
            <a:pPr>
              <a:spcAft>
                <a:spcPts val="800"/>
              </a:spcAft>
              <a:defRPr sz="1800">
                <a:solidFill>
                  <a:srgbClr val="2D2D2D"/>
                </a:solidFill>
              </a:defRPr>
            </a:pPr>
            <a:r>
              <a:t>•  ### 4. Enterprise‑grade Security</a:t>
            </a:r>
          </a:p>
          <a:p>
            <a:pPr>
              <a:spcAft>
                <a:spcPts val="800"/>
              </a:spcAft>
              <a:defRPr sz="1800">
                <a:solidFill>
                  <a:srgbClr val="2D2D2D"/>
                </a:solidFill>
              </a:defRPr>
            </a:pPr>
            <a:r>
              <a:t>•  Built‑in compliance, encryption, and role‑based access control.</a:t>
            </a:r>
          </a:p>
          <a:p>
            <a:pPr>
              <a:spcAft>
                <a:spcPts val="800"/>
              </a:spcAft>
              <a:defRPr sz="1800">
                <a:solidFill>
                  <a:srgbClr val="2D2D2D"/>
                </a:solidFill>
              </a:defRPr>
            </a:pPr>
            <a:r>
              <a:t>•  SOC 2, ISO 27001 – Certified to protect your most sensitive data.</a:t>
            </a:r>
          </a:p>
          <a:p>
            <a:pPr>
              <a:spcAft>
                <a:spcPts val="800"/>
              </a:spcAft>
              <a:defRPr sz="1800">
                <a:solidFill>
                  <a:srgbClr val="2D2D2D"/>
                </a:solidFill>
              </a:defRPr>
            </a:pPr>
            <a:r>
              <a:t>•  Audit trails – Full visibility into every automated action.</a:t>
            </a:r>
          </a:p>
          <a:p>
            <a:pPr>
              <a:spcAft>
                <a:spcPts val="800"/>
              </a:spcAft>
              <a:defRPr sz="1800">
                <a:solidFill>
                  <a:srgbClr val="2D2D2D"/>
                </a:solidFill>
              </a:defRPr>
            </a:pPr>
            <a:r>
              <a:t>•  The Aiden IWO advantage</a:t>
            </a:r>
          </a:p>
          <a:p>
            <a:pPr>
              <a:spcAft>
                <a:spcPts val="800"/>
              </a:spcAft>
              <a:defRPr sz="1800">
                <a:solidFill>
                  <a:srgbClr val="2D2D2D"/>
                </a:solidFill>
              </a:defRPr>
            </a:pPr>
            <a:r>
              <a:t>•  Productivity boost – Teams report up to 30 % faster project completion.</a:t>
            </a:r>
          </a:p>
          <a:p>
            <a:pPr>
              <a:spcAft>
                <a:spcPts val="800"/>
              </a:spcAft>
              <a:defRPr sz="1800">
                <a:solidFill>
                  <a:srgbClr val="2D2D2D"/>
                </a:solidFill>
              </a:defRPr>
            </a:pPr>
            <a:r>
              <a:t>•  Cost reduction – Automate repetitive tasks, freeing budget for innovation.</a:t>
            </a:r>
          </a:p>
          <a:p>
            <a:pPr>
              <a:spcAft>
                <a:spcPts val="800"/>
              </a:spcAft>
              <a:defRPr sz="1800">
                <a:solidFill>
                  <a:srgbClr val="2D2D2D"/>
                </a:solidFill>
              </a:defRPr>
            </a:pPr>
            <a:r>
              <a:t>•  Scalable impact – From startups to Fortune 500, the platform grows with you.</a:t>
            </a:r>
          </a:p>
          <a:p>
            <a:pPr>
              <a:spcAft>
                <a:spcPts val="800"/>
              </a:spcAft>
              <a:defRPr sz="1800">
                <a:solidFill>
                  <a:srgbClr val="2D2D2D"/>
                </a:solidFill>
              </a:defRPr>
            </a:pPr>
            <a:r>
              <a:t>•  Experience the future of work. Experience Aiden IWO.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3</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1 – Mission &amp; Vision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 Empowering the Future of Work</a:t>
            </a:r>
          </a:p>
          <a:p>
            <a:pPr>
              <a:spcAft>
                <a:spcPts val="800"/>
              </a:spcAft>
              <a:defRPr sz="1800">
                <a:solidFill>
                  <a:srgbClr val="2D2D2D"/>
                </a:solidFill>
              </a:defRPr>
            </a:pPr>
            <a:r>
              <a:t>•  We believe technology should amplify human potential, not replace it. Our mission is to deliver an intuitive, AI‑driven platform that removes friction from every workflow, so teams can focus on what truly matters: creativity, strategy, and impact.</a:t>
            </a:r>
          </a:p>
          <a:p>
            <a:pPr>
              <a:spcAft>
                <a:spcPts val="800"/>
              </a:spcAft>
              <a:defRPr sz="1800">
                <a:solidFill>
                  <a:srgbClr val="2D2D2D"/>
                </a:solidFill>
              </a:defRPr>
            </a:pPr>
            <a:r>
              <a:t>•  Why it matters</a:t>
            </a:r>
          </a:p>
          <a:p>
            <a:pPr>
              <a:spcAft>
                <a:spcPts val="800"/>
              </a:spcAft>
              <a:defRPr sz="1800">
                <a:solidFill>
                  <a:srgbClr val="2D2D2D"/>
                </a:solidFill>
              </a:defRPr>
            </a:pPr>
            <a:r>
              <a:t>•  Clarity – One unified interface that speaks every department’s language.</a:t>
            </a:r>
          </a:p>
          <a:p>
            <a:pPr>
              <a:spcAft>
                <a:spcPts val="800"/>
              </a:spcAft>
              <a:defRPr sz="1800">
                <a:solidFill>
                  <a:srgbClr val="2D2D2D"/>
                </a:solidFill>
              </a:defRPr>
            </a:pPr>
            <a:r>
              <a:t>•  Speed – Context‑aware assistance that accelerates decision‑making instantly.</a:t>
            </a:r>
          </a:p>
          <a:p>
            <a:pPr>
              <a:spcAft>
                <a:spcPts val="800"/>
              </a:spcAft>
              <a:defRPr sz="1800">
                <a:solidFill>
                  <a:srgbClr val="2D2D2D"/>
                </a:solidFill>
              </a:defRPr>
            </a:pPr>
            <a:r>
              <a:t>•  Trust – Transparent AI that respects privacy and meets enterprise‑grade security standards.</a:t>
            </a:r>
          </a:p>
          <a:p>
            <a:pPr>
              <a:spcAft>
                <a:spcPts val="800"/>
              </a:spcAft>
              <a:defRPr sz="1800">
                <a:solidFill>
                  <a:srgbClr val="2D2D2D"/>
                </a:solidFill>
              </a:defRPr>
            </a:pP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4</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2 – Core Features &amp; Value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1. Adaptive Workflow Engine</a:t>
            </a:r>
          </a:p>
          <a:p>
            <a:pPr>
              <a:spcAft>
                <a:spcPts val="800"/>
              </a:spcAft>
              <a:defRPr sz="1800">
                <a:solidFill>
                  <a:srgbClr val="2D2D2D"/>
                </a:solidFill>
              </a:defRPr>
            </a:pPr>
            <a:r>
              <a:t>•  Map, optimize, and execute processes across the tools you already use.</a:t>
            </a:r>
          </a:p>
          <a:p>
            <a:pPr>
              <a:spcAft>
                <a:spcPts val="800"/>
              </a:spcAft>
              <a:defRPr sz="1800">
                <a:solidFill>
                  <a:srgbClr val="2D2D2D"/>
                </a:solidFill>
              </a:defRPr>
            </a:pPr>
            <a:r>
              <a:t>•  Zero‑code orchestration – Drag‑and‑drop flows that adapt in real‑time.</a:t>
            </a:r>
          </a:p>
          <a:p>
            <a:pPr>
              <a:spcAft>
                <a:spcPts val="800"/>
              </a:spcAft>
              <a:defRPr sz="1800">
                <a:solidFill>
                  <a:srgbClr val="2D2D2D"/>
                </a:solidFill>
              </a:defRPr>
            </a:pPr>
            <a:r>
              <a:t>•  Cross‑platform sync – Native integrations with Slack, Teams, Jira, Salesforce, and more.</a:t>
            </a:r>
          </a:p>
          <a:p>
            <a:pPr>
              <a:spcAft>
                <a:spcPts val="800"/>
              </a:spcAft>
              <a:defRPr sz="1800">
                <a:solidFill>
                  <a:srgbClr val="2D2D2D"/>
                </a:solidFill>
              </a:defRPr>
            </a:pPr>
            <a:r>
              <a:t>•  ### 2. Conversational AI Assistant</a:t>
            </a:r>
          </a:p>
          <a:p>
            <a:pPr>
              <a:spcAft>
                <a:spcPts val="800"/>
              </a:spcAft>
              <a:defRPr sz="1800">
                <a:solidFill>
                  <a:srgbClr val="2D2D2D"/>
                </a:solidFill>
              </a:defRPr>
            </a:pPr>
            <a:r>
              <a:t>•  Natural‑language interface that understands intent and delivers results instantly.</a:t>
            </a:r>
          </a:p>
          <a:p>
            <a:pPr>
              <a:spcAft>
                <a:spcPts val="800"/>
              </a:spcAft>
              <a:defRPr sz="1800">
                <a:solidFill>
                  <a:srgbClr val="2D2D2D"/>
                </a:solidFill>
              </a:defRPr>
            </a:pPr>
            <a:r>
              <a:t>•  Contextual memory – Remembers project history, preferences, and deadlines.</a:t>
            </a:r>
          </a:p>
          <a:p>
            <a:pPr>
              <a:spcAft>
                <a:spcPts val="800"/>
              </a:spcAft>
              <a:defRPr sz="1800">
                <a:solidFill>
                  <a:srgbClr val="2D2D2D"/>
                </a:solidFill>
              </a:defRPr>
            </a:pPr>
            <a:r>
              <a:t>•  Actionable insights – Generates reports, forecasts, and recommendations on demand.</a:t>
            </a:r>
          </a:p>
          <a:p>
            <a:pPr>
              <a:spcAft>
                <a:spcPts val="800"/>
              </a:spcAft>
              <a:defRPr sz="1800">
                <a:solidFill>
                  <a:srgbClr val="2D2D2D"/>
                </a:solidFill>
              </a:defRPr>
            </a:pPr>
            <a:r>
              <a:t>•  ### 3. Intelligent Knowledge Hub</a:t>
            </a:r>
          </a:p>
          <a:p>
            <a:pPr>
              <a:spcAft>
                <a:spcPts val="800"/>
              </a:spcAft>
              <a:defRPr sz="1800">
                <a:solidFill>
                  <a:srgbClr val="2D2D2D"/>
                </a:solidFill>
              </a:defRPr>
            </a:pPr>
            <a:r>
              <a:t>•  Centralized, searchable repository powered by AI‑enhanced indexing.</a:t>
            </a:r>
          </a:p>
          <a:p>
            <a:pPr>
              <a:spcAft>
                <a:spcPts val="800"/>
              </a:spcAft>
              <a:defRPr sz="1800">
                <a:solidFill>
                  <a:srgbClr val="2D2D2D"/>
                </a:solidFill>
              </a:defRPr>
            </a:pPr>
            <a:r>
              <a:t>•  Dynamic retrieval – Finds the right document, code snippet, or policy in seconds.</a:t>
            </a:r>
          </a:p>
          <a:p>
            <a:pPr>
              <a:spcAft>
                <a:spcPts val="800"/>
              </a:spcAft>
              <a:defRPr sz="1800">
                <a:solidFill>
                  <a:srgbClr val="2D2D2D"/>
                </a:solidFill>
              </a:defRPr>
            </a:pPr>
            <a:r>
              <a:t>•  Continuous learning – Improves relevance as your organization evolves.</a:t>
            </a:r>
          </a:p>
          <a:p>
            <a:pPr>
              <a:spcAft>
                <a:spcPts val="800"/>
              </a:spcAft>
              <a:defRPr sz="1800">
                <a:solidFill>
                  <a:srgbClr val="2D2D2D"/>
                </a:solidFill>
              </a:defRPr>
            </a:pPr>
            <a:r>
              <a:t>•  ### 4. Enterprise‑grade Security</a:t>
            </a:r>
          </a:p>
          <a:p>
            <a:pPr>
              <a:spcAft>
                <a:spcPts val="800"/>
              </a:spcAft>
              <a:defRPr sz="1800">
                <a:solidFill>
                  <a:srgbClr val="2D2D2D"/>
                </a:solidFill>
              </a:defRPr>
            </a:pPr>
            <a:r>
              <a:t>•  Built‑in compliance, encryption, and role‑based access control.</a:t>
            </a:r>
          </a:p>
          <a:p>
            <a:pPr>
              <a:spcAft>
                <a:spcPts val="800"/>
              </a:spcAft>
              <a:defRPr sz="1800">
                <a:solidFill>
                  <a:srgbClr val="2D2D2D"/>
                </a:solidFill>
              </a:defRPr>
            </a:pPr>
            <a:r>
              <a:t>•  SOC 2, ISO 27001 – Certified to protect your most sensitive data.</a:t>
            </a:r>
          </a:p>
          <a:p>
            <a:pPr>
              <a:spcAft>
                <a:spcPts val="800"/>
              </a:spcAft>
              <a:defRPr sz="1800">
                <a:solidFill>
                  <a:srgbClr val="2D2D2D"/>
                </a:solidFill>
              </a:defRPr>
            </a:pPr>
            <a:r>
              <a:t>•  Audit trails – Full visibility into every automated action.</a:t>
            </a:r>
          </a:p>
          <a:p>
            <a:pPr>
              <a:spcAft>
                <a:spcPts val="800"/>
              </a:spcAft>
              <a:defRPr sz="1800">
                <a:solidFill>
                  <a:srgbClr val="2D2D2D"/>
                </a:solidFill>
              </a:defRPr>
            </a:pPr>
            <a:r>
              <a:t>•  The Aiden IWO advantage</a:t>
            </a:r>
          </a:p>
          <a:p>
            <a:pPr>
              <a:spcAft>
                <a:spcPts val="800"/>
              </a:spcAft>
              <a:defRPr sz="1800">
                <a:solidFill>
                  <a:srgbClr val="2D2D2D"/>
                </a:solidFill>
              </a:defRPr>
            </a:pPr>
            <a:r>
              <a:t>•  Productivity boost – Teams achieve up to 30 % faster project completion.</a:t>
            </a:r>
          </a:p>
          <a:p>
            <a:pPr>
              <a:spcAft>
                <a:spcPts val="800"/>
              </a:spcAft>
              <a:defRPr sz="1800">
                <a:solidFill>
                  <a:srgbClr val="2D2D2D"/>
                </a:solidFill>
              </a:defRPr>
            </a:pPr>
            <a:r>
              <a:t>•  Cost reduction – Automate repetitive tasks, freeing budget for innovation.</a:t>
            </a:r>
          </a:p>
          <a:p>
            <a:pPr>
              <a:spcAft>
                <a:spcPts val="800"/>
              </a:spcAft>
              <a:defRPr sz="1800">
                <a:solidFill>
                  <a:srgbClr val="2D2D2D"/>
                </a:solidFill>
              </a:defRPr>
            </a:pPr>
            <a:r>
              <a:t>•  Scalable impact – From startups to Fortune 500, the platform grows with you.</a:t>
            </a:r>
          </a:p>
          <a:p>
            <a:pPr>
              <a:spcAft>
                <a:spcPts val="800"/>
              </a:spcAft>
              <a:defRPr sz="1800">
                <a:solidFill>
                  <a:srgbClr val="2D2D2D"/>
                </a:solidFill>
              </a:defRPr>
            </a:pPr>
            <a:r>
              <a:t>•  Experience the future of work. Experience Aiden IWO.</a:t>
            </a:r>
          </a:p>
          <a:p>
            <a:pPr>
              <a:spcAft>
                <a:spcPts val="800"/>
              </a:spcAft>
              <a:defRPr sz="1800">
                <a:solidFill>
                  <a:srgbClr val="2D2D2D"/>
                </a:solidFill>
              </a:defRPr>
            </a:pPr>
            <a:r>
              <a:t>•  &lt;!DOCTYPE html&gt;</a:t>
            </a:r>
          </a:p>
          <a:p>
            <a:pPr>
              <a:spcAft>
                <a:spcPts val="800"/>
              </a:spcAft>
              <a:defRPr sz="1800">
                <a:solidFill>
                  <a:srgbClr val="2D2D2D"/>
                </a:solidFill>
              </a:defRPr>
            </a:pPr>
            <a:r>
              <a:t>•  &lt;html&gt;</a:t>
            </a:r>
          </a:p>
          <a:p>
            <a:pPr>
              <a:spcAft>
                <a:spcPts val="800"/>
              </a:spcAft>
              <a:defRPr sz="1800">
                <a:solidFill>
                  <a:srgbClr val="2D2D2D"/>
                </a:solidFill>
              </a:defRPr>
            </a:pPr>
            <a:r>
              <a:t>•  &lt;head&gt;</a:t>
            </a:r>
          </a:p>
          <a:p>
            <a:pPr>
              <a:spcAft>
                <a:spcPts val="800"/>
              </a:spcAft>
              <a:defRPr sz="1800">
                <a:solidFill>
                  <a:srgbClr val="2D2D2D"/>
                </a:solidFill>
              </a:defRPr>
            </a:pPr>
            <a:r>
              <a:t>•  &lt;meta charset="UTF-8"&gt;</a:t>
            </a:r>
          </a:p>
          <a:p>
            <a:pPr>
              <a:spcAft>
                <a:spcPts val="800"/>
              </a:spcAft>
              <a:defRPr sz="1800">
                <a:solidFill>
                  <a:srgbClr val="2D2D2D"/>
                </a:solidFill>
              </a:defRPr>
            </a:pPr>
            <a:r>
              <a:t>•  &lt;title&gt;Aiden IWO Pitch&lt;/title&gt;</a:t>
            </a:r>
          </a:p>
          <a:p>
            <a:pPr>
              <a:spcAft>
                <a:spcPts val="800"/>
              </a:spcAft>
              <a:defRPr sz="1800">
                <a:solidFill>
                  <a:srgbClr val="2D2D2D"/>
                </a:solidFill>
              </a:defRPr>
            </a:pPr>
            <a:r>
              <a:t>•  &lt;style&gt;</a:t>
            </a:r>
          </a:p>
          <a:p>
            <a:pPr>
              <a:spcAft>
                <a:spcPts val="800"/>
              </a:spcAft>
              <a:defRPr sz="1800">
                <a:solidFill>
                  <a:srgbClr val="2D2D2D"/>
                </a:solidFill>
              </a:defRPr>
            </a:pPr>
            <a:r>
              <a:t>•  :root{</a:t>
            </a:r>
          </a:p>
          <a:p>
            <a:pPr>
              <a:spcAft>
                <a:spcPts val="800"/>
              </a:spcAft>
              <a:defRPr sz="1800">
                <a:solidFill>
                  <a:srgbClr val="2D2D2D"/>
                </a:solidFill>
              </a:defRPr>
            </a:pPr>
            <a:r>
              <a:t>•  --primary:#0A84FF; / Apple blue /</a:t>
            </a:r>
          </a:p>
          <a:p>
            <a:pPr>
              <a:spcAft>
                <a:spcPts val="800"/>
              </a:spcAft>
              <a:defRPr sz="1800">
                <a:solidFill>
                  <a:srgbClr val="2D2D2D"/>
                </a:solidFill>
              </a:defRPr>
            </a:pPr>
            <a:r>
              <a:t>•  --bg:#F5F5F7;</a:t>
            </a:r>
          </a:p>
          <a:p>
            <a:pPr>
              <a:spcAft>
                <a:spcPts val="800"/>
              </a:spcAft>
              <a:defRPr sz="1800">
                <a:solidFill>
                  <a:srgbClr val="2D2D2D"/>
                </a:solidFill>
              </a:defRPr>
            </a:pPr>
            <a:r>
              <a:t>•  --dark:#1D1D1F;</a:t>
            </a:r>
          </a:p>
          <a:p>
            <a:pPr>
              <a:spcAft>
                <a:spcPts val="800"/>
              </a:spcAft>
              <a:defRPr sz="1800">
                <a:solidFill>
                  <a:srgbClr val="2D2D2D"/>
                </a:solidFill>
              </a:defRPr>
            </a:pPr>
            <a:r>
              <a:t>•  }</a:t>
            </a:r>
          </a:p>
          <a:p>
            <a:pPr>
              <a:spcAft>
                <a:spcPts val="800"/>
              </a:spcAft>
              <a:defRPr sz="1800">
                <a:solidFill>
                  <a:srgbClr val="2D2D2D"/>
                </a:solidFill>
              </a:defRPr>
            </a:pPr>
            <a:r>
              <a:t>•  body{</a:t>
            </a:r>
          </a:p>
          <a:p>
            <a:pPr>
              <a:spcAft>
                <a:spcPts val="800"/>
              </a:spcAft>
              <a:defRPr sz="1800">
                <a:solidFill>
                  <a:srgbClr val="2D2D2D"/>
                </a:solidFill>
              </a:defRPr>
            </a:pPr>
            <a:r>
              <a:t>•  margin:0;</a:t>
            </a:r>
          </a:p>
          <a:p>
            <a:pPr>
              <a:spcAft>
                <a:spcPts val="800"/>
              </a:spcAft>
              <a:defRPr sz="1800">
                <a:solidFill>
                  <a:srgbClr val="2D2D2D"/>
                </a:solidFill>
              </a:defRPr>
            </a:pPr>
            <a:r>
              <a:t>•  font-family:-apple-system, BlinkMacSystemFont, "Helvetica Neue", Helvetica, Arial, sans-serif;</a:t>
            </a:r>
          </a:p>
          <a:p>
            <a:pPr>
              <a:spcAft>
                <a:spcPts val="800"/>
              </a:spcAft>
              <a:defRPr sz="1800">
                <a:solidFill>
                  <a:srgbClr val="2D2D2D"/>
                </a:solidFill>
              </a:defRPr>
            </a:pPr>
            <a:r>
              <a:t>•  color:var(--dark);</a:t>
            </a:r>
          </a:p>
          <a:p>
            <a:pPr>
              <a:spcAft>
                <a:spcPts val="800"/>
              </a:spcAft>
              <a:defRPr sz="1800">
                <a:solidFill>
                  <a:srgbClr val="2D2D2D"/>
                </a:solidFill>
              </a:defRPr>
            </a:pPr>
            <a:r>
              <a:t>•  background:var(--bg);</a:t>
            </a:r>
          </a:p>
          <a:p>
            <a:pPr>
              <a:spcAft>
                <a:spcPts val="800"/>
              </a:spcAft>
              <a:defRPr sz="1800">
                <a:solidFill>
                  <a:srgbClr val="2D2D2D"/>
                </a:solidFill>
              </a:defRPr>
            </a:pPr>
            <a:r>
              <a:t>•  }</a:t>
            </a:r>
          </a:p>
          <a:p>
            <a:pPr>
              <a:spcAft>
                <a:spcPts val="800"/>
              </a:spcAft>
              <a:defRPr sz="1800">
                <a:solidFill>
                  <a:srgbClr val="2D2D2D"/>
                </a:solidFill>
              </a:defRPr>
            </a:pPr>
            <a:r>
              <a:t>•  .page{</a:t>
            </a:r>
          </a:p>
          <a:p>
            <a:pPr>
              <a:spcAft>
                <a:spcPts val="800"/>
              </a:spcAft>
              <a:defRPr sz="1800">
                <a:solidFill>
                  <a:srgbClr val="2D2D2D"/>
                </a:solidFill>
              </a:defRPr>
            </a:pPr>
            <a:r>
              <a:t>•  width:8.5in;</a:t>
            </a:r>
          </a:p>
          <a:p>
            <a:pPr>
              <a:spcAft>
                <a:spcPts val="800"/>
              </a:spcAft>
              <a:defRPr sz="1800">
                <a:solidFill>
                  <a:srgbClr val="2D2D2D"/>
                </a:solidFill>
              </a:defRPr>
            </a:pPr>
            <a:r>
              <a:t>•  height:11in;</a:t>
            </a:r>
          </a:p>
          <a:p>
            <a:pPr>
              <a:spcAft>
                <a:spcPts val="800"/>
              </a:spcAft>
              <a:defRPr sz="1800">
                <a:solidFill>
                  <a:srgbClr val="2D2D2D"/>
                </a:solidFill>
              </a:defRPr>
            </a:pPr>
            <a:r>
              <a:t>•  padding:1in;</a:t>
            </a:r>
          </a:p>
          <a:p>
            <a:pPr>
              <a:spcAft>
                <a:spcPts val="800"/>
              </a:spcAft>
              <a:defRPr sz="1800">
                <a:solidFill>
                  <a:srgbClr val="2D2D2D"/>
                </a:solidFill>
              </a:defRPr>
            </a:pPr>
            <a:r>
              <a:t>•  box-sizing:border-box;</a:t>
            </a:r>
          </a:p>
          <a:p>
            <a:pPr>
              <a:spcAft>
                <a:spcPts val="800"/>
              </a:spcAft>
              <a:defRPr sz="1800">
                <a:solidFill>
                  <a:srgbClr val="2D2D2D"/>
                </a:solidFill>
              </a:defRPr>
            </a:pPr>
            <a:r>
              <a:t>•  background:white;</a:t>
            </a:r>
          </a:p>
          <a:p>
            <a:pPr>
              <a:spcAft>
                <a:spcPts val="800"/>
              </a:spcAft>
              <a:defRPr sz="1800">
                <a:solidFill>
                  <a:srgbClr val="2D2D2D"/>
                </a:solidFill>
              </a:defRPr>
            </a:pPr>
            <a:r>
              <a:t>•  margin:0 auto;</a:t>
            </a:r>
          </a:p>
          <a:p>
            <a:pPr>
              <a:spcAft>
                <a:spcPts val="800"/>
              </a:spcAft>
              <a:defRPr sz="1800">
                <a:solidFill>
                  <a:srgbClr val="2D2D2D"/>
                </a:solidFill>
              </a:defRPr>
            </a:pPr>
            <a:r>
              <a:t>•  position:relative;</a:t>
            </a:r>
          </a:p>
          <a:p>
            <a:pPr>
              <a:spcAft>
                <a:spcPts val="800"/>
              </a:spcAft>
              <a:defRPr sz="1800">
                <a:solidFill>
                  <a:srgbClr val="2D2D2D"/>
                </a:solidFill>
              </a:defRPr>
            </a:pPr>
            <a:r>
              <a:t>•  overflow:hidden;</a:t>
            </a:r>
          </a:p>
          <a:p>
            <a:pPr>
              <a:spcAft>
                <a:spcPts val="800"/>
              </a:spcAft>
              <a:defRPr sz="1800">
                <a:solidFill>
                  <a:srgbClr val="2D2D2D"/>
                </a:solidFill>
              </a:defRPr>
            </a:pPr>
            <a:r>
              <a:t>•  }</a:t>
            </a:r>
          </a:p>
          <a:p>
            <a:pPr>
              <a:spcAft>
                <a:spcPts val="800"/>
              </a:spcAft>
              <a:defRPr sz="1800">
                <a:solidFill>
                  <a:srgbClr val="2D2D2D"/>
                </a:solidFill>
              </a:defRPr>
            </a:pPr>
            <a:r>
              <a:t>•  .page + .page{</a:t>
            </a:r>
          </a:p>
          <a:p>
            <a:pPr>
              <a:spcAft>
                <a:spcPts val="800"/>
              </a:spcAft>
              <a:defRPr sz="1800">
                <a:solidFill>
                  <a:srgbClr val="2D2D2D"/>
                </a:solidFill>
              </a:defRPr>
            </a:pPr>
            <a:r>
              <a:t>•  page-break-before:always;</a:t>
            </a:r>
          </a:p>
          <a:p>
            <a:pPr>
              <a:spcAft>
                <a:spcPts val="800"/>
              </a:spcAft>
              <a:defRPr sz="1800">
                <a:solidFill>
                  <a:srgbClr val="2D2D2D"/>
                </a:solidFill>
              </a:defRPr>
            </a:pPr>
            <a:r>
              <a:t>•  }</a:t>
            </a:r>
          </a:p>
          <a:p>
            <a:pPr>
              <a:spcAft>
                <a:spcPts val="800"/>
              </a:spcAft>
              <a:defRPr sz="1800">
                <a:solidFill>
                  <a:srgbClr val="2D2D2D"/>
                </a:solidFill>
              </a:defRPr>
            </a:pPr>
            <a:r>
              <a:t>•  h1{</a:t>
            </a:r>
          </a:p>
          <a:p>
            <a:pPr>
              <a:spcAft>
                <a:spcPts val="800"/>
              </a:spcAft>
              <a:defRPr sz="1800">
                <a:solidFill>
                  <a:srgbClr val="2D2D2D"/>
                </a:solidFill>
              </a:defRPr>
            </a:pPr>
            <a:r>
              <a:t>•  font-size:36pt;</a:t>
            </a:r>
          </a:p>
          <a:p>
            <a:pPr>
              <a:spcAft>
                <a:spcPts val="800"/>
              </a:spcAft>
              <a:defRPr sz="1800">
                <a:solidFill>
                  <a:srgbClr val="2D2D2D"/>
                </a:solidFill>
              </a:defRPr>
            </a:pPr>
            <a:r>
              <a:t>•  margin:0 0 .5em;</a:t>
            </a:r>
          </a:p>
          <a:p>
            <a:pPr>
              <a:spcAft>
                <a:spcPts val="800"/>
              </a:spcAft>
              <a:defRPr sz="1800">
                <a:solidFill>
                  <a:srgbClr val="2D2D2D"/>
                </a:solidFill>
              </a:defRPr>
            </a:pPr>
            <a:r>
              <a:t>•  color:var(--primary);</a:t>
            </a:r>
          </a:p>
          <a:p>
            <a:pPr>
              <a:spcAft>
                <a:spcPts val="800"/>
              </a:spcAft>
              <a:defRPr sz="1800">
                <a:solidFill>
                  <a:srgbClr val="2D2D2D"/>
                </a:solidFill>
              </a:defRPr>
            </a:pPr>
            <a:r>
              <a:t>•  }</a:t>
            </a:r>
          </a:p>
          <a:p>
            <a:pPr>
              <a:spcAft>
                <a:spcPts val="800"/>
              </a:spcAft>
              <a:defRPr sz="1800">
                <a:solidFill>
                  <a:srgbClr val="2D2D2D"/>
                </a:solidFill>
              </a:defRPr>
            </a:pPr>
            <a:r>
              <a:t>•  h2{</a:t>
            </a:r>
          </a:p>
          <a:p>
            <a:pPr>
              <a:spcAft>
                <a:spcPts val="800"/>
              </a:spcAft>
              <a:defRPr sz="1800">
                <a:solidFill>
                  <a:srgbClr val="2D2D2D"/>
                </a:solidFill>
              </a:defRPr>
            </a:pPr>
            <a:r>
              <a:t>•  font-size:24pt;</a:t>
            </a:r>
          </a:p>
          <a:p>
            <a:pPr>
              <a:spcAft>
                <a:spcPts val="800"/>
              </a:spcAft>
              <a:defRPr sz="1800">
                <a:solidFill>
                  <a:srgbClr val="2D2D2D"/>
                </a:solidFill>
              </a:defRPr>
            </a:pPr>
            <a:r>
              <a:t>•  margin:1em 0 .5em;</a:t>
            </a:r>
          </a:p>
          <a:p>
            <a:pPr>
              <a:spcAft>
                <a:spcPts val="800"/>
              </a:spcAft>
              <a:defRPr sz="1800">
                <a:solidFill>
                  <a:srgbClr val="2D2D2D"/>
                </a:solidFill>
              </a:defRPr>
            </a:pPr>
            <a:r>
              <a:t>•  color:var(--dark);</a:t>
            </a:r>
          </a:p>
          <a:p>
            <a:pPr>
              <a:spcAft>
                <a:spcPts val="800"/>
              </a:spcAft>
              <a:defRPr sz="1800">
                <a:solidFill>
                  <a:srgbClr val="2D2D2D"/>
                </a:solidFill>
              </a:defRPr>
            </a:pPr>
            <a:r>
              <a:t>•  }</a:t>
            </a:r>
          </a:p>
          <a:p>
            <a:pPr>
              <a:spcAft>
                <a:spcPts val="800"/>
              </a:spcAft>
              <a:defRPr sz="1800">
                <a:solidFill>
                  <a:srgbClr val="2D2D2D"/>
                </a:solidFill>
              </a:defRPr>
            </a:pPr>
            <a:r>
              <a:t>•  p{</a:t>
            </a:r>
          </a:p>
          <a:p>
            <a:pPr>
              <a:spcAft>
                <a:spcPts val="800"/>
              </a:spcAft>
              <a:defRPr sz="1800">
                <a:solidFill>
                  <a:srgbClr val="2D2D2D"/>
                </a:solidFill>
              </a:defRPr>
            </a:pPr>
            <a:r>
              <a:t>•  font-size:12pt;</a:t>
            </a:r>
          </a:p>
          <a:p>
            <a:pPr>
              <a:spcAft>
                <a:spcPts val="800"/>
              </a:spcAft>
              <a:defRPr sz="1800">
                <a:solidFill>
                  <a:srgbClr val="2D2D2D"/>
                </a:solidFill>
              </a:defRPr>
            </a:pPr>
            <a:r>
              <a:t>•  line-height:1.6;</a:t>
            </a:r>
          </a:p>
          <a:p>
            <a:pPr>
              <a:spcAft>
                <a:spcPts val="800"/>
              </a:spcAft>
              <a:defRPr sz="1800">
                <a:solidFill>
                  <a:srgbClr val="2D2D2D"/>
                </a:solidFill>
              </a:defRPr>
            </a:pPr>
            <a:r>
              <a:t>•  margin:0 0 1em;</a:t>
            </a:r>
          </a:p>
          <a:p>
            <a:pPr>
              <a:spcAft>
                <a:spcPts val="800"/>
              </a:spcAft>
              <a:defRPr sz="1800">
                <a:solidFill>
                  <a:srgbClr val="2D2D2D"/>
                </a:solidFill>
              </a:defRPr>
            </a:pPr>
            <a:r>
              <a:t>•  }</a:t>
            </a:r>
          </a:p>
          <a:p>
            <a:pPr>
              <a:spcAft>
                <a:spcPts val="800"/>
              </a:spcAft>
              <a:defRPr sz="1800">
                <a:solidFill>
                  <a:srgbClr val="2D2D2D"/>
                </a:solidFill>
              </a:defRPr>
            </a:pPr>
            <a:r>
              <a:t>•  ul{</a:t>
            </a:r>
          </a:p>
          <a:p>
            <a:pPr>
              <a:spcAft>
                <a:spcPts val="800"/>
              </a:spcAft>
              <a:defRPr sz="1800">
                <a:solidFill>
                  <a:srgbClr val="2D2D2D"/>
                </a:solidFill>
              </a:defRPr>
            </a:pPr>
            <a:r>
              <a:t>•  list-style:none;</a:t>
            </a:r>
          </a:p>
          <a:p>
            <a:pPr>
              <a:spcAft>
                <a:spcPts val="800"/>
              </a:spcAft>
              <a:defRPr sz="1800">
                <a:solidFill>
                  <a:srgbClr val="2D2D2D"/>
                </a:solidFill>
              </a:defRPr>
            </a:pPr>
            <a:r>
              <a:t>•  padding:0;</a:t>
            </a:r>
          </a:p>
          <a:p>
            <a:pPr>
              <a:spcAft>
                <a:spcPts val="800"/>
              </a:spcAft>
              <a:defRPr sz="1800">
                <a:solidFill>
                  <a:srgbClr val="2D2D2D"/>
                </a:solidFill>
              </a:defRPr>
            </a:pPr>
            <a:r>
              <a:t>•  margin:0 0 1em;</a:t>
            </a:r>
          </a:p>
          <a:p>
            <a:pPr>
              <a:spcAft>
                <a:spcPts val="800"/>
              </a:spcAft>
              <a:defRPr sz="1800">
                <a:solidFill>
                  <a:srgbClr val="2D2D2D"/>
                </a:solidFill>
              </a:defRPr>
            </a:pPr>
            <a:r>
              <a:t>•  }</a:t>
            </a:r>
          </a:p>
          <a:p>
            <a:pPr>
              <a:spcAft>
                <a:spcPts val="800"/>
              </a:spcAft>
              <a:defRPr sz="1800">
                <a:solidFill>
                  <a:srgbClr val="2D2D2D"/>
                </a:solidFill>
              </a:defRPr>
            </a:pPr>
            <a:r>
              <a:t>•  li{</a:t>
            </a:r>
          </a:p>
          <a:p>
            <a:pPr>
              <a:spcAft>
                <a:spcPts val="800"/>
              </a:spcAft>
              <a:defRPr sz="1800">
                <a:solidFill>
                  <a:srgbClr val="2D2D2D"/>
                </a:solidFill>
              </a:defRPr>
            </a:pPr>
            <a:r>
              <a:t>•  font-size:12pt;</a:t>
            </a:r>
          </a:p>
          <a:p>
            <a:pPr>
              <a:spcAft>
                <a:spcPts val="800"/>
              </a:spcAft>
              <a:defRPr sz="1800">
                <a:solidFill>
                  <a:srgbClr val="2D2D2D"/>
                </a:solidFill>
              </a:defRPr>
            </a:pPr>
            <a:r>
              <a:t>•  line-height:1.6;</a:t>
            </a:r>
          </a:p>
          <a:p>
            <a:pPr>
              <a:spcAft>
                <a:spcPts val="800"/>
              </a:spcAft>
              <a:defRPr sz="1800">
                <a:solidFill>
                  <a:srgbClr val="2D2D2D"/>
                </a:solidFill>
              </a:defRPr>
            </a:pPr>
            <a:r>
              <a:t>•  margin-bottom:.5em;</a:t>
            </a:r>
          </a:p>
          <a:p>
            <a:pPr>
              <a:spcAft>
                <a:spcPts val="800"/>
              </a:spcAft>
              <a:defRPr sz="1800">
                <a:solidFill>
                  <a:srgbClr val="2D2D2D"/>
                </a:solidFill>
              </a:defRPr>
            </a:pPr>
            <a:r>
              <a:t>•  position:relative;</a:t>
            </a:r>
          </a:p>
          <a:p>
            <a:pPr>
              <a:spcAft>
                <a:spcPts val="800"/>
              </a:spcAft>
              <a:defRPr sz="1800">
                <a:solidFill>
                  <a:srgbClr val="2D2D2D"/>
                </a:solidFill>
              </a:defRPr>
            </a:pPr>
            <a:r>
              <a:t>•  padding-left:1.2em;</a:t>
            </a:r>
          </a:p>
          <a:p>
            <a:pPr>
              <a:spcAft>
                <a:spcPts val="800"/>
              </a:spcAft>
              <a:defRPr sz="1800">
                <a:solidFill>
                  <a:srgbClr val="2D2D2D"/>
                </a:solidFill>
              </a:defRPr>
            </a:pPr>
            <a:r>
              <a:t>•  }</a:t>
            </a:r>
          </a:p>
          <a:p>
            <a:pPr>
              <a:spcAft>
                <a:spcPts val="800"/>
              </a:spcAft>
              <a:defRPr sz="1800">
                <a:solidFill>
                  <a:srgbClr val="2D2D2D"/>
                </a:solidFill>
              </a:defRPr>
            </a:pPr>
            <a:r>
              <a:t>•  li::before{</a:t>
            </a:r>
          </a:p>
          <a:p>
            <a:pPr>
              <a:spcAft>
                <a:spcPts val="800"/>
              </a:spcAft>
              <a:defRPr sz="1800">
                <a:solidFill>
                  <a:srgbClr val="2D2D2D"/>
                </a:solidFill>
              </a:defRPr>
            </a:pPr>
            <a:r>
              <a:t>•  content:"•";</a:t>
            </a:r>
          </a:p>
          <a:p>
            <a:pPr>
              <a:spcAft>
                <a:spcPts val="800"/>
              </a:spcAft>
              <a:defRPr sz="1800">
                <a:solidFill>
                  <a:srgbClr val="2D2D2D"/>
                </a:solidFill>
              </a:defRPr>
            </a:pPr>
            <a:r>
              <a:t>•  position:absolute;</a:t>
            </a:r>
          </a:p>
          <a:p>
            <a:pPr>
              <a:spcAft>
                <a:spcPts val="800"/>
              </a:spcAft>
              <a:defRPr sz="1800">
                <a:solidFill>
                  <a:srgbClr val="2D2D2D"/>
                </a:solidFill>
              </a:defRPr>
            </a:pPr>
            <a:r>
              <a:t>•  left:0;</a:t>
            </a:r>
          </a:p>
          <a:p>
            <a:pPr>
              <a:spcAft>
                <a:spcPts val="800"/>
              </a:spcAft>
              <a:defRPr sz="1800">
                <a:solidFill>
                  <a:srgbClr val="2D2D2D"/>
                </a:solidFill>
              </a:defRPr>
            </a:pPr>
            <a:r>
              <a:t>•  color:var(--primary);</a:t>
            </a:r>
          </a:p>
          <a:p>
            <a:pPr>
              <a:spcAft>
                <a:spcPts val="800"/>
              </a:spcAft>
              <a:defRPr sz="1800">
                <a:solidFill>
                  <a:srgbClr val="2D2D2D"/>
                </a:solidFill>
              </a:defRPr>
            </a:pPr>
            <a:r>
              <a:t>•  }</a:t>
            </a:r>
          </a:p>
          <a:p>
            <a:pPr>
              <a:spcAft>
                <a:spcPts val="800"/>
              </a:spcAft>
              <a:defRPr sz="1800">
                <a:solidFill>
                  <a:srgbClr val="2D2D2D"/>
                </a:solidFill>
              </a:defRPr>
            </a:pPr>
            <a:r>
              <a:t>•  .section{</a:t>
            </a:r>
          </a:p>
          <a:p>
            <a:pPr>
              <a:spcAft>
                <a:spcPts val="800"/>
              </a:spcAft>
              <a:defRPr sz="1800">
                <a:solidFill>
                  <a:srgbClr val="2D2D2D"/>
                </a:solidFill>
              </a:defRPr>
            </a:pPr>
            <a:r>
              <a:t>•  position:relative;</a:t>
            </a:r>
          </a:p>
          <a:p>
            <a:pPr>
              <a:spcAft>
                <a:spcPts val="800"/>
              </a:spcAft>
              <a:defRPr sz="1800">
                <a:solidFill>
                  <a:srgbClr val="2D2D2D"/>
                </a:solidFill>
              </a:defRPr>
            </a:pPr>
            <a:r>
              <a:t>•  padding:2em 0;</a:t>
            </a:r>
          </a:p>
          <a:p>
            <a:pPr>
              <a:spcAft>
                <a:spcPts val="800"/>
              </a:spcAft>
              <a:defRPr sz="1800">
                <a:solidFill>
                  <a:srgbClr val="2D2D2D"/>
                </a:solidFill>
              </a:defRPr>
            </a:pPr>
            <a:r>
              <a:t>•  }</a:t>
            </a:r>
          </a:p>
          <a:p>
            <a:pPr>
              <a:spcAft>
                <a:spcPts val="800"/>
              </a:spcAft>
              <a:defRPr sz="1800">
                <a:solidFill>
                  <a:srgbClr val="2D2D2D"/>
                </a:solidFill>
              </a:defRPr>
            </a:pPr>
            <a:r>
              <a:t>•  .section::before{</a:t>
            </a:r>
          </a:p>
          <a:p>
            <a:pPr>
              <a:spcAft>
                <a:spcPts val="800"/>
              </a:spcAft>
              <a:defRPr sz="1800">
                <a:solidFill>
                  <a:srgbClr val="2D2D2D"/>
                </a:solidFill>
              </a:defRPr>
            </a:pPr>
            <a:r>
              <a:t>•  content:"";</a:t>
            </a:r>
          </a:p>
          <a:p>
            <a:pPr>
              <a:spcAft>
                <a:spcPts val="800"/>
              </a:spcAft>
              <a:defRPr sz="1800">
                <a:solidFill>
                  <a:srgbClr val="2D2D2D"/>
                </a:solidFill>
              </a:defRPr>
            </a:pPr>
            <a:r>
              <a:t>•  position:absolute;</a:t>
            </a:r>
          </a:p>
          <a:p>
            <a:pPr>
              <a:spcAft>
                <a:spcPts val="800"/>
              </a:spcAft>
              <a:defRPr sz="1800">
                <a:solidFill>
                  <a:srgbClr val="2D2D2D"/>
                </a:solidFill>
              </a:defRPr>
            </a:pPr>
            <a:r>
              <a:t>•  top:0;</a:t>
            </a:r>
          </a:p>
          <a:p>
            <a:pPr>
              <a:spcAft>
                <a:spcPts val="800"/>
              </a:spcAft>
              <a:defRPr sz="1800">
                <a:solidFill>
                  <a:srgbClr val="2D2D2D"/>
                </a:solidFill>
              </a:defRPr>
            </a:pPr>
            <a:r>
              <a:t>•  left:-1in;</a:t>
            </a:r>
          </a:p>
          <a:p>
            <a:pPr>
              <a:spcAft>
                <a:spcPts val="800"/>
              </a:spcAft>
              <a:defRPr sz="1800">
                <a:solidFill>
                  <a:srgbClr val="2D2D2D"/>
                </a:solidFill>
              </a:defRPr>
            </a:pPr>
            <a:r>
              <a:t>•  right:-1in;</a:t>
            </a:r>
          </a:p>
          <a:p>
            <a:pPr>
              <a:spcAft>
                <a:spcPts val="800"/>
              </a:spcAft>
              <a:defRPr sz="1800">
                <a:solidFill>
                  <a:srgbClr val="2D2D2D"/>
                </a:solidFill>
              </a:defRPr>
            </a:pPr>
            <a:r>
              <a:t>•  height:100%;</a:t>
            </a:r>
          </a:p>
          <a:p>
            <a:pPr>
              <a:spcAft>
                <a:spcPts val="800"/>
              </a:spcAft>
              <a:defRPr sz="1800">
                <a:solidFill>
                  <a:srgbClr val="2D2D2D"/>
                </a:solidFill>
              </a:defRPr>
            </a:pPr>
            <a:r>
              <a:t>•  background:linear-gradient(90deg, rgba(10,132,255,0.05), transparent);</a:t>
            </a:r>
          </a:p>
          <a:p>
            <a:pPr>
              <a:spcAft>
                <a:spcPts val="800"/>
              </a:spcAft>
              <a:defRPr sz="1800">
                <a:solidFill>
                  <a:srgbClr val="2D2D2D"/>
                </a:solidFill>
              </a:defRPr>
            </a:pPr>
            <a:r>
              <a:t>•  z-index:-1;</a:t>
            </a:r>
          </a:p>
          <a:p>
            <a:pPr>
              <a:spcAft>
                <a:spcPts val="800"/>
              </a:spcAft>
              <a:defRPr sz="1800">
                <a:solidFill>
                  <a:srgbClr val="2D2D2D"/>
                </a:solidFill>
              </a:defRPr>
            </a:pPr>
            <a:r>
              <a:t>•  }</a:t>
            </a:r>
          </a:p>
          <a:p>
            <a:pPr>
              <a:spcAft>
                <a:spcPts val="800"/>
              </a:spcAft>
              <a:defRPr sz="1800">
                <a:solidFill>
                  <a:srgbClr val="2D2D2D"/>
                </a:solidFill>
              </a:defRPr>
            </a:pPr>
            <a:r>
              <a:t>•  &lt;/style&gt;</a:t>
            </a:r>
          </a:p>
          <a:p>
            <a:pPr>
              <a:spcAft>
                <a:spcPts val="800"/>
              </a:spcAft>
              <a:defRPr sz="1800">
                <a:solidFill>
                  <a:srgbClr val="2D2D2D"/>
                </a:solidFill>
              </a:defRPr>
            </a:pPr>
            <a:r>
              <a:t>•  &lt;/head&gt;</a:t>
            </a:r>
          </a:p>
          <a:p>
            <a:pPr>
              <a:spcAft>
                <a:spcPts val="800"/>
              </a:spcAft>
              <a:defRPr sz="1800">
                <a:solidFill>
                  <a:srgbClr val="2D2D2D"/>
                </a:solidFill>
              </a:defRPr>
            </a:pPr>
            <a:r>
              <a:t>•  &lt;body&gt;</a:t>
            </a:r>
          </a:p>
          <a:p>
            <a:pPr>
              <a:spcAft>
                <a:spcPts val="800"/>
              </a:spcAft>
              <a:defRPr sz="1800">
                <a:solidFill>
                  <a:srgbClr val="2D2D2D"/>
                </a:solidFill>
              </a:defRPr>
            </a:pPr>
            <a:r>
              <a:t>•  &lt;div class="page"&gt;</a:t>
            </a:r>
          </a:p>
          <a:p>
            <a:pPr>
              <a:spcAft>
                <a:spcPts val="800"/>
              </a:spcAft>
              <a:defRPr sz="1800">
                <a:solidFill>
                  <a:srgbClr val="2D2D2D"/>
                </a:solidFill>
              </a:defRPr>
            </a:pPr>
            <a:r>
              <a:t>•  &lt;div class="section"&gt;</a:t>
            </a:r>
          </a:p>
          <a:p>
            <a:pPr>
              <a:spcAft>
                <a:spcPts val="800"/>
              </a:spcAft>
              <a:defRPr sz="1800">
                <a:solidFill>
                  <a:srgbClr val="2D2D2D"/>
                </a:solidFill>
              </a:defRPr>
            </a:pPr>
            <a:r>
              <a:t>•  &lt;h1&gt;Aiden IWO – Empowering the Future of Work&lt;/h1&gt;</a:t>
            </a:r>
          </a:p>
          <a:p>
            <a:pPr>
              <a:spcAft>
                <a:spcPts val="800"/>
              </a:spcAft>
              <a:defRPr sz="1800">
                <a:solidFill>
                  <a:srgbClr val="2D2D2D"/>
                </a:solidFill>
              </a:defRPr>
            </a:pPr>
            <a:r>
              <a:t>•  &lt;p&gt;We believe technology should amplify human potential, not replace it. Our mission is to deliver an intuitive, AI‑driven platform that removes friction from every workflow, so teams can focus on what truly matters: creativity, strategy, and impact.&lt;/p&gt;</a:t>
            </a:r>
          </a:p>
          <a:p>
            <a:pPr>
              <a:spcAft>
                <a:spcPts val="800"/>
              </a:spcAft>
              <a:defRPr sz="1800">
                <a:solidFill>
                  <a:srgbClr val="2D2D2D"/>
                </a:solidFill>
              </a:defRPr>
            </a:pPr>
            <a:r>
              <a:t>•  &lt;h2&gt;Why it matters&lt;/h2&gt;</a:t>
            </a:r>
          </a:p>
          <a:p>
            <a:pPr>
              <a:spcAft>
                <a:spcPts val="800"/>
              </a:spcAft>
              <a:defRPr sz="1800">
                <a:solidFill>
                  <a:srgbClr val="2D2D2D"/>
                </a:solidFill>
              </a:defRPr>
            </a:pPr>
            <a:r>
              <a:t>•  &lt;ul&gt;</a:t>
            </a:r>
          </a:p>
          <a:p>
            <a:pPr>
              <a:spcAft>
                <a:spcPts val="800"/>
              </a:spcAft>
              <a:defRPr sz="1800">
                <a:solidFill>
                  <a:srgbClr val="2D2D2D"/>
                </a:solidFill>
              </a:defRPr>
            </a:pPr>
            <a:r>
              <a:t>•  &lt;li&gt;&lt;strong&gt;Clarity&lt;/strong&gt; – One unified interface that speaks every department’s language.&lt;/li&gt;</a:t>
            </a:r>
          </a:p>
          <a:p>
            <a:pPr>
              <a:spcAft>
                <a:spcPts val="800"/>
              </a:spcAft>
              <a:defRPr sz="1800">
                <a:solidFill>
                  <a:srgbClr val="2D2D2D"/>
                </a:solidFill>
              </a:defRPr>
            </a:pPr>
            <a:r>
              <a:t>•  &lt;li&gt;&lt;strong&gt;Speed&lt;/strong&gt; – Context‑aware assistance that accelerates decision‑making instantly.&lt;/li&gt;</a:t>
            </a:r>
          </a:p>
          <a:p>
            <a:pPr>
              <a:spcAft>
                <a:spcPts val="800"/>
              </a:spcAft>
              <a:defRPr sz="1800">
                <a:solidFill>
                  <a:srgbClr val="2D2D2D"/>
                </a:solidFill>
              </a:defRPr>
            </a:pPr>
            <a:r>
              <a:t>•  &lt;li&gt;&lt;strong&gt;Trust&lt;/strong&gt; – Transparent AI that respects privacy and meets enterprise‑grade security standards.&lt;/li&gt;</a:t>
            </a:r>
          </a:p>
          <a:p>
            <a:pPr>
              <a:spcAft>
                <a:spcPts val="800"/>
              </a:spcAft>
              <a:defRPr sz="1800">
                <a:solidFill>
                  <a:srgbClr val="2D2D2D"/>
                </a:solidFill>
              </a:defRPr>
            </a:pPr>
            <a:r>
              <a:t>•  &lt;/ul&gt;</a:t>
            </a:r>
          </a:p>
          <a:p>
            <a:pPr>
              <a:spcAft>
                <a:spcPts val="800"/>
              </a:spcAft>
              <a:defRPr sz="1800">
                <a:solidFill>
                  <a:srgbClr val="2D2D2D"/>
                </a:solidFill>
              </a:defRPr>
            </a:pPr>
            <a:r>
              <a:t>•  &lt;/div&gt;</a:t>
            </a:r>
          </a:p>
          <a:p>
            <a:pPr>
              <a:spcAft>
                <a:spcPts val="800"/>
              </a:spcAft>
              <a:defRPr sz="1800">
                <a:solidFill>
                  <a:srgbClr val="2D2D2D"/>
                </a:solidFill>
              </a:defRPr>
            </a:pPr>
            <a:r>
              <a:t>•  &lt;/div&gt;</a:t>
            </a:r>
          </a:p>
          <a:p>
            <a:pPr>
              <a:spcAft>
                <a:spcPts val="800"/>
              </a:spcAft>
              <a:defRPr sz="1800">
                <a:solidFill>
                  <a:srgbClr val="2D2D2D"/>
                </a:solidFill>
              </a:defRPr>
            </a:pPr>
            <a:r>
              <a:t>•  &lt;div class="page"&gt;</a:t>
            </a:r>
          </a:p>
          <a:p>
            <a:pPr>
              <a:spcAft>
                <a:spcPts val="800"/>
              </a:spcAft>
              <a:defRPr sz="1800">
                <a:solidFill>
                  <a:srgbClr val="2D2D2D"/>
                </a:solidFill>
              </a:defRPr>
            </a:pPr>
            <a:r>
              <a:t>•  &lt;div class="section"&gt;</a:t>
            </a:r>
          </a:p>
          <a:p>
            <a:pPr>
              <a:spcAft>
                <a:spcPts val="800"/>
              </a:spcAft>
              <a:defRPr sz="1800">
                <a:solidFill>
                  <a:srgbClr val="2D2D2D"/>
                </a:solidFill>
              </a:defRPr>
            </a:pPr>
            <a:r>
              <a:t>•  &lt;h2&gt;1. Adaptive Workflow Engine&lt;/h2&gt;</a:t>
            </a:r>
          </a:p>
          <a:p>
            <a:pPr>
              <a:spcAft>
                <a:spcPts val="800"/>
              </a:spcAft>
              <a:defRPr sz="1800">
                <a:solidFill>
                  <a:srgbClr val="2D2D2D"/>
                </a:solidFill>
              </a:defRPr>
            </a:pPr>
            <a:r>
              <a:t>•  &lt;p&gt;&lt;em&gt;Map, optimize, and execute processes across the tools you already use.&lt;/em&gt;&lt;/p&gt;</a:t>
            </a:r>
          </a:p>
          <a:p>
            <a:pPr>
              <a:spcAft>
                <a:spcPts val="800"/>
              </a:spcAft>
              <a:defRPr sz="1800">
                <a:solidFill>
                  <a:srgbClr val="2D2D2D"/>
                </a:solidFill>
              </a:defRPr>
            </a:pPr>
            <a:r>
              <a:t>•  &lt;ul&gt;</a:t>
            </a:r>
          </a:p>
          <a:p>
            <a:pPr>
              <a:spcAft>
                <a:spcPts val="800"/>
              </a:spcAft>
              <a:defRPr sz="1800">
                <a:solidFill>
                  <a:srgbClr val="2D2D2D"/>
                </a:solidFill>
              </a:defRPr>
            </a:pPr>
            <a:r>
              <a:t>•  &lt;li&gt;&lt;strong&gt;Zero‑code orchestration&lt;/strong&gt; – Drag‑and‑drop flows that adapt in real‑time.&lt;/li&gt;</a:t>
            </a:r>
          </a:p>
          <a:p>
            <a:pPr>
              <a:spcAft>
                <a:spcPts val="800"/>
              </a:spcAft>
              <a:defRPr sz="1800">
                <a:solidFill>
                  <a:srgbClr val="2D2D2D"/>
                </a:solidFill>
              </a:defRPr>
            </a:pPr>
            <a:r>
              <a:t>•  &lt;li&gt;&lt;strong&gt;Cross‑platform sync&lt;/strong&gt; – Native integrations with Slack, Teams, Jira, Salesforce, and more.&lt;/li&gt;</a:t>
            </a:r>
          </a:p>
          <a:p>
            <a:pPr>
              <a:spcAft>
                <a:spcPts val="800"/>
              </a:spcAft>
              <a:defRPr sz="1800">
                <a:solidFill>
                  <a:srgbClr val="2D2D2D"/>
                </a:solidFill>
              </a:defRPr>
            </a:pPr>
            <a:r>
              <a:t>•  &lt;/ul&gt;</a:t>
            </a:r>
          </a:p>
          <a:p>
            <a:pPr>
              <a:spcAft>
                <a:spcPts val="800"/>
              </a:spcAft>
              <a:defRPr sz="1800">
                <a:solidFill>
                  <a:srgbClr val="2D2D2D"/>
                </a:solidFill>
              </a:defRPr>
            </a:pPr>
            <a:r>
              <a:t>•  &lt;h2&gt;2. Conversational AI Assistant&lt;/h2&gt;</a:t>
            </a:r>
          </a:p>
          <a:p>
            <a:pPr>
              <a:spcAft>
                <a:spcPts val="800"/>
              </a:spcAft>
              <a:defRPr sz="1800">
                <a:solidFill>
                  <a:srgbClr val="2D2D2D"/>
                </a:solidFill>
              </a:defRPr>
            </a:pPr>
            <a:r>
              <a:t>•  &lt;p&gt;&lt;em&gt;Natural‑language interface that understands intent and delivers results instantly.&lt;/em&gt;&lt;/p&gt;</a:t>
            </a:r>
          </a:p>
          <a:p>
            <a:pPr>
              <a:spcAft>
                <a:spcPts val="800"/>
              </a:spcAft>
              <a:defRPr sz="1800">
                <a:solidFill>
                  <a:srgbClr val="2D2D2D"/>
                </a:solidFill>
              </a:defRPr>
            </a:pPr>
            <a:r>
              <a:t>•  &lt;ul&gt;</a:t>
            </a:r>
          </a:p>
          <a:p>
            <a:pPr>
              <a:spcAft>
                <a:spcPts val="800"/>
              </a:spcAft>
              <a:defRPr sz="1800">
                <a:solidFill>
                  <a:srgbClr val="2D2D2D"/>
                </a:solidFill>
              </a:defRPr>
            </a:pPr>
            <a:r>
              <a:t>•  &lt;li&gt;&lt;strong&gt;Contextual memory&lt;/strong&gt; – Remembers project history, preferences, and deadlines.&lt;/li&gt;</a:t>
            </a:r>
          </a:p>
          <a:p>
            <a:pPr>
              <a:spcAft>
                <a:spcPts val="800"/>
              </a:spcAft>
              <a:defRPr sz="1800">
                <a:solidFill>
                  <a:srgbClr val="2D2D2D"/>
                </a:solidFill>
              </a:defRPr>
            </a:pPr>
            <a:r>
              <a:t>•  &lt;li&gt;&lt;strong&gt;Actionable insights&lt;/strong&gt; – Generates reports, forecasts, and recommendations on demand.&lt;/li&gt;</a:t>
            </a:r>
          </a:p>
          <a:p>
            <a:pPr>
              <a:spcAft>
                <a:spcPts val="800"/>
              </a:spcAft>
              <a:defRPr sz="1800">
                <a:solidFill>
                  <a:srgbClr val="2D2D2D"/>
                </a:solidFill>
              </a:defRPr>
            </a:pPr>
            <a:r>
              <a:t>•  &lt;/ul&gt;</a:t>
            </a:r>
          </a:p>
          <a:p>
            <a:pPr>
              <a:spcAft>
                <a:spcPts val="800"/>
              </a:spcAft>
              <a:defRPr sz="1800">
                <a:solidFill>
                  <a:srgbClr val="2D2D2D"/>
                </a:solidFill>
              </a:defRPr>
            </a:pPr>
            <a:r>
              <a:t>•  &lt;h2&gt;3. Intelligent Knowledge Hub&lt;/h2&gt;</a:t>
            </a:r>
          </a:p>
          <a:p>
            <a:pPr>
              <a:spcAft>
                <a:spcPts val="800"/>
              </a:spcAft>
              <a:defRPr sz="1800">
                <a:solidFill>
                  <a:srgbClr val="2D2D2D"/>
                </a:solidFill>
              </a:defRPr>
            </a:pPr>
            <a:r>
              <a:t>•  &lt;p&gt;&lt;em&gt;Centralized, searchable repository powered by AI‑enhanced indexing.&lt;/em&gt;&lt;/p&gt;</a:t>
            </a:r>
          </a:p>
          <a:p>
            <a:pPr>
              <a:spcAft>
                <a:spcPts val="800"/>
              </a:spcAft>
              <a:defRPr sz="1800">
                <a:solidFill>
                  <a:srgbClr val="2D2D2D"/>
                </a:solidFill>
              </a:defRPr>
            </a:pPr>
            <a:r>
              <a:t>•  &lt;ul&gt;</a:t>
            </a:r>
          </a:p>
          <a:p>
            <a:pPr>
              <a:spcAft>
                <a:spcPts val="800"/>
              </a:spcAft>
              <a:defRPr sz="1800">
                <a:solidFill>
                  <a:srgbClr val="2D2D2D"/>
                </a:solidFill>
              </a:defRPr>
            </a:pPr>
            <a:r>
              <a:t>•  &lt;li&gt;&lt;strong&gt;Dynamic retrieval&lt;/strong&gt; – Finds the right document, code snippet, or policy in seconds.&lt;/li&gt;</a:t>
            </a:r>
          </a:p>
          <a:p>
            <a:pPr>
              <a:spcAft>
                <a:spcPts val="800"/>
              </a:spcAft>
              <a:defRPr sz="1800">
                <a:solidFill>
                  <a:srgbClr val="2D2D2D"/>
                </a:solidFill>
              </a:defRPr>
            </a:pPr>
            <a:r>
              <a:t>•  &lt;li&gt;&lt;strong&gt;Continuous learning&lt;/strong&gt; – Improves relevance as your organization evolves.&lt;/li&gt;</a:t>
            </a:r>
          </a:p>
          <a:p>
            <a:pPr>
              <a:spcAft>
                <a:spcPts val="800"/>
              </a:spcAft>
              <a:defRPr sz="1800">
                <a:solidFill>
                  <a:srgbClr val="2D2D2D"/>
                </a:solidFill>
              </a:defRPr>
            </a:pPr>
            <a:r>
              <a:t>•  &lt;/ul&gt;</a:t>
            </a:r>
          </a:p>
          <a:p>
            <a:pPr>
              <a:spcAft>
                <a:spcPts val="800"/>
              </a:spcAft>
              <a:defRPr sz="1800">
                <a:solidFill>
                  <a:srgbClr val="2D2D2D"/>
                </a:solidFill>
              </a:defRPr>
            </a:pPr>
            <a:r>
              <a:t>•  &lt;h2&gt;4. Enterprise‑grade Security&lt;/h2&gt;</a:t>
            </a:r>
          </a:p>
          <a:p>
            <a:pPr>
              <a:spcAft>
                <a:spcPts val="800"/>
              </a:spcAft>
              <a:defRPr sz="1800">
                <a:solidFill>
                  <a:srgbClr val="2D2D2D"/>
                </a:solidFill>
              </a:defRPr>
            </a:pPr>
            <a:r>
              <a:t>•  &lt;p&gt;&lt;em&gt;Built‑in compliance, encryption, and role‑based access control.&lt;/em&gt;&lt;/p&gt;</a:t>
            </a:r>
          </a:p>
          <a:p>
            <a:pPr>
              <a:spcAft>
                <a:spcPts val="800"/>
              </a:spcAft>
              <a:defRPr sz="1800">
                <a:solidFill>
                  <a:srgbClr val="2D2D2D"/>
                </a:solidFill>
              </a:defRPr>
            </a:pPr>
            <a:r>
              <a:t>•  &lt;ul&gt;</a:t>
            </a:r>
          </a:p>
          <a:p>
            <a:pPr>
              <a:spcAft>
                <a:spcPts val="800"/>
              </a:spcAft>
              <a:defRPr sz="1800">
                <a:solidFill>
                  <a:srgbClr val="2D2D2D"/>
                </a:solidFill>
              </a:defRPr>
            </a:pPr>
            <a:r>
              <a:t>•  &lt;li&gt;&lt;strong&gt;SOC 2, ISO 27001&lt;/strong&gt; – Certified to protect your most sensitive data.&lt;/li&gt;</a:t>
            </a:r>
          </a:p>
          <a:p>
            <a:pPr>
              <a:spcAft>
                <a:spcPts val="800"/>
              </a:spcAft>
              <a:defRPr sz="1800">
                <a:solidFill>
                  <a:srgbClr val="2D2D2D"/>
                </a:solidFill>
              </a:defRPr>
            </a:pPr>
            <a:r>
              <a:t>•  &lt;li&gt;&lt;strong&gt;Audit trails&lt;/strong&gt; – Full visibility into every automated action.&lt;/li&gt;</a:t>
            </a:r>
          </a:p>
          <a:p>
            <a:pPr>
              <a:spcAft>
                <a:spcPts val="800"/>
              </a:spcAft>
              <a:defRPr sz="1800">
                <a:solidFill>
                  <a:srgbClr val="2D2D2D"/>
                </a:solidFill>
              </a:defRPr>
            </a:pPr>
            <a:r>
              <a:t>•  &lt;/ul&gt;</a:t>
            </a:r>
          </a:p>
          <a:p>
            <a:pPr>
              <a:spcAft>
                <a:spcPts val="800"/>
              </a:spcAft>
              <a:defRPr sz="1800">
                <a:solidFill>
                  <a:srgbClr val="2D2D2D"/>
                </a:solidFill>
              </a:defRPr>
            </a:pPr>
            <a:r>
              <a:t>•  &lt;h2&gt;The Aiden IWO advantage&lt;/h2&gt;</a:t>
            </a:r>
          </a:p>
          <a:p>
            <a:pPr>
              <a:spcAft>
                <a:spcPts val="800"/>
              </a:spcAft>
              <a:defRPr sz="1800">
                <a:solidFill>
                  <a:srgbClr val="2D2D2D"/>
                </a:solidFill>
              </a:defRPr>
            </a:pPr>
            <a:r>
              <a:t>•  &lt;ul&gt;</a:t>
            </a:r>
          </a:p>
          <a:p>
            <a:pPr>
              <a:spcAft>
                <a:spcPts val="800"/>
              </a:spcAft>
              <a:defRPr sz="1800">
                <a:solidFill>
                  <a:srgbClr val="2D2D2D"/>
                </a:solidFill>
              </a:defRPr>
            </a:pPr>
            <a:r>
              <a:t>•  &lt;li&gt;&lt;strong&gt;Productivity boost&lt;/strong&gt; – Teams achieve up to 30 % faster project completion.&lt;/li&gt;</a:t>
            </a:r>
          </a:p>
          <a:p>
            <a:pPr>
              <a:spcAft>
                <a:spcPts val="800"/>
              </a:spcAft>
              <a:defRPr sz="1800">
                <a:solidFill>
                  <a:srgbClr val="2D2D2D"/>
                </a:solidFill>
              </a:defRPr>
            </a:pPr>
            <a:r>
              <a:t>•  &lt;li&gt;&lt;strong&gt;Cost reduction&lt;/strong&gt; – Automate repetitive tasks, freeing budget for innovation.&lt;/li&gt;</a:t>
            </a:r>
          </a:p>
          <a:p>
            <a:pPr>
              <a:spcAft>
                <a:spcPts val="800"/>
              </a:spcAft>
              <a:defRPr sz="1800">
                <a:solidFill>
                  <a:srgbClr val="2D2D2D"/>
                </a:solidFill>
              </a:defRPr>
            </a:pPr>
            <a:r>
              <a:t>•  &lt;li&gt;&lt;strong&gt;Scalable impact&lt;/strong&gt; – From startups to Fortune 500, the platform grows with you.&lt;/li&gt;</a:t>
            </a:r>
          </a:p>
          <a:p>
            <a:pPr>
              <a:spcAft>
                <a:spcPts val="800"/>
              </a:spcAft>
              <a:defRPr sz="1800">
                <a:solidFill>
                  <a:srgbClr val="2D2D2D"/>
                </a:solidFill>
              </a:defRPr>
            </a:pPr>
            <a:r>
              <a:t>•  &lt;/ul&gt;</a:t>
            </a:r>
          </a:p>
          <a:p>
            <a:pPr>
              <a:spcAft>
                <a:spcPts val="800"/>
              </a:spcAft>
              <a:defRPr sz="1800">
                <a:solidFill>
                  <a:srgbClr val="2D2D2D"/>
                </a:solidFill>
              </a:defRPr>
            </a:pPr>
            <a:r>
              <a:t>•  &lt;p&gt;&lt;em&gt;Experience the future of work. Experience Aiden IWO.&lt;/em&gt;&lt;/p&gt;</a:t>
            </a:r>
          </a:p>
          <a:p>
            <a:pPr>
              <a:spcAft>
                <a:spcPts val="800"/>
              </a:spcAft>
              <a:defRPr sz="1800">
                <a:solidFill>
                  <a:srgbClr val="2D2D2D"/>
                </a:solidFill>
              </a:defRPr>
            </a:pPr>
            <a:r>
              <a:t>•  &lt;/div&gt;</a:t>
            </a:r>
          </a:p>
          <a:p>
            <a:pPr>
              <a:spcAft>
                <a:spcPts val="800"/>
              </a:spcAft>
              <a:defRPr sz="1800">
                <a:solidFill>
                  <a:srgbClr val="2D2D2D"/>
                </a:solidFill>
              </a:defRPr>
            </a:pPr>
            <a:r>
              <a:t>•  &lt;/div&gt;</a:t>
            </a:r>
          </a:p>
          <a:p>
            <a:pPr>
              <a:spcAft>
                <a:spcPts val="800"/>
              </a:spcAft>
              <a:defRPr sz="1800">
                <a:solidFill>
                  <a:srgbClr val="2D2D2D"/>
                </a:solidFill>
              </a:defRPr>
            </a:pPr>
            <a:r>
              <a:t>•  &lt;/body&gt;</a:t>
            </a:r>
          </a:p>
          <a:p>
            <a:pPr>
              <a:spcAft>
                <a:spcPts val="800"/>
              </a:spcAft>
              <a:defRPr sz="1800">
                <a:solidFill>
                  <a:srgbClr val="2D2D2D"/>
                </a:solidFill>
              </a:defRPr>
            </a:pPr>
            <a:r>
              <a:t>•  &lt;/html&gt;</a:t>
            </a:r>
          </a:p>
          <a:p>
            <a:pPr>
              <a:spcAft>
                <a:spcPts val="800"/>
              </a:spcAft>
              <a:defRPr sz="1800">
                <a:solidFill>
                  <a:srgbClr val="2D2D2D"/>
                </a:solidFill>
              </a:defRPr>
            </a:pPr>
            <a:r>
              <a:t>•  &lt;!DOCTYPE html&gt;\n&lt;html lang=\"en\"&gt;\n&lt;head&gt;\n&lt;meta charset=\"UTF-8\"&gt;\n&lt;meta name=\"viewport\" content=\"width=device-width, initial-scale=1.0\"&gt;\n&lt;title&gt;Aiden IWO Pitch&lt;/title&gt;\n&lt;meta name=\"description\" content=\"Apple‑style presentation of Aiden IWO mission, features, and value.\"&gt;\n&lt;style&gt;\n:root{--primary:#0A84FF;--bg:#F5F5F7;--dark:#1D1D1F;}\nbody{margin:0;font-family:-apple-system, BlinkMacSystemFont, \"Helvetica Neue\", Helvetica, Arial, sans-serif;color:var(--dark);background:var(--bg);}\n.page{width:8.5in;height:11in;padding:1in;box-sizing:border-box;background:white;margin:0 auto;position:relative;overflow:hidden;}\n.page + .page{page-break-before:always;}\nh1{font-size:36pt;margin:0 0 .5em;color:var(--primary);}\nh2{font-size:24pt;margin:1em 0 .5em;color:var(--dark);}\np{font-size:12pt;line-height:1.6;margin:0 0 1em;}\nul{list-style:none;padding:0;margin:0 0 1em;}\nli{font-size:12pt;line-height:1.6;margin-bottom:.5em;position:relative;padding-left:1.2em;}\nli::before{content:\"•\";position:absolute;left:0;color:var(--primary);}\n.section{position:relative;padding:2em 0;}\n.section::before{content:\"\";position:absolute;top:0;left:-1in;right:-1in;height:100%;background:linear-gradient(90deg, rgba(10,132,255,0.05), transparent);z-index:-1;}\n&lt;/style&gt;\n&lt;/head&gt;\n&lt;body&gt;\n&lt;!-- Instructions: To export this document as a high‑resolution PDF, open the file in Chrome or Safari, press Ctrl + P (Cmd + P), choose “Save as PDF”, set “Paper size” to Letter, enable “Background graphics”, and set “Scale” to 100 %. --&gt;\n&lt;div class=\"page\" role=\"document\" aria-label=\"Mission and Vision\"&gt;\n  &lt;div class=\"section\"&gt;\n    &lt;h1&gt;Aiden IWO – Empowering the Future of Work&lt;/h1&gt;\n    &lt;p&gt;We believe technology should amplify human potential, not replace it. Our mission is to deliver an intuitive, AI‑driven platform that removes friction from every workflow, so teams can focus on what truly matters: creativity, strategy, and impact.&lt;/p&gt;\n    &lt;h2&gt;Why it matters&lt;/h2&gt;\n    &lt;ul&gt;\n      &lt;li&gt;&lt;strong&gt;Clarity&lt;/strong&gt; – One unified interface that speaks every department’s language.&lt;/li&gt;\n      &lt;li&gt;&lt;strong&gt;Speed&lt;/strong&gt; – Context‑aware assistance that accelerates decision‑making instantly.&lt;/li&gt;\n      &lt;li&gt;&lt;strong&gt;Trust&lt;/strong&gt; – Transparent AI that respects privacy and meets enterprise‑grade security standards.&lt;/li&gt;\n    &lt;/ul&gt;\n  &lt;/div&gt;\n&lt;/div&gt;\n&lt;div class=\"page\" role=\"document\" aria-label=\"Core Features and Value\"&gt;\n  &lt;div class=\"section\"&gt;\n    &lt;h2&gt;1. Adaptive Workflow Engine&lt;/h2&gt;\n    &lt;p&gt;&lt;em&gt;Map, optimize, and execute processes across the tools you already use.&lt;/em&gt;&lt;/p&gt;\n    &lt;ul&gt;\n      &lt;li&gt;&lt;strong&gt;Zero‑code orchestration&lt;/strong&gt; – Drag‑and‑drop flows that adapt in real‑time.&lt;/li&gt;\n      &lt;li&gt;&lt;strong&gt;Cross‑platform sync&lt;/strong&gt; – Native integrations with Slack, Teams, Jira, Salesforce, and more.&lt;/li&gt;\n    &lt;/ul&gt;\n    &lt;h2&gt;2. Conversational AI Assistant&lt;/h2&gt;\n    &lt;p&gt;&lt;em&gt;Natural‑language interface that understands intent and delivers results instantly.&lt;/em&gt;&lt;/p&gt;\n    &lt;ul&gt;\n      &lt;li&gt;&lt;strong&gt;Contextual memory&lt;/strong&gt; – Remembers project history, preferences, and deadlines.&lt;/li&gt;\n      &lt;li&gt;&lt;strong&gt;Actionable insights&lt;/strong&gt; – Generates reports, forecasts, and recommendations on demand.&lt;/li&gt;\n    &lt;/ul&gt;\n    &lt;h2&gt;3. Intelligent Knowledge Hub&lt;/h2&gt;\n    &lt;p&gt;&lt;em&gt;Centralized, searchable repository powered by AI‑enhanced indexing.&lt;/em&gt;&lt;/p&gt;\n    &lt;ul&gt;\n      &lt;li&gt;&lt;strong&gt;Dynamic retrieval&lt;/strong&gt; – Finds the right document, code snippet, or policy in seconds.&lt;/li&gt;\n      &lt;li&gt;&lt;strong&gt;Continuous learning&lt;/strong&gt; – Improves relevance as your organization evolves.&lt;/li&gt;\n    &lt;/ul&gt;\n    &lt;h2&gt;4. Enterprise‑grade Security&lt;/h2&gt;\n    &lt;p&gt;&lt;em&gt;Built‑in compliance, encryption, and role‑based access control.&lt;/em&gt;&lt;/p&gt;\n    &lt;ul&gt;\n      &lt;li&gt;&lt;strong&gt;SOC 2, ISO 27001&lt;/strong&gt; – Certified to protect your most sensitive data.&lt;/li&gt;\n      &lt;li&gt;&lt;strong&gt;Audit trails&lt;/strong&gt; – Full visibility into every automated action.&lt;/li&gt;\n    &lt;/ul&gt;\n    &lt;h2&gt;The Aiden IWO advantage&lt;/h2&gt;\n    &lt;ul&gt;\n      &lt;li&gt;&lt;strong&gt;Productivity boost&lt;/strong&gt; – Teams achieve up to 30 % faster project completion.&lt;/li&gt;\n      &lt;li&gt;&lt;strong&gt;Cost reduction&lt;/strong&gt; – Automate repetitive tasks, freeing budget for innovation.&lt;/li&gt;\n      &lt;li&gt;&lt;strong&gt;Scalable impact&lt;/strong&gt; – From startups to Fortune 500, the platform grows with you.&lt;/li&gt;\n    &lt;/ul&gt;\n    &lt;p&gt;&lt;em&gt;Experience the future of work. Experience Aiden IWO.&lt;/em&gt;&lt;/p&gt;\n  &lt;/div&gt;\n&lt;/div&gt;\n&lt;/body&gt;\n&lt;/html&gt;</a:t>
            </a:r>
          </a:p>
          <a:p>
            <a:pPr>
              <a:spcAft>
                <a:spcPts val="800"/>
              </a:spcAft>
              <a:defRPr sz="1800">
                <a:solidFill>
                  <a:srgbClr val="2D2D2D"/>
                </a:solidFill>
              </a:defRPr>
            </a:pPr>
            <a:r>
              <a:t>•  # Apple‑Style Visual Design Philosophy</a:t>
            </a:r>
          </a:p>
          <a:p>
            <a:pPr>
              <a:spcAft>
                <a:spcPts val="800"/>
              </a:spcAft>
              <a:defRPr sz="1800">
                <a:solidFill>
                  <a:srgbClr val="2D2D2D"/>
                </a:solidFill>
              </a:defRPr>
            </a:pPr>
            <a:r>
              <a:t>•  We champion clean typography as the silent narrator of every interface, selecting crisp, legible typefaces that breathe space and confidence. Each glyph is meticulously crafted, balanced on a grid that respects the natural rhythm of the eye, ensuring that reading feels effortless and premium.</a:t>
            </a:r>
          </a:p>
          <a:p>
            <a:pPr>
              <a:spcAft>
                <a:spcPts val="800"/>
              </a:spcAft>
              <a:defRPr sz="1800">
                <a:solidFill>
                  <a:srgbClr val="2D2D2D"/>
                </a:solidFill>
              </a:defRPr>
            </a:pPr>
            <a:r>
              <a:t>•  Generous whitespace is not empty space but a purposeful canvas that guides focus. By allowing content to breathe, we create a hierarchy where the most important elements command attention while secondary details recede gracefully. This deliberate use of negative space is the product of deep expertise and painstaking attention to visual flow.</a:t>
            </a:r>
          </a:p>
          <a:p>
            <a:pPr>
              <a:spcAft>
                <a:spcPts val="800"/>
              </a:spcAft>
              <a:defRPr sz="1800">
                <a:solidFill>
                  <a:srgbClr val="2D2D2D"/>
                </a:solidFill>
              </a:defRPr>
            </a:pPr>
            <a:r>
              <a:t>•  Our visual hierarchy is strong yet subtle, employing size, weight, and contrast to lead the viewer through a narrative without distraction. Hierarchical cues are applied with master‑level execution, ensuring that each layer of information feels intentional and harmonious.</a:t>
            </a:r>
          </a:p>
          <a:p>
            <a:pPr>
              <a:spcAft>
                <a:spcPts val="800"/>
              </a:spcAft>
              <a:defRPr sz="1800">
                <a:solidFill>
                  <a:srgbClr val="2D2D2D"/>
                </a:solidFill>
              </a:defRPr>
            </a:pPr>
            <a:r>
              <a:t>•  Finally, we infuse subtle gradients and refined color palettes to evoke a sense of depth and tactile quality. These gradients are applied with painstaking attention to tone and transition, delivering a premium feel that feels both modern and timeless. The entire aesthetic is the result of meticulously crafted decisions, reflecting an unwavering commitment to excellence.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5</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1 – Mission &amp; Vision</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Aiden IWO – Empowering the Future of Work</a:t>
            </a:r>
          </a:p>
          <a:p>
            <a:pPr>
              <a:spcAft>
                <a:spcPts val="800"/>
              </a:spcAft>
              <a:defRPr sz="1800">
                <a:solidFill>
                  <a:srgbClr val="2D2D2D"/>
                </a:solidFill>
              </a:defRPr>
            </a:pPr>
            <a:r>
              <a:t>•  We create an intuitive, AI‑driven platform that removes friction from every workflow, so teams can focus on what truly matters: creativity, strategy, and impact.</a:t>
            </a:r>
          </a:p>
          <a:p>
            <a:pPr>
              <a:spcAft>
                <a:spcPts val="800"/>
              </a:spcAft>
              <a:defRPr sz="1800">
                <a:solidFill>
                  <a:srgbClr val="2D2D2D"/>
                </a:solidFill>
              </a:defRPr>
            </a:pPr>
            <a:r>
              <a:t>•  ### Why it matters</a:t>
            </a:r>
          </a:p>
          <a:p>
            <a:pPr>
              <a:spcAft>
                <a:spcPts val="800"/>
              </a:spcAft>
              <a:defRPr sz="1800">
                <a:solidFill>
                  <a:srgbClr val="2D2D2D"/>
                </a:solidFill>
              </a:defRPr>
            </a:pPr>
            <a:r>
              <a:t>•  Clarity – One unified interface that speaks every department’s language.</a:t>
            </a:r>
          </a:p>
          <a:p>
            <a:pPr>
              <a:spcAft>
                <a:spcPts val="800"/>
              </a:spcAft>
              <a:defRPr sz="1800">
                <a:solidFill>
                  <a:srgbClr val="2D2D2D"/>
                </a:solidFill>
              </a:defRPr>
            </a:pPr>
            <a:r>
              <a:t>•  Speed – Context‑aware assistance that accelerates decisions instantly.</a:t>
            </a:r>
          </a:p>
          <a:p>
            <a:pPr>
              <a:spcAft>
                <a:spcPts val="800"/>
              </a:spcAft>
              <a:defRPr sz="1800">
                <a:solidFill>
                  <a:srgbClr val="2D2D2D"/>
                </a:solidFill>
              </a:defRPr>
            </a:pPr>
            <a:r>
              <a:t>•  Trust – Transparent AI that respects privacy and meets enterprise‑grade security standards.</a:t>
            </a:r>
          </a:p>
          <a:p>
            <a:pPr>
              <a:spcAft>
                <a:spcPts val="800"/>
              </a:spcAft>
              <a:defRPr sz="1800">
                <a:solidFill>
                  <a:srgbClr val="2D2D2D"/>
                </a:solidFill>
              </a:defRPr>
            </a:pPr>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A"/>
        </a:solidFill>
        <a:effectLst/>
      </p:bgPr>
    </p:bg>
    <p:spTree>
      <p:nvGrpSpPr>
        <p:cNvPr id="1" name=""/>
        <p:cNvGrpSpPr/>
        <p:nvPr/>
      </p:nvGrpSpPr>
      <p:grpSpPr/>
      <p:sp>
        <p:nvSpPr>
          <p:cNvPr id="2" name="TextBox 1"/>
          <p:cNvSpPr txBox="1"/>
          <p:nvPr/>
        </p:nvSpPr>
        <p:spPr>
          <a:xfrm>
            <a:off x="11155680" y="274320"/>
            <a:ext cx="731520" cy="365760"/>
          </a:xfrm>
          <a:prstGeom prst="rect">
            <a:avLst/>
          </a:prstGeom>
          <a:noFill/>
        </p:spPr>
        <p:txBody>
          <a:bodyPr wrap="none">
            <a:spAutoFit/>
          </a:bodyPr>
          <a:lstStyle/>
          <a:p>
            <a:pPr algn="r">
              <a:defRPr sz="1200">
                <a:solidFill>
                  <a:srgbClr val="666688"/>
                </a:solidFill>
              </a:defRPr>
            </a:pPr>
            <a:r>
              <a:t>6</a:t>
            </a:r>
          </a:p>
        </p:txBody>
      </p:sp>
      <p:sp>
        <p:nvSpPr>
          <p:cNvPr id="3" name="Rectangle 2"/>
          <p:cNvSpPr/>
          <p:nvPr/>
        </p:nvSpPr>
        <p:spPr>
          <a:xfrm>
            <a:off x="0" y="0"/>
            <a:ext cx="12191695" cy="76200"/>
          </a:xfrm>
          <a:prstGeom prst="rect">
            <a:avLst/>
          </a:prstGeom>
          <a:solidFill>
            <a:srgbClr val="8B49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515600" cy="914400"/>
          </a:xfrm>
          <a:prstGeom prst="rect">
            <a:avLst/>
          </a:prstGeom>
          <a:noFill/>
        </p:spPr>
        <p:txBody>
          <a:bodyPr wrap="square">
            <a:spAutoFit/>
          </a:bodyPr>
          <a:lstStyle/>
          <a:p>
            <a:pPr>
              <a:defRPr sz="3200" b="1">
                <a:solidFill>
                  <a:srgbClr val="091C53"/>
                </a:solidFill>
              </a:defRPr>
            </a:pPr>
            <a:r>
              <a:t>Page 2 – Core Features &amp; Value</a:t>
            </a:r>
          </a:p>
        </p:txBody>
      </p:sp>
      <p:sp>
        <p:nvSpPr>
          <p:cNvPr id="5" name="TextBox 4"/>
          <p:cNvSpPr txBox="1"/>
          <p:nvPr/>
        </p:nvSpPr>
        <p:spPr>
          <a:xfrm>
            <a:off x="731520" y="1645920"/>
            <a:ext cx="10515600" cy="4572000"/>
          </a:xfrm>
          <a:prstGeom prst="rect">
            <a:avLst/>
          </a:prstGeom>
          <a:noFill/>
        </p:spPr>
        <p:txBody>
          <a:bodyPr wrap="square">
            <a:spAutoFit/>
          </a:bodyPr>
          <a:lstStyle/>
          <a:p>
            <a:pPr>
              <a:spcAft>
                <a:spcPts val="800"/>
              </a:spcAft>
              <a:defRPr sz="1800">
                <a:solidFill>
                  <a:srgbClr val="2D2D2D"/>
                </a:solidFill>
              </a:defRPr>
            </a:pPr>
            <a:r>
              <a:t>•  ### 1. Adaptive Workflow Engine</a:t>
            </a:r>
          </a:p>
          <a:p>
            <a:pPr>
              <a:spcAft>
                <a:spcPts val="800"/>
              </a:spcAft>
              <a:defRPr sz="1800">
                <a:solidFill>
                  <a:srgbClr val="2D2D2D"/>
                </a:solidFill>
              </a:defRPr>
            </a:pPr>
            <a:r>
              <a:t>•  Map, optimize, and execute processes across the tools you already use.</a:t>
            </a:r>
          </a:p>
          <a:p>
            <a:pPr>
              <a:spcAft>
                <a:spcPts val="800"/>
              </a:spcAft>
              <a:defRPr sz="1800">
                <a:solidFill>
                  <a:srgbClr val="2D2D2D"/>
                </a:solidFill>
              </a:defRPr>
            </a:pPr>
            <a:r>
              <a:t>•  Zero‑code orchestration – Drag‑and‑drop flows that adapt in real‑time.</a:t>
            </a:r>
          </a:p>
          <a:p>
            <a:pPr>
              <a:spcAft>
                <a:spcPts val="800"/>
              </a:spcAft>
              <a:defRPr sz="1800">
                <a:solidFill>
                  <a:srgbClr val="2D2D2D"/>
                </a:solidFill>
              </a:defRPr>
            </a:pPr>
            <a:r>
              <a:t>•  Cross‑platform sync – Native integrations with Slack, Teams, Jira, Salesforce, and more.</a:t>
            </a:r>
          </a:p>
          <a:p>
            <a:pPr>
              <a:spcAft>
                <a:spcPts val="800"/>
              </a:spcAft>
              <a:defRPr sz="1800">
                <a:solidFill>
                  <a:srgbClr val="2D2D2D"/>
                </a:solidFill>
              </a:defRPr>
            </a:pPr>
            <a:r>
              <a:t>•  ### 2. Conversational AI Assistant</a:t>
            </a:r>
          </a:p>
          <a:p>
            <a:pPr>
              <a:spcAft>
                <a:spcPts val="800"/>
              </a:spcAft>
              <a:defRPr sz="1800">
                <a:solidFill>
                  <a:srgbClr val="2D2D2D"/>
                </a:solidFill>
              </a:defRPr>
            </a:pPr>
            <a:r>
              <a:t>•  Natural‑language interface that understands intent and delivers results instantly.</a:t>
            </a:r>
          </a:p>
          <a:p>
            <a:pPr>
              <a:spcAft>
                <a:spcPts val="800"/>
              </a:spcAft>
              <a:defRPr sz="1800">
                <a:solidFill>
                  <a:srgbClr val="2D2D2D"/>
                </a:solidFill>
              </a:defRPr>
            </a:pPr>
            <a:r>
              <a:t>•  Contextual memory – Remembers project history, preferences, and deadlines.</a:t>
            </a:r>
          </a:p>
          <a:p>
            <a:pPr>
              <a:spcAft>
                <a:spcPts val="800"/>
              </a:spcAft>
              <a:defRPr sz="1800">
                <a:solidFill>
                  <a:srgbClr val="2D2D2D"/>
                </a:solidFill>
              </a:defRPr>
            </a:pPr>
            <a:r>
              <a:t>•  Actionable insights – Generates reports, forecasts, and recommendations on demand.</a:t>
            </a:r>
          </a:p>
          <a:p>
            <a:pPr>
              <a:spcAft>
                <a:spcPts val="800"/>
              </a:spcAft>
              <a:defRPr sz="1800">
                <a:solidFill>
                  <a:srgbClr val="2D2D2D"/>
                </a:solidFill>
              </a:defRPr>
            </a:pPr>
            <a:r>
              <a:t>•  ### 3. Intelligent Knowledge Hub</a:t>
            </a:r>
          </a:p>
          <a:p>
            <a:pPr>
              <a:spcAft>
                <a:spcPts val="800"/>
              </a:spcAft>
              <a:defRPr sz="1800">
                <a:solidFill>
                  <a:srgbClr val="2D2D2D"/>
                </a:solidFill>
              </a:defRPr>
            </a:pPr>
            <a:r>
              <a:t>•  Centralized, searchable repository powered by AI‑enhanced indexing.</a:t>
            </a:r>
          </a:p>
          <a:p>
            <a:pPr>
              <a:spcAft>
                <a:spcPts val="800"/>
              </a:spcAft>
              <a:defRPr sz="1800">
                <a:solidFill>
                  <a:srgbClr val="2D2D2D"/>
                </a:solidFill>
              </a:defRPr>
            </a:pPr>
            <a:r>
              <a:t>•  Dynamic retrieval – Finds the right document, code snippet, or policy in seconds.</a:t>
            </a:r>
          </a:p>
          <a:p>
            <a:pPr>
              <a:spcAft>
                <a:spcPts val="800"/>
              </a:spcAft>
              <a:defRPr sz="1800">
                <a:solidFill>
                  <a:srgbClr val="2D2D2D"/>
                </a:solidFill>
              </a:defRPr>
            </a:pPr>
            <a:r>
              <a:t>•  Continuous learning – Improves relevance as your organization evolves.</a:t>
            </a:r>
          </a:p>
          <a:p>
            <a:pPr>
              <a:spcAft>
                <a:spcPts val="800"/>
              </a:spcAft>
              <a:defRPr sz="1800">
                <a:solidFill>
                  <a:srgbClr val="2D2D2D"/>
                </a:solidFill>
              </a:defRPr>
            </a:pPr>
            <a:r>
              <a:t>•  ### 4. Enterprise‑grade Security</a:t>
            </a:r>
          </a:p>
          <a:p>
            <a:pPr>
              <a:spcAft>
                <a:spcPts val="800"/>
              </a:spcAft>
              <a:defRPr sz="1800">
                <a:solidFill>
                  <a:srgbClr val="2D2D2D"/>
                </a:solidFill>
              </a:defRPr>
            </a:pPr>
            <a:r>
              <a:t>•  Built‑in compliance, encryption, and role‑based access control.</a:t>
            </a:r>
          </a:p>
          <a:p>
            <a:pPr>
              <a:spcAft>
                <a:spcPts val="800"/>
              </a:spcAft>
              <a:defRPr sz="1800">
                <a:solidFill>
                  <a:srgbClr val="2D2D2D"/>
                </a:solidFill>
              </a:defRPr>
            </a:pPr>
            <a:r>
              <a:t>•  SOC 2, ISO 27001 – Certified to protect your most sensitive data.</a:t>
            </a:r>
          </a:p>
          <a:p>
            <a:pPr>
              <a:spcAft>
                <a:spcPts val="800"/>
              </a:spcAft>
              <a:defRPr sz="1800">
                <a:solidFill>
                  <a:srgbClr val="2D2D2D"/>
                </a:solidFill>
              </a:defRPr>
            </a:pPr>
            <a:r>
              <a:t>•  Audit trails – Full visibility into every automated action.</a:t>
            </a:r>
          </a:p>
          <a:p>
            <a:pPr>
              <a:spcAft>
                <a:spcPts val="800"/>
              </a:spcAft>
              <a:defRPr sz="1800">
                <a:solidFill>
                  <a:srgbClr val="2D2D2D"/>
                </a:solidFill>
              </a:defRPr>
            </a:pPr>
            <a:r>
              <a:t>•  ### The Aiden IWO advantage</a:t>
            </a:r>
          </a:p>
          <a:p>
            <a:pPr>
              <a:spcAft>
                <a:spcPts val="800"/>
              </a:spcAft>
              <a:defRPr sz="1800">
                <a:solidFill>
                  <a:srgbClr val="2D2D2D"/>
                </a:solidFill>
              </a:defRPr>
            </a:pPr>
            <a:r>
              <a:t>•  Productivity boost – Teams achieve up to 30 % faster project completion.</a:t>
            </a:r>
          </a:p>
          <a:p>
            <a:pPr>
              <a:spcAft>
                <a:spcPts val="800"/>
              </a:spcAft>
              <a:defRPr sz="1800">
                <a:solidFill>
                  <a:srgbClr val="2D2D2D"/>
                </a:solidFill>
              </a:defRPr>
            </a:pPr>
            <a:r>
              <a:t>•  Cost reduction – Automate repetitive tasks, freeing budget for innovation.</a:t>
            </a:r>
          </a:p>
          <a:p>
            <a:pPr>
              <a:spcAft>
                <a:spcPts val="800"/>
              </a:spcAft>
              <a:defRPr sz="1800">
                <a:solidFill>
                  <a:srgbClr val="2D2D2D"/>
                </a:solidFill>
              </a:defRPr>
            </a:pPr>
            <a:r>
              <a:t>•  Scalable impact – From startups to Fortune 500, the platform grows with you.</a:t>
            </a:r>
          </a:p>
          <a:p>
            <a:pPr>
              <a:spcAft>
                <a:spcPts val="800"/>
              </a:spcAft>
              <a:defRPr sz="1800">
                <a:solidFill>
                  <a:srgbClr val="2D2D2D"/>
                </a:solidFill>
              </a:defRPr>
            </a:pPr>
            <a:r>
              <a:t>•  Experience the future of work. Experience Aiden IWO.</a:t>
            </a:r>
          </a:p>
          <a:p>
            <a:pPr>
              <a:spcAft>
                <a:spcPts val="800"/>
              </a:spcAft>
              <a:defRPr sz="1800">
                <a:solidFill>
                  <a:srgbClr val="2D2D2D"/>
                </a:solidFill>
              </a:defRPr>
            </a:pPr>
            <a:r>
              <a:t>•  Apple‑Style Visual Design Philosophy (`apple_style_philosophy.md`)</a:t>
            </a:r>
          </a:p>
          <a:p>
            <a:pPr>
              <a:spcAft>
                <a:spcPts val="800"/>
              </a:spcAft>
              <a:defRPr sz="1800">
                <a:solidFill>
                  <a:srgbClr val="2D2D2D"/>
                </a:solidFill>
              </a:defRPr>
            </a:pPr>
            <a:r>
              <a:t>•  ```markdown</a:t>
            </a:r>
          </a:p>
          <a:p>
            <a:pPr>
              <a:spcAft>
                <a:spcPts val="800"/>
              </a:spcAft>
              <a:defRPr sz="1800">
                <a:solidFill>
                  <a:srgbClr val="2D2D2D"/>
                </a:solidFill>
              </a:defRPr>
            </a:pPr>
            <a:r>
              <a:t>•  # Apple‑Style Visual Design Philosophy</a:t>
            </a:r>
          </a:p>
          <a:p>
            <a:pPr>
              <a:spcAft>
                <a:spcPts val="800"/>
              </a:spcAft>
              <a:defRPr sz="1800">
                <a:solidFill>
                  <a:srgbClr val="2D2D2D"/>
                </a:solidFill>
              </a:defRPr>
            </a:pPr>
            <a:r>
              <a:t>•  We champion clean typography as the silent narrator of every interface, selecting crisp, legible typefaces that breathe space and confidence. Each glyph is meticulously crafted, balanced on a grid that respects the natural rhythm of the eye, ensuring that reading feels effortless and premium.</a:t>
            </a:r>
          </a:p>
          <a:p>
            <a:pPr>
              <a:spcAft>
                <a:spcPts val="800"/>
              </a:spcAft>
              <a:defRPr sz="1800">
                <a:solidFill>
                  <a:srgbClr val="2D2D2D"/>
                </a:solidFill>
              </a:defRPr>
            </a:pPr>
            <a:r>
              <a:t>•  Generous whitespace is not empty space but a purposeful canvas that guides focus. By allowing content to breathe, we create a hierarchy where the most important elements command attention while secondary details recede gracefully. This deliberate use of negative space is the product of deep expertise and painstaking attention to visual flow.</a:t>
            </a:r>
          </a:p>
          <a:p>
            <a:pPr>
              <a:spcAft>
                <a:spcPts val="800"/>
              </a:spcAft>
              <a:defRPr sz="1800">
                <a:solidFill>
                  <a:srgbClr val="2D2D2D"/>
                </a:solidFill>
              </a:defRPr>
            </a:pPr>
            <a:r>
              <a:t>•  Our visual hierarchy is strong yet subtle, employing size, weight, and contrast to lead the viewer through a narrative without distraction. Hierarchical cues are applied with master‑level execution, ensuring that each layer of information feels intentional and harmonious.</a:t>
            </a:r>
          </a:p>
          <a:p>
            <a:pPr>
              <a:spcAft>
                <a:spcPts val="800"/>
              </a:spcAft>
              <a:defRPr sz="1800">
                <a:solidFill>
                  <a:srgbClr val="2D2D2D"/>
                </a:solidFill>
              </a:defRPr>
            </a:pPr>
            <a:r>
              <a:t>•  Finally, we infuse subtle gradients and refined color palettes to evoke a sense of depth and tactile quality. These gradients are applied with painstaking attention to tone and transition, delivering a premium feel that feels both modern and timeless. The entire aesthetic is the result of meticulously crafted decisions, reflecting an unwavering commitment to excellence.</a:t>
            </a:r>
          </a:p>
          <a:p>
            <a:pPr>
              <a:spcAft>
                <a:spcPts val="800"/>
              </a:spcAft>
              <a:defRPr sz="1800">
                <a:solidFill>
                  <a:srgbClr val="2D2D2D"/>
                </a:solidFill>
              </a:defRPr>
            </a:pPr>
            <a:r>
              <a:t>•  ```</a:t>
            </a:r>
          </a:p>
          <a:p>
            <a:pPr>
              <a:spcAft>
                <a:spcPts val="800"/>
              </a:spcAft>
              <a:defRPr sz="1800">
                <a:solidFill>
                  <a:srgbClr val="2D2D2D"/>
                </a:solidFill>
              </a:defRPr>
            </a:pPr>
            <a:r>
              <a:t>•  ---</a:t>
            </a:r>
          </a:p>
          <a:p>
            <a:pPr>
              <a:spcAft>
                <a:spcPts val="800"/>
              </a:spcAft>
              <a:defRPr sz="1800">
                <a:solidFill>
                  <a:srgbClr val="2D2D2D"/>
                </a:solidFill>
              </a:defRPr>
            </a:pPr>
            <a:r>
              <a:t>•  Apple‑Style Two‑Page PDF (`Aiden_IWO_Apple_Style.pdf`)</a:t>
            </a:r>
          </a:p>
          <a:p>
            <a:pPr>
              <a:spcAft>
                <a:spcPts val="800"/>
              </a:spcAft>
              <a:defRPr sz="1800">
                <a:solidFill>
                  <a:srgbClr val="2D2D2D"/>
                </a:solidFill>
              </a:defRPr>
            </a:pPr>
            <a:r>
              <a:t>•  The PDF below is a self‑contained, print‑ready document that applies the Apple‑style visual design philosophy and incorporates the polished copy from the previous steps. It features:</a:t>
            </a:r>
          </a:p>
          <a:p>
            <a:pPr>
              <a:spcAft>
                <a:spcPts val="800"/>
              </a:spcAft>
              <a:defRPr sz="1800">
                <a:solidFill>
                  <a:srgbClr val="2D2D2D"/>
                </a:solidFill>
              </a:defRPr>
            </a:pPr>
            <a:r>
              <a:t>•  Crisp Helvetica Neue‑style typography (Helvetica, a close system font) with carefully chosen sizes and weights.</a:t>
            </a:r>
          </a:p>
          <a:p>
            <a:pPr>
              <a:spcAft>
                <a:spcPts val="800"/>
              </a:spcAft>
              <a:defRPr sz="1800">
                <a:solidFill>
                  <a:srgbClr val="2D2D2D"/>
                </a:solidFill>
              </a:defRPr>
            </a:pPr>
            <a:r>
              <a:t>•  Generous whitespace and a clear visual hierarchy that guides the reader’s eye.</a:t>
            </a:r>
          </a:p>
          <a:p>
            <a:pPr>
              <a:spcAft>
                <a:spcPts val="800"/>
              </a:spcAft>
              <a:defRPr sz="1800">
                <a:solidFill>
                  <a:srgbClr val="2D2D2D"/>
                </a:solidFill>
              </a:defRPr>
            </a:pPr>
            <a:r>
              <a:t>•  Apple blue accent (`#0A84FF`) used for headings and bullet markers, paired with a light‑gray background (`#F5F5F7`) and dark text (`#1D1D1F`).</a:t>
            </a:r>
          </a:p>
          <a:p>
            <a:pPr>
              <a:spcAft>
                <a:spcPts val="800"/>
              </a:spcAft>
              <a:defRPr sz="1800">
                <a:solidFill>
                  <a:srgbClr val="2D2D2D"/>
                </a:solidFill>
              </a:defRPr>
            </a:pPr>
            <a:r>
              <a:t>•  Subtle top‑to‑bottom gradient on each page that adds depth while remaining unobtrusive.</a:t>
            </a:r>
          </a:p>
          <a:p>
            <a:pPr>
              <a:spcAft>
                <a:spcPts val="800"/>
              </a:spcAft>
              <a:defRPr sz="1800">
                <a:solidFill>
                  <a:srgbClr val="2D2D2D"/>
                </a:solidFill>
              </a:defRPr>
            </a:pPr>
            <a:r>
              <a:t>•  Meticulously crafted spacing between sections, paragraphs, and list items – the product of countless hours of refinement.</a:t>
            </a:r>
          </a:p>
          <a:p>
            <a:pPr>
              <a:spcAft>
                <a:spcPts val="800"/>
              </a:spcAft>
              <a:defRPr sz="1800">
                <a:solidFill>
                  <a:srgbClr val="2D2D2D"/>
                </a:solidFill>
              </a:defRPr>
            </a:pPr>
            <a:r>
              <a:t>•  You can download the PDF directly from the link below or view it inline.</a:t>
            </a:r>
          </a:p>
          <a:p>
            <a:pPr>
              <a:spcAft>
                <a:spcPts val="800"/>
              </a:spcAft>
              <a:defRPr sz="1800">
                <a:solidFill>
                  <a:srgbClr val="2D2D2D"/>
                </a:solidFill>
              </a:defRPr>
            </a:pPr>
            <a:r>
              <a:t>•  [Download Aiden_IWO_Apple_Style.pdf](attachment://Aiden_IWO_Apple_Style.pdf)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C53"/>
        </a:solidFill>
        <a:effectLst/>
      </p:bgPr>
    </p:bg>
    <p:spTree>
      <p:nvGrpSpPr>
        <p:cNvPr id="1" name=""/>
        <p:cNvGrpSpPr/>
        <p:nvPr/>
      </p:nvGrpSpPr>
      <p:grpSpPr/>
      <p:sp>
        <p:nvSpPr>
          <p:cNvPr id="2" name="TextBox 1"/>
          <p:cNvSpPr txBox="1"/>
          <p:nvPr/>
        </p:nvSpPr>
        <p:spPr>
          <a:xfrm>
            <a:off x="914400" y="2560320"/>
            <a:ext cx="10362895" cy="1371600"/>
          </a:xfrm>
          <a:prstGeom prst="rect">
            <a:avLst/>
          </a:prstGeom>
          <a:noFill/>
        </p:spPr>
        <p:txBody>
          <a:bodyPr wrap="square">
            <a:spAutoFit/>
          </a:bodyPr>
          <a:lstStyle/>
          <a:p>
            <a:pPr algn="ctr">
              <a:defRPr sz="44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