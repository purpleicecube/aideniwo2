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C53"/>
        </a:solidFill>
        <a:effectLst/>
      </p:bgPr>
    </p:bg>
    <p:spTree>
      <p:nvGrpSpPr>
        <p:cNvPr id="1" name=""/>
        <p:cNvGrpSpPr/>
        <p:nvPr/>
      </p:nvGrpSpPr>
      <p:grpSpPr/>
      <p:sp>
        <p:nvSpPr>
          <p:cNvPr id="2" name="TextBox 1"/>
          <p:cNvSpPr txBox="1"/>
          <p:nvPr/>
        </p:nvSpPr>
        <p:spPr>
          <a:xfrm>
            <a:off x="914400" y="2011680"/>
            <a:ext cx="10362895" cy="1828800"/>
          </a:xfrm>
          <a:prstGeom prst="rect">
            <a:avLst/>
          </a:prstGeom>
          <a:noFill/>
        </p:spPr>
        <p:txBody>
          <a:bodyPr wrap="square">
            <a:spAutoFit/>
          </a:bodyPr>
          <a:lstStyle/>
          <a:p>
            <a:pPr algn="ctr">
              <a:defRPr sz="4400" b="1">
                <a:solidFill>
                  <a:srgbClr val="FFFFFF"/>
                </a:solidFill>
              </a:defRPr>
            </a:pPr>
            <a:r>
              <a:t>Define Scope &amp; Outline</a:t>
            </a:r>
          </a:p>
        </p:txBody>
      </p:sp>
      <p:sp>
        <p:nvSpPr>
          <p:cNvPr id="3" name="Rectangle 2"/>
          <p:cNvSpPr/>
          <p:nvPr/>
        </p:nvSpPr>
        <p:spPr>
          <a:xfrm>
            <a:off x="4114800" y="4023360"/>
            <a:ext cx="3962095" cy="508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Final Outline for 2‑Page Apple‑Style PDF – Aiden IWO</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 Page 1 – Cover / Hero</a:t>
            </a:r>
          </a:p>
          <a:p>
            <a:pPr>
              <a:spcAft>
                <a:spcPts val="800"/>
              </a:spcAft>
              <a:defRPr sz="1800">
                <a:solidFill>
                  <a:srgbClr val="2D2D2D"/>
                </a:solidFill>
              </a:defRPr>
            </a:pPr>
            <a:r>
              <a:t>•  | Section | Content (minimal copy) | Visual / Layout Notes |</a:t>
            </a:r>
          </a:p>
          <a:p>
            <a:pPr>
              <a:spcAft>
                <a:spcPts val="800"/>
              </a:spcAft>
              <a:defRPr sz="1800">
                <a:solidFill>
                  <a:srgbClr val="2D2D2D"/>
                </a:solidFill>
              </a:defRPr>
            </a:pPr>
            <a:r>
              <a:t>•  |---------|------------------------|----------------------|</a:t>
            </a:r>
          </a:p>
          <a:p>
            <a:pPr>
              <a:spcAft>
                <a:spcPts val="800"/>
              </a:spcAft>
              <a:defRPr sz="1800">
                <a:solidFill>
                  <a:srgbClr val="2D2D2D"/>
                </a:solidFill>
              </a:defRPr>
            </a:pPr>
            <a:r>
              <a:t>•  | Headline | “AI, Simplified.” | Large, bold type (Poppins/Arial), centered, ample white‑space. |</a:t>
            </a:r>
          </a:p>
          <a:p>
            <a:pPr>
              <a:spcAft>
                <a:spcPts val="800"/>
              </a:spcAft>
              <a:defRPr sz="1800">
                <a:solidFill>
                  <a:srgbClr val="2D2D2D"/>
                </a:solidFill>
              </a:defRPr>
            </a:pPr>
            <a:r>
              <a:t>•  | Sub‑headline / Positioning | “Aiden IWO is the iPhone of AI orchestration – powerful, elegant, and unbelievably simple.” | Slightly smaller (Lora/Georgia), placed directly under the headline. |</a:t>
            </a:r>
          </a:p>
          <a:p>
            <a:pPr>
              <a:spcAft>
                <a:spcPts val="800"/>
              </a:spcAft>
              <a:defRPr sz="1800">
                <a:solidFill>
                  <a:srgbClr val="2D2D2D"/>
                </a:solidFill>
              </a:defRPr>
            </a:pPr>
            <a:r>
              <a:t>•  | Tagline (optional) | “One‑click AI orchestration.” | Muted accent gray, beneath sub‑headline. |</a:t>
            </a:r>
          </a:p>
          <a:p>
            <a:pPr>
              <a:spcAft>
                <a:spcPts val="800"/>
              </a:spcAft>
              <a:defRPr sz="1800">
                <a:solidFill>
                  <a:srgbClr val="2D2D2D"/>
                </a:solidFill>
              </a:defRPr>
            </a:pPr>
            <a:r>
              <a:t>•  | Hero Visual | Full‑bleed, high‑resolution image of the Aiden IWO interface (or sleek device‑like mock‑up) with a subtle drop‑shadow. | No borders; dominates the page. |</a:t>
            </a:r>
          </a:p>
          <a:p>
            <a:pPr>
              <a:spcAft>
                <a:spcPts val="800"/>
              </a:spcAft>
              <a:defRPr sz="1800">
                <a:solidFill>
                  <a:srgbClr val="2D2D2D"/>
                </a:solidFill>
              </a:defRPr>
            </a:pPr>
            <a:r>
              <a:t>•  | Logos | Anthropic logo (top‑left) and Aiden IWO product logo (top‑right). | Small, monochrome, aligned with page margins. |</a:t>
            </a:r>
          </a:p>
          <a:p>
            <a:pPr>
              <a:spcAft>
                <a:spcPts val="800"/>
              </a:spcAft>
              <a:defRPr sz="1800">
                <a:solidFill>
                  <a:srgbClr val="2D2D2D"/>
                </a:solidFill>
              </a:defRPr>
            </a:pPr>
            <a:r>
              <a:t>•  | Footer Accent | Thin line (≈2 pt) in Apple‑gray across the bottom. | Reinforces clean grid. |</a:t>
            </a:r>
          </a:p>
          <a:p>
            <a:pPr>
              <a:spcAft>
                <a:spcPts val="800"/>
              </a:spcAft>
              <a:defRPr sz="1800">
                <a:solidFill>
                  <a:srgbClr val="2D2D2D"/>
                </a:solidFill>
              </a:defRPr>
            </a:pPr>
            <a:r>
              <a:t>•  Apple principle: One visual focal point, headline readable at a glance, no more than three lines of copy.</a:t>
            </a:r>
          </a:p>
          <a:p>
            <a:pPr>
              <a:spcAft>
                <a:spcPts val="800"/>
              </a:spcAft>
              <a:defRPr sz="1800">
                <a:solidFill>
                  <a:srgbClr val="2D2D2D"/>
                </a:solidFill>
              </a:defRPr>
            </a:pPr>
            <a:r>
              <a:t>•  ### Page 2 – Story &amp; Call‑to‑Action</a:t>
            </a:r>
          </a:p>
          <a:p>
            <a:pPr>
              <a:spcAft>
                <a:spcPts val="800"/>
              </a:spcAft>
              <a:defRPr sz="1800">
                <a:solidFill>
                  <a:srgbClr val="2D2D2D"/>
                </a:solidFill>
              </a:defRPr>
            </a:pPr>
            <a:r>
              <a:t>•  | Section | Content (concise bullet) | Visual / Layout Notes |</a:t>
            </a:r>
          </a:p>
          <a:p>
            <a:pPr>
              <a:spcAft>
                <a:spcPts val="800"/>
              </a:spcAft>
              <a:defRPr sz="1800">
                <a:solidFill>
                  <a:srgbClr val="2D2D2D"/>
                </a:solidFill>
              </a:defRPr>
            </a:pPr>
            <a:r>
              <a:t>•  |---------|--------------------------|----------------------|</a:t>
            </a:r>
          </a:p>
          <a:p>
            <a:pPr>
              <a:spcAft>
                <a:spcPts val="800"/>
              </a:spcAft>
              <a:defRPr sz="1800">
                <a:solidFill>
                  <a:srgbClr val="2D2D2D"/>
                </a:solidFill>
              </a:defRPr>
            </a:pPr>
            <a:r>
              <a:t>•  | Problem Statement | “Complex AI pipelines stall innovation. Teams spend weeks writing code, managing infra, and wrestling with security.” | Left‑aligned, large body text, generous line‑height, paired with a subtle icon (e.g., tangled wires). |</a:t>
            </a:r>
          </a:p>
          <a:p>
            <a:pPr>
              <a:spcAft>
                <a:spcPts val="800"/>
              </a:spcAft>
              <a:defRPr sz="1800">
                <a:solidFill>
                  <a:srgbClr val="2D2D2D"/>
                </a:solidFill>
              </a:defRPr>
            </a:pPr>
            <a:r>
              <a:t>•  | Solution Overview | “Aiden IWO turns that chaos into a single click.” | Centered, bold, directly under problem statement; simple illustration of a single button activating a workflow. |</a:t>
            </a:r>
          </a:p>
          <a:p>
            <a:pPr>
              <a:spcAft>
                <a:spcPts val="800"/>
              </a:spcAft>
              <a:defRPr sz="1800">
                <a:solidFill>
                  <a:srgbClr val="2D2D2D"/>
                </a:solidFill>
              </a:defRPr>
            </a:pPr>
            <a:r>
              <a:t>•  | Key Benefits (3‑column layout) | 1. Zero‑code, zero‑friction – Drag‑and‑drop, auto‑generated connectors.&lt;br&gt;2. Enterprise‑grade security – End‑to‑end encryption, role‑based access.&lt;br&gt;3. Accelerates innovation – From weeks to minutes, measurable ROI. | Three equal‑width columns, thin vertical dividers (1 pt). Each benefit headline bold, body copy regular; minimal line‑art icon above each headline. |</a:t>
            </a:r>
          </a:p>
          <a:p>
            <a:pPr>
              <a:spcAft>
                <a:spcPts val="800"/>
              </a:spcAft>
              <a:defRPr sz="1800">
                <a:solidFill>
                  <a:srgbClr val="2D2D2D"/>
                </a:solidFill>
              </a:defRPr>
            </a:pPr>
            <a:r>
              <a:t>•  | Human‑Centric Transparency | “Real‑time visual monitoring &amp; explainable AI insights keep you in control.” | Centered, lighter gray, acts as visual bridge to CTA. |</a:t>
            </a:r>
          </a:p>
          <a:p>
            <a:pPr>
              <a:spcAft>
                <a:spcPts val="800"/>
              </a:spcAft>
              <a:defRPr sz="1800">
                <a:solidFill>
                  <a:srgbClr val="2D2D2D"/>
                </a:solidFill>
              </a:defRPr>
            </a:pPr>
            <a:r>
              <a:t>•  | Call‑to‑Action | “Experience the future of AI. Schedule a live demo.” | Large button‑style graphic (filled Apple‑gray, white text), centered, subtle drop‑shadow. |</a:t>
            </a:r>
          </a:p>
          <a:p>
            <a:pPr>
              <a:spcAft>
                <a:spcPts val="800"/>
              </a:spcAft>
              <a:defRPr sz="1800">
                <a:solidFill>
                  <a:srgbClr val="2D2D2D"/>
                </a:solidFill>
              </a:defRPr>
            </a:pPr>
            <a:r>
              <a:t>•  | Contact / Footer | “Visit [www.aiden‑iwo.com] or email demo@aiden‑iwo.com.” | Small, right‑aligned text, same gray as footer accent on Page 1. |</a:t>
            </a:r>
          </a:p>
          <a:p>
            <a:pPr>
              <a:spcAft>
                <a:spcPts val="800"/>
              </a:spcAft>
              <a:defRPr sz="1800">
                <a:solidFill>
                  <a:srgbClr val="2D2D2D"/>
                </a:solidFill>
              </a:defRPr>
            </a:pPr>
            <a:r>
              <a:t>•  Apple principle: Each page tells a single story; text limited to essential statements, whitespace dominates, hierarchy driven by size and placement.</a:t>
            </a:r>
          </a:p>
          <a:p>
            <a:pPr>
              <a:spcAft>
                <a:spcPts val="800"/>
              </a:spcAft>
              <a:defRPr sz="1800">
                <a:solidFill>
                  <a:srgbClr val="2D2D2D"/>
                </a:solidFill>
              </a:defRPr>
            </a:pPr>
            <a:r>
              <a:t>•  ### Overall Layout Guidance</a:t>
            </a:r>
          </a:p>
          <a:p>
            <a:pPr>
              <a:spcAft>
                <a:spcPts val="800"/>
              </a:spcAft>
              <a:defRPr sz="1800">
                <a:solidFill>
                  <a:srgbClr val="2D2D2D"/>
                </a:solidFill>
              </a:defRPr>
            </a:pPr>
            <a:r>
              <a:t>•  Grid: 12‑column baseline grid, 24 pt margins on all sides.</a:t>
            </a:r>
          </a:p>
          <a:p>
            <a:pPr>
              <a:spcAft>
                <a:spcPts val="800"/>
              </a:spcAft>
              <a:defRPr sz="1800">
                <a:solidFill>
                  <a:srgbClr val="2D2D2D"/>
                </a:solidFill>
              </a:defRPr>
            </a:pPr>
            <a:r>
              <a:t>•  Typography: Headline 44 pt (Poppins/Arial), sub‑headline 28 pt, body 16 pt, benefit titles 20 pt.</a:t>
            </a:r>
          </a:p>
          <a:p>
            <a:pPr>
              <a:spcAft>
                <a:spcPts val="800"/>
              </a:spcAft>
              <a:defRPr sz="1800">
                <a:solidFill>
                  <a:srgbClr val="2D2D2D"/>
                </a:solidFill>
              </a:defRPr>
            </a:pPr>
            <a:r>
              <a:t>•  Color Palette: Anthropic dark text #141413, light background #faf9f5, accent gray #b0aea5 for dividers and subtle icons.</a:t>
            </a:r>
          </a:p>
          <a:p>
            <a:pPr>
              <a:spcAft>
                <a:spcPts val="800"/>
              </a:spcAft>
              <a:defRPr sz="1800">
                <a:solidFill>
                  <a:srgbClr val="2D2D2D"/>
                </a:solidFill>
              </a:defRPr>
            </a:pPr>
            <a:r>
              <a:t>•  Imagery: High‑resolution, monochrome‑compatible visuals; avoid decorative gradients or heavy drop‑shadows.</a:t>
            </a:r>
          </a:p>
          <a:p>
            <a:pPr>
              <a:spcAft>
                <a:spcPts val="800"/>
              </a:spcAft>
              <a:defRPr sz="1800">
                <a:solidFill>
                  <a:srgbClr val="2D2D2D"/>
                </a:solidFill>
              </a:defRPr>
            </a:pPr>
            <a:r>
              <a:t>•  Whitespace: Minimum 48 pt vertical breathing room between sections; each section visually isolated.</a:t>
            </a:r>
          </a:p>
          <a:p>
            <a:pPr>
              <a:spcAft>
                <a:spcPts val="800"/>
              </a:spcAft>
              <a:defRPr sz="1800">
                <a:solidFill>
                  <a:srgbClr val="2D2D2D"/>
                </a:solidFill>
              </a:defRPr>
            </a:pPr>
            <a:r>
              <a:t>•  This outline captures the key messages, sections, and visual hierarchy required for a high‑impact, Apple‑style two‑page PDF introducing Aiden IWO.</a:t>
            </a:r>
          </a:p>
          <a:p>
            <a:pPr>
              <a:spcAft>
                <a:spcPts val="800"/>
              </a:spcAft>
              <a:defRPr sz="1800">
                <a:solidFill>
                  <a:srgbClr val="2D2D2D"/>
                </a:solidFill>
              </a:defRPr>
            </a:pPr>
            <a:r>
              <a:t>•  ### Core Product &amp; Value Messages (Apple‑style)</a:t>
            </a:r>
          </a:p>
          <a:p>
            <a:pPr>
              <a:spcAft>
                <a:spcPts val="800"/>
              </a:spcAft>
              <a:defRPr sz="1800">
                <a:solidFill>
                  <a:srgbClr val="2D2D2D"/>
                </a:solidFill>
              </a:defRPr>
            </a:pPr>
            <a:r>
              <a:t>•  1. One‑click AI orchestration – Aiden IWO lets teams build, run, and scale intelligent workflows with the same effortless simplicity you expect from a premium consumer product.</a:t>
            </a:r>
          </a:p>
          <a:p>
            <a:pPr>
              <a:spcAft>
                <a:spcPts val="800"/>
              </a:spcAft>
              <a:defRPr sz="1800">
                <a:solidFill>
                  <a:srgbClr val="2D2D2D"/>
                </a:solidFill>
              </a:defRPr>
            </a:pPr>
            <a:r>
              <a:t>•  2. Zero‑code, zero‑friction – No scripting, no complex pipelines. Drag‑and‑drop components, auto‑generated connectors, and instant deployment mean anyone can create powerful AI solutions.</a:t>
            </a:r>
          </a:p>
          <a:p>
            <a:pPr>
              <a:spcAft>
                <a:spcPts val="800"/>
              </a:spcAft>
              <a:defRPr sz="1800">
                <a:solidFill>
                  <a:srgbClr val="2D2D2D"/>
                </a:solidFill>
              </a:defRPr>
            </a:pPr>
            <a:r>
              <a:t>•  3. Enterprise‑grade security &amp; scalability – End‑to‑end encryption, role‑based access, and auto‑scaling infrastructure keep data safe while handling any workload, from prototype to production.</a:t>
            </a:r>
          </a:p>
          <a:p>
            <a:pPr>
              <a:spcAft>
                <a:spcPts val="800"/>
              </a:spcAft>
              <a:defRPr sz="1800">
                <a:solidFill>
                  <a:srgbClr val="2D2D2D"/>
                </a:solidFill>
              </a:defRPr>
            </a:pPr>
            <a:r>
              <a:t>•  4. Accelerates innovation – Reduce time‑to‑value from weeks to minutes. Teams focus on ideas, not infrastructure, delivering measurable business impact faster.</a:t>
            </a:r>
          </a:p>
          <a:p>
            <a:pPr>
              <a:spcAft>
                <a:spcPts val="800"/>
              </a:spcAft>
              <a:defRPr sz="1800">
                <a:solidFill>
                  <a:srgbClr val="2D2D2D"/>
                </a:solidFill>
              </a:defRPr>
            </a:pPr>
            <a:r>
              <a:t>•  5. Human‑centric transparency – Real‑time visual monitoring, explainable AI insights, and intuitive controls put control back in the hands of the user.</a:t>
            </a:r>
          </a:p>
          <a:p>
            <a:pPr>
              <a:spcAft>
                <a:spcPts val="800"/>
              </a:spcAft>
              <a:defRPr sz="1800">
                <a:solidFill>
                  <a:srgbClr val="2D2D2D"/>
                </a:solidFill>
              </a:defRPr>
            </a:pPr>
            <a:r>
              <a:t>•  ---</a:t>
            </a:r>
          </a:p>
          <a:p>
            <a:pPr>
              <a:spcAft>
                <a:spcPts val="800"/>
              </a:spcAft>
              <a:defRPr sz="1800">
                <a:solidFill>
                  <a:srgbClr val="2D2D2D"/>
                </a:solidFill>
              </a:defRPr>
            </a:pPr>
            <a:r>
              <a:t>•  ### Apple‑style Brand Positioning Statement</a:t>
            </a:r>
          </a:p>
          <a:p>
            <a:pPr>
              <a:spcAft>
                <a:spcPts val="800"/>
              </a:spcAft>
              <a:defRPr sz="1800">
                <a:solidFill>
                  <a:srgbClr val="2D2D2D"/>
                </a:solidFill>
              </a:defRPr>
            </a:pPr>
            <a:r>
              <a:t>•  &gt; “Aiden IWO is the iPhone of AI orchestration – powerful, elegant, and unbelievably simple. It transforms complex, hidden AI workflows into a seamless, click‑driven experience that lets every organization innovate at the speed of thought.”</a:t>
            </a:r>
          </a:p>
          <a:p>
            <a:pPr>
              <a:spcAft>
                <a:spcPts val="800"/>
              </a:spcAft>
              <a:defRPr sz="1800">
                <a:solidFill>
                  <a:srgbClr val="2D2D2D"/>
                </a:solidFill>
              </a:defRPr>
            </a:pPr>
            <a:r>
              <a:t>•  ---</a:t>
            </a:r>
          </a:p>
          <a:p>
            <a:pPr>
              <a:spcAft>
                <a:spcPts val="800"/>
              </a:spcAft>
              <a:defRPr sz="1800">
                <a:solidFill>
                  <a:srgbClr val="2D2D2D"/>
                </a:solidFill>
              </a:defRPr>
            </a:pPr>
            <a:r>
              <a:t>•  ### Tagline (optional)</a:t>
            </a:r>
          </a:p>
          <a:p>
            <a:pPr>
              <a:spcAft>
                <a:spcPts val="800"/>
              </a:spcAft>
              <a:defRPr sz="1800">
                <a:solidFill>
                  <a:srgbClr val="2D2D2D"/>
                </a:solidFill>
              </a:defRPr>
            </a:pPr>
            <a:r>
              <a:t>•  “AI, simplified.”</a:t>
            </a:r>
          </a:p>
          <a:p>
            <a:pPr>
              <a:spcAft>
                <a:spcPts val="800"/>
              </a:spcAft>
              <a:defRPr sz="1800">
                <a:solidFill>
                  <a:srgbClr val="2D2D2D"/>
                </a:solidFill>
              </a:defRPr>
            </a:pPr>
            <a:r>
              <a:t>•  ---</a:t>
            </a:r>
          </a:p>
          <a:p>
            <a:pPr>
              <a:spcAft>
                <a:spcPts val="800"/>
              </a:spcAft>
              <a:defRPr sz="1800">
                <a:solidFill>
                  <a:srgbClr val="2D2D2D"/>
                </a:solidFill>
              </a:defRPr>
            </a:pPr>
            <a:r>
              <a:t>•  These messages and positioning capture the high‑impact, minimalist narrative that will drive the two‑page PDF, aligning with Apple’s clean storytelling while highlighting Aiden IWO’s unique value proposition.</a:t>
            </a:r>
          </a:p>
          <a:p>
            <a:pPr>
              <a:spcAft>
                <a:spcPts val="800"/>
              </a:spcAft>
              <a:defRPr sz="1800">
                <a:solidFill>
                  <a:srgbClr val="2D2D2D"/>
                </a:solidFill>
              </a:defRPr>
            </a:pPr>
            <a:r>
              <a:t>•  Two‑Page Apple‑Style PDF Outline for Aiden IWO</a:t>
            </a:r>
          </a:p>
          <a:p>
            <a:pPr>
              <a:spcAft>
                <a:spcPts val="800"/>
              </a:spcAft>
              <a:defRPr sz="1800">
                <a:solidFill>
                  <a:srgbClr val="2D2D2D"/>
                </a:solidFill>
              </a:defRPr>
            </a:pPr>
            <a:r>
              <a:t>•  ---</a:t>
            </a:r>
          </a:p>
          <a:p>
            <a:pPr>
              <a:spcAft>
                <a:spcPts val="800"/>
              </a:spcAft>
              <a:defRPr sz="1800">
                <a:solidFill>
                  <a:srgbClr val="2D2D2D"/>
                </a:solidFill>
              </a:defRPr>
            </a:pPr>
            <a:r>
              <a:t>•  ### Page 1 – Cover / Hero</a:t>
            </a:r>
          </a:p>
          <a:p>
            <a:pPr>
              <a:spcAft>
                <a:spcPts val="800"/>
              </a:spcAft>
              <a:defRPr sz="1800">
                <a:solidFill>
                  <a:srgbClr val="2D2D2D"/>
                </a:solidFill>
              </a:defRPr>
            </a:pPr>
            <a:r>
              <a:t>•  | Section | Content (minimal copy) | Visual/ Layout Notes |</a:t>
            </a:r>
          </a:p>
          <a:p>
            <a:pPr>
              <a:spcAft>
                <a:spcPts val="800"/>
              </a:spcAft>
              <a:defRPr sz="1800">
                <a:solidFill>
                  <a:srgbClr val="2D2D2D"/>
                </a:solidFill>
              </a:defRPr>
            </a:pPr>
            <a:r>
              <a:t>•  |---------|------------------------|----------------------|</a:t>
            </a:r>
          </a:p>
          <a:p>
            <a:pPr>
              <a:spcAft>
                <a:spcPts val="800"/>
              </a:spcAft>
              <a:defRPr sz="1800">
                <a:solidFill>
                  <a:srgbClr val="2D2D2D"/>
                </a:solidFill>
              </a:defRPr>
            </a:pPr>
            <a:r>
              <a:t>•  | Headline | “AI, Simplified.” | Large, bold type (Poppins / Arial), centered, ample white‑space. |</a:t>
            </a:r>
          </a:p>
          <a:p>
            <a:pPr>
              <a:spcAft>
                <a:spcPts val="800"/>
              </a:spcAft>
              <a:defRPr sz="1800">
                <a:solidFill>
                  <a:srgbClr val="2D2D2D"/>
                </a:solidFill>
              </a:defRPr>
            </a:pPr>
            <a:r>
              <a:t>•  | Sub‑headline / Positioning | “Aiden IWO is the iPhone of AI orchestration – powerful, elegant, and unbelievably simple.” | Smaller but still prominent (Lora / Georgia), placed just below the headline. |</a:t>
            </a:r>
          </a:p>
          <a:p>
            <a:pPr>
              <a:spcAft>
                <a:spcPts val="800"/>
              </a:spcAft>
              <a:defRPr sz="1800">
                <a:solidFill>
                  <a:srgbClr val="2D2D2D"/>
                </a:solidFill>
              </a:defRPr>
            </a:pPr>
            <a:r>
              <a:t>•  | Tagline (optional) | “One‑click AI orchestration.” | Set in a muted accent color (Apple‑gray) beneath the sub‑headline. |</a:t>
            </a:r>
          </a:p>
          <a:p>
            <a:pPr>
              <a:spcAft>
                <a:spcPts val="800"/>
              </a:spcAft>
              <a:defRPr sz="1800">
                <a:solidFill>
                  <a:srgbClr val="2D2D2D"/>
                </a:solidFill>
              </a:defRPr>
            </a:pPr>
            <a:r>
              <a:t>•  | Hero Visual | Full‑bleed, high‑resolution image of the Aiden IWO interface (or a sleek device‑like mock‑up) with a subtle drop‑shadow. | No borders; let the image dominate the page. |</a:t>
            </a:r>
          </a:p>
          <a:p>
            <a:pPr>
              <a:spcAft>
                <a:spcPts val="800"/>
              </a:spcAft>
              <a:defRPr sz="1800">
                <a:solidFill>
                  <a:srgbClr val="2D2D2D"/>
                </a:solidFill>
              </a:defRPr>
            </a:pPr>
            <a:r>
              <a:t>•  | Logo | Anthropic logo (top‑left) and Aiden IWO product logo (top‑right). | Small, monochrome, aligned with the page margins. |</a:t>
            </a:r>
          </a:p>
          <a:p>
            <a:pPr>
              <a:spcAft>
                <a:spcPts val="800"/>
              </a:spcAft>
              <a:defRPr sz="1800">
                <a:solidFill>
                  <a:srgbClr val="2D2D2D"/>
                </a:solidFill>
              </a:defRPr>
            </a:pPr>
            <a:r>
              <a:t>•  | Footer Accent | Thin line (≈2 pt) in Apple‑gray across the bottom. | Reinforces the clean grid. |</a:t>
            </a:r>
          </a:p>
          <a:p>
            <a:pPr>
              <a:spcAft>
                <a:spcPts val="800"/>
              </a:spcAft>
              <a:defRPr sz="1800">
                <a:solidFill>
                  <a:srgbClr val="2D2D2D"/>
                </a:solidFill>
              </a:defRPr>
            </a:pPr>
            <a:r>
              <a:t>•  Apple principle: One visual focal point, headline that can be read at a glance, and no more than three lines of copy.</a:t>
            </a:r>
          </a:p>
          <a:p>
            <a:pPr>
              <a:spcAft>
                <a:spcPts val="800"/>
              </a:spcAft>
              <a:defRPr sz="1800">
                <a:solidFill>
                  <a:srgbClr val="2D2D2D"/>
                </a:solidFill>
              </a:defRPr>
            </a:pPr>
            <a:r>
              <a:t>•  ---</a:t>
            </a:r>
          </a:p>
          <a:p>
            <a:pPr>
              <a:spcAft>
                <a:spcPts val="800"/>
              </a:spcAft>
              <a:defRPr sz="1800">
                <a:solidFill>
                  <a:srgbClr val="2D2D2D"/>
                </a:solidFill>
              </a:defRPr>
            </a:pPr>
            <a:r>
              <a:t>•  ### Page 2 – Story &amp; Call‑to‑Action</a:t>
            </a:r>
          </a:p>
          <a:p>
            <a:pPr>
              <a:spcAft>
                <a:spcPts val="800"/>
              </a:spcAft>
              <a:defRPr sz="1800">
                <a:solidFill>
                  <a:srgbClr val="2D2D2D"/>
                </a:solidFill>
              </a:defRPr>
            </a:pPr>
            <a:r>
              <a:t>•  | Section | Content (concise bullet) | Visual/ Layout Notes |</a:t>
            </a:r>
          </a:p>
          <a:p>
            <a:pPr>
              <a:spcAft>
                <a:spcPts val="800"/>
              </a:spcAft>
              <a:defRPr sz="1800">
                <a:solidFill>
                  <a:srgbClr val="2D2D2D"/>
                </a:solidFill>
              </a:defRPr>
            </a:pPr>
            <a:r>
              <a:t>•  |---------|--------------------------|----------------------|</a:t>
            </a:r>
          </a:p>
          <a:p>
            <a:pPr>
              <a:spcAft>
                <a:spcPts val="800"/>
              </a:spcAft>
              <a:defRPr sz="1800">
                <a:solidFill>
                  <a:srgbClr val="2D2D2D"/>
                </a:solidFill>
              </a:defRPr>
            </a:pPr>
            <a:r>
              <a:t>•  | Problem Statement | “Complex AI pipelines stall innovation. Teams spend weeks writing code, managing infra, and wrestling with security.” | Left‑aligned, large‑size body text, generous line‑height, paired with a subtle icon (e.g., tangled wires). |</a:t>
            </a:r>
          </a:p>
          <a:p>
            <a:pPr>
              <a:spcAft>
                <a:spcPts val="800"/>
              </a:spcAft>
              <a:defRPr sz="1800">
                <a:solidFill>
                  <a:srgbClr val="2D2D2D"/>
                </a:solidFill>
              </a:defRPr>
            </a:pPr>
            <a:r>
              <a:t>•  | Solution Overview | “Aiden IWO turns that chaos into a single click.” | Centered, bold, placed directly under the problem statement; accompanied by a simple illustration of a single button turning on a workflow. |</a:t>
            </a:r>
          </a:p>
          <a:p>
            <a:pPr>
              <a:spcAft>
                <a:spcPts val="800"/>
              </a:spcAft>
              <a:defRPr sz="1800">
                <a:solidFill>
                  <a:srgbClr val="2D2D2D"/>
                </a:solidFill>
              </a:defRPr>
            </a:pPr>
            <a:r>
              <a:t>•  | Key Benefits (3‑column layout, each column a single benefit) | 1. Zero‑code, zero‑friction – Drag‑and‑drop, auto‑generated connectors.&lt;br&gt;2. Enterprise‑grade security – End‑to‑end encryption, role‑based access.&lt;br&gt;3. Accelerates innovation – From weeks to minutes, measurable ROI. | Use a three‑column grid with equal width, thin vertical dividers (1 pt). Each benefit headline in bold, body copy in regular weight; icons above each headline (minimal line‑art). |</a:t>
            </a:r>
          </a:p>
          <a:p>
            <a:pPr>
              <a:spcAft>
                <a:spcPts val="800"/>
              </a:spcAft>
              <a:defRPr sz="1800">
                <a:solidFill>
                  <a:srgbClr val="2D2D2D"/>
                </a:solidFill>
              </a:defRPr>
            </a:pPr>
            <a:r>
              <a:t>•  | Human‑Centric Transparency | “Real‑time visual monitoring &amp; explainable AI insights keep you in control.” | Single‑line, centered, set in a lighter gray to act as a visual bridge between benefits and CTA. |</a:t>
            </a:r>
          </a:p>
          <a:p>
            <a:pPr>
              <a:spcAft>
                <a:spcPts val="800"/>
              </a:spcAft>
              <a:defRPr sz="1800">
                <a:solidFill>
                  <a:srgbClr val="2D2D2D"/>
                </a:solidFill>
              </a:defRPr>
            </a:pPr>
            <a:r>
              <a:t>•  | Call‑to‑Action | “Experience the future of AI. Schedule a live demo.” | Large button‑style graphic (filled with Apple‑gray, white text), centered, with a subtle drop‑shadow. |</a:t>
            </a:r>
          </a:p>
          <a:p>
            <a:pPr>
              <a:spcAft>
                <a:spcPts val="800"/>
              </a:spcAft>
              <a:defRPr sz="1800">
                <a:solidFill>
                  <a:srgbClr val="2D2D2D"/>
                </a:solidFill>
              </a:defRPr>
            </a:pPr>
            <a:r>
              <a:t>•  | Contact / Footer | “Visit [www.aiden‑iwo.com] or email demo@aiden‑iwo.com.” | Small, right‑aligned text, same gray as footer accent on Page 1. |</a:t>
            </a:r>
          </a:p>
          <a:p>
            <a:pPr>
              <a:spcAft>
                <a:spcPts val="800"/>
              </a:spcAft>
              <a:defRPr sz="1800">
                <a:solidFill>
                  <a:srgbClr val="2D2D2D"/>
                </a:solidFill>
              </a:defRPr>
            </a:pPr>
            <a:r>
              <a:t>•  Apple principle: Each page tells a single story; text is limited to essential statements, whitespace dominates, and visual hierarchy is driven by size and placement rather than dense copy.</a:t>
            </a:r>
          </a:p>
          <a:p>
            <a:pPr>
              <a:spcAft>
                <a:spcPts val="800"/>
              </a:spcAft>
              <a:defRPr sz="1800">
                <a:solidFill>
                  <a:srgbClr val="2D2D2D"/>
                </a:solidFill>
              </a:defRPr>
            </a:pPr>
            <a:r>
              <a:t>•  ---</a:t>
            </a:r>
          </a:p>
          <a:p>
            <a:pPr>
              <a:spcAft>
                <a:spcPts val="800"/>
              </a:spcAft>
              <a:defRPr sz="1800">
                <a:solidFill>
                  <a:srgbClr val="2D2D2D"/>
                </a:solidFill>
              </a:defRPr>
            </a:pPr>
            <a:r>
              <a:t>•  Overall Layout Guidance</a:t>
            </a:r>
          </a:p>
          <a:p>
            <a:pPr>
              <a:spcAft>
                <a:spcPts val="800"/>
              </a:spcAft>
              <a:defRPr sz="1800">
                <a:solidFill>
                  <a:srgbClr val="2D2D2D"/>
                </a:solidFill>
              </a:defRPr>
            </a:pPr>
            <a:r>
              <a:t>•  Grid: 12‑column baseline grid, 24 pt margins on all sides.</a:t>
            </a:r>
          </a:p>
          <a:p>
            <a:pPr>
              <a:spcAft>
                <a:spcPts val="800"/>
              </a:spcAft>
              <a:defRPr sz="1800">
                <a:solidFill>
                  <a:srgbClr val="2D2D2D"/>
                </a:solidFill>
              </a:defRPr>
            </a:pPr>
            <a:r>
              <a:t>•  Typography: Headline 44 pt (Poppins/Arial), sub‑headline 28 pt, body 16 pt, benefit titles 20 pt.</a:t>
            </a:r>
          </a:p>
          <a:p>
            <a:pPr>
              <a:spcAft>
                <a:spcPts val="800"/>
              </a:spcAft>
              <a:defRPr sz="1800">
                <a:solidFill>
                  <a:srgbClr val="2D2D2D"/>
                </a:solidFill>
              </a:defRPr>
            </a:pPr>
            <a:r>
              <a:t>•  Color Palette: Anthropic dark text #141413, light background #faf9f5, accent gray #b0aea5 for dividers and subtle icons.</a:t>
            </a:r>
          </a:p>
          <a:p>
            <a:pPr>
              <a:spcAft>
                <a:spcPts val="800"/>
              </a:spcAft>
              <a:defRPr sz="1800">
                <a:solidFill>
                  <a:srgbClr val="2D2D2D"/>
                </a:solidFill>
              </a:defRPr>
            </a:pPr>
            <a:r>
              <a:t>•  Imagery: Use only high‑resolution, monochrome‑compatible visuals; no decorative gradients or drop‑shadows beyond the thin line‑art accents.</a:t>
            </a:r>
          </a:p>
          <a:p>
            <a:pPr>
              <a:spcAft>
                <a:spcPts val="800"/>
              </a:spcAft>
              <a:defRPr sz="1800">
                <a:solidFill>
                  <a:srgbClr val="2D2D2D"/>
                </a:solidFill>
              </a:defRPr>
            </a:pPr>
            <a:r>
              <a:t>•  Whitespace: Minimum 48 pt vertical breathing room between sections; keep each section visually isolated.</a:t>
            </a:r>
          </a:p>
          <a:p>
            <a:pPr>
              <a:spcAft>
                <a:spcPts val="800"/>
              </a:spcAft>
              <a:defRPr sz="1800">
                <a:solidFill>
                  <a:srgbClr val="2D2D2D"/>
                </a:solidFill>
              </a:defRPr>
            </a:pPr>
            <a:r>
              <a:t>•  This outline provides a clear, Apple‑inspired structure that can be handed off directly to the design team for high‑impact, minimalist execution.</a:t>
            </a:r>
          </a:p>
          <a:p>
            <a:pPr>
              <a:spcAft>
                <a:spcPts val="800"/>
              </a:spcAft>
              <a:defRPr sz="1800">
                <a:solidFill>
                  <a:srgbClr val="2D2D2D"/>
                </a:solidFill>
              </a:defRPr>
            </a:pPr>
            <a:r>
              <a:t>•  Subject: Review of Draft 2‑Page PDF Outline – Aiden IWO</a:t>
            </a:r>
          </a:p>
          <a:p>
            <a:pPr>
              <a:spcAft>
                <a:spcPts val="800"/>
              </a:spcAft>
              <a:defRPr sz="1800">
                <a:solidFill>
                  <a:srgbClr val="2D2D2D"/>
                </a:solidFill>
              </a:defRPr>
            </a:pPr>
            <a:r>
              <a:t>•  Hi [Workflow PM Name],</a:t>
            </a:r>
          </a:p>
          <a:p>
            <a:pPr>
              <a:spcAft>
                <a:spcPts val="800"/>
              </a:spcAft>
              <a:defRPr sz="1800">
                <a:solidFill>
                  <a:srgbClr val="2D2D2D"/>
                </a:solidFill>
              </a:defRPr>
            </a:pPr>
            <a:r>
              <a:t>•  I’ve put together a draft outline for the two‑page Apple‑style PDF that will introduce Aiden IWO. The goal is to achieve the Steve‑Jobs‑level simplicity and visual impact we discussed. Below is the full outline (Page 1 and Page 2).</a:t>
            </a:r>
          </a:p>
          <a:p>
            <a:pPr>
              <a:spcAft>
                <a:spcPts val="800"/>
              </a:spcAft>
              <a:defRPr sz="1800">
                <a:solidFill>
                  <a:srgbClr val="2D2D2D"/>
                </a:solidFill>
              </a:defRPr>
            </a:pPr>
            <a:r>
              <a:t>•  ---</a:t>
            </a:r>
          </a:p>
          <a:p>
            <a:pPr>
              <a:spcAft>
                <a:spcPts val="800"/>
              </a:spcAft>
              <a:defRPr sz="1800">
                <a:solidFill>
                  <a:srgbClr val="2D2D2D"/>
                </a:solidFill>
              </a:defRPr>
            </a:pPr>
            <a:r>
              <a:t>•  ### Page 1 – Cover / Hero</a:t>
            </a:r>
          </a:p>
          <a:p>
            <a:pPr>
              <a:spcAft>
                <a:spcPts val="800"/>
              </a:spcAft>
              <a:defRPr sz="1800">
                <a:solidFill>
                  <a:srgbClr val="2D2D2D"/>
                </a:solidFill>
              </a:defRPr>
            </a:pPr>
            <a:r>
              <a:t>•  | Section | Content (minimal copy) | Visual / Layout Notes |</a:t>
            </a:r>
          </a:p>
          <a:p>
            <a:pPr>
              <a:spcAft>
                <a:spcPts val="800"/>
              </a:spcAft>
              <a:defRPr sz="1800">
                <a:solidFill>
                  <a:srgbClr val="2D2D2D"/>
                </a:solidFill>
              </a:defRPr>
            </a:pPr>
            <a:r>
              <a:t>•  |---------|------------------------|----------------------|</a:t>
            </a:r>
          </a:p>
          <a:p>
            <a:pPr>
              <a:spcAft>
                <a:spcPts val="800"/>
              </a:spcAft>
              <a:defRPr sz="1800">
                <a:solidFill>
                  <a:srgbClr val="2D2D2D"/>
                </a:solidFill>
              </a:defRPr>
            </a:pPr>
            <a:r>
              <a:t>•  | Headline | “AI, Simplified.” | Large, bold type (Poppins / Arial), centered, ample white‑space. |</a:t>
            </a:r>
          </a:p>
          <a:p>
            <a:pPr>
              <a:spcAft>
                <a:spcPts val="800"/>
              </a:spcAft>
              <a:defRPr sz="1800">
                <a:solidFill>
                  <a:srgbClr val="2D2D2D"/>
                </a:solidFill>
              </a:defRPr>
            </a:pPr>
            <a:r>
              <a:t>•  | Sub‑headline / Positioning | “Aiden IWO is the iPhone of AI orchestration – powerful, elegant, and unbelievably simple.” | Smaller but still prominent (Lora / Georgia), placed just below the headline. |</a:t>
            </a:r>
          </a:p>
          <a:p>
            <a:pPr>
              <a:spcAft>
                <a:spcPts val="800"/>
              </a:spcAft>
              <a:defRPr sz="1800">
                <a:solidFill>
                  <a:srgbClr val="2D2D2D"/>
                </a:solidFill>
              </a:defRPr>
            </a:pPr>
            <a:r>
              <a:t>•  | Tagline (optional) | “One‑click AI orchestration.” | Set in a muted accent color (Apple‑gray) beneath the sub‑headline. |</a:t>
            </a:r>
          </a:p>
          <a:p>
            <a:pPr>
              <a:spcAft>
                <a:spcPts val="800"/>
              </a:spcAft>
              <a:defRPr sz="1800">
                <a:solidFill>
                  <a:srgbClr val="2D2D2D"/>
                </a:solidFill>
              </a:defRPr>
            </a:pPr>
            <a:r>
              <a:t>•  | Hero Visual | Full‑bleed, high‑resolution image of the Aiden IWO interface (or a sleek device‑like mock‑up) with a subtle drop‑shadow. | No borders; let the image dominate the page. |</a:t>
            </a:r>
          </a:p>
          <a:p>
            <a:pPr>
              <a:spcAft>
                <a:spcPts val="800"/>
              </a:spcAft>
              <a:defRPr sz="1800">
                <a:solidFill>
                  <a:srgbClr val="2D2D2D"/>
                </a:solidFill>
              </a:defRPr>
            </a:pPr>
            <a:r>
              <a:t>•  | Logo | Anthropic logo (top‑left) and Aiden IWO product logo (top‑right). | Small, monochrome, aligned with the page margins. |</a:t>
            </a:r>
          </a:p>
          <a:p>
            <a:pPr>
              <a:spcAft>
                <a:spcPts val="800"/>
              </a:spcAft>
              <a:defRPr sz="1800">
                <a:solidFill>
                  <a:srgbClr val="2D2D2D"/>
                </a:solidFill>
              </a:defRPr>
            </a:pPr>
            <a:r>
              <a:t>•  | Footer Accent | Thin line (≈2 pt) in Apple‑gray across the bottom. | Reinforces the clean grid. |</a:t>
            </a:r>
          </a:p>
          <a:p>
            <a:pPr>
              <a:spcAft>
                <a:spcPts val="800"/>
              </a:spcAft>
              <a:defRPr sz="1800">
                <a:solidFill>
                  <a:srgbClr val="2D2D2D"/>
                </a:solidFill>
              </a:defRPr>
            </a:pPr>
            <a:r>
              <a:t>•  Apple principle: One visual focal point, headline that can be read at a glance, and no more than three lines of copy.</a:t>
            </a:r>
          </a:p>
          <a:p>
            <a:pPr>
              <a:spcAft>
                <a:spcPts val="800"/>
              </a:spcAft>
              <a:defRPr sz="1800">
                <a:solidFill>
                  <a:srgbClr val="2D2D2D"/>
                </a:solidFill>
              </a:defRPr>
            </a:pPr>
            <a:r>
              <a:t>•  ---</a:t>
            </a:r>
          </a:p>
          <a:p>
            <a:pPr>
              <a:spcAft>
                <a:spcPts val="800"/>
              </a:spcAft>
              <a:defRPr sz="1800">
                <a:solidFill>
                  <a:srgbClr val="2D2D2D"/>
                </a:solidFill>
              </a:defRPr>
            </a:pPr>
            <a:r>
              <a:t>•  ### Page 2 – Story &amp; Call‑to‑Action</a:t>
            </a:r>
          </a:p>
          <a:p>
            <a:pPr>
              <a:spcAft>
                <a:spcPts val="800"/>
              </a:spcAft>
              <a:defRPr sz="1800">
                <a:solidFill>
                  <a:srgbClr val="2D2D2D"/>
                </a:solidFill>
              </a:defRPr>
            </a:pPr>
            <a:r>
              <a:t>•  | Section | Content (concise bullet) | Visual / Layout Notes |</a:t>
            </a:r>
          </a:p>
          <a:p>
            <a:pPr>
              <a:spcAft>
                <a:spcPts val="800"/>
              </a:spcAft>
              <a:defRPr sz="1800">
                <a:solidFill>
                  <a:srgbClr val="2D2D2D"/>
                </a:solidFill>
              </a:defRPr>
            </a:pPr>
            <a:r>
              <a:t>•  |---------|--------------------------|----------------------|</a:t>
            </a:r>
          </a:p>
          <a:p>
            <a:pPr>
              <a:spcAft>
                <a:spcPts val="800"/>
              </a:spcAft>
              <a:defRPr sz="1800">
                <a:solidFill>
                  <a:srgbClr val="2D2D2D"/>
                </a:solidFill>
              </a:defRPr>
            </a:pPr>
            <a:r>
              <a:t>•  | Problem Statement | “Complex AI pipelines stall innovation. Teams spend weeks writing code, managing infra, and wrestling with security.” | Left‑aligned, large‑size body text, generous line‑height, paired with a subtle icon (e.g., tangled wires). |</a:t>
            </a:r>
          </a:p>
          <a:p>
            <a:pPr>
              <a:spcAft>
                <a:spcPts val="800"/>
              </a:spcAft>
              <a:defRPr sz="1800">
                <a:solidFill>
                  <a:srgbClr val="2D2D2D"/>
                </a:solidFill>
              </a:defRPr>
            </a:pPr>
            <a:r>
              <a:t>•  | Solution Overview | “Aiden IWO turns that chaos into a single click.” | Centered, bold, placed directly under the problem statement; accompanied by a simple illustration of a single button turning on a workflow. |</a:t>
            </a:r>
          </a:p>
          <a:p>
            <a:pPr>
              <a:spcAft>
                <a:spcPts val="800"/>
              </a:spcAft>
              <a:defRPr sz="1800">
                <a:solidFill>
                  <a:srgbClr val="2D2D2D"/>
                </a:solidFill>
              </a:defRPr>
            </a:pPr>
            <a:r>
              <a:t>•  | Key Benefits (3‑column layout, each column a single benefit) | 1. Zero‑code, zero‑friction – Drag‑and‑drop, auto‑generated connectors.&lt;br&gt;2. Enterprise‑grade security – End‑to‑end encryption, role‑based access.&lt;br&gt;3. Accelerates innovation – From weeks to minutes, measurable ROI. | Use a three‑column grid with equal width, thin vertical dividers (1 pt). Each benefit headline in bold, body copy in regular weight; icons above each headline (minimal line‑art). |</a:t>
            </a:r>
          </a:p>
          <a:p>
            <a:pPr>
              <a:spcAft>
                <a:spcPts val="800"/>
              </a:spcAft>
              <a:defRPr sz="1800">
                <a:solidFill>
                  <a:srgbClr val="2D2D2D"/>
                </a:solidFill>
              </a:defRPr>
            </a:pPr>
            <a:r>
              <a:t>•  | Human‑Centric Transparency | “Real‑time visual monitoring &amp; explainable AI insights keep you in control.” | Single‑line, centered, set in a lighter gray to act as a visual bridge between benefits and CTA. |</a:t>
            </a:r>
          </a:p>
          <a:p>
            <a:pPr>
              <a:spcAft>
                <a:spcPts val="800"/>
              </a:spcAft>
              <a:defRPr sz="1800">
                <a:solidFill>
                  <a:srgbClr val="2D2D2D"/>
                </a:solidFill>
              </a:defRPr>
            </a:pPr>
            <a:r>
              <a:t>•  | Call‑to‑Action | “Experience the future of AI. Schedule a live demo.” | Large button‑style graphic (filled with Apple‑gray, white text), centered, with a subtle drop‑shadow. |</a:t>
            </a:r>
          </a:p>
          <a:p>
            <a:pPr>
              <a:spcAft>
                <a:spcPts val="800"/>
              </a:spcAft>
              <a:defRPr sz="1800">
                <a:solidFill>
                  <a:srgbClr val="2D2D2D"/>
                </a:solidFill>
              </a:defRPr>
            </a:pPr>
            <a:r>
              <a:t>•  | Contact / Footer | “Visit [www.aiden‑iwo.com] or email demo@aiden‑iwo.com.” | Small, right‑aligned text, same gray as footer accent on Page 1. |</a:t>
            </a:r>
          </a:p>
          <a:p>
            <a:pPr>
              <a:spcAft>
                <a:spcPts val="800"/>
              </a:spcAft>
              <a:defRPr sz="1800">
                <a:solidFill>
                  <a:srgbClr val="2D2D2D"/>
                </a:solidFill>
              </a:defRPr>
            </a:pPr>
            <a:r>
              <a:t>•  Apple principle: Each page tells a single story; text is limited to essential statements, whitespace dominates, and visual hierarchy is driven by size and placement rather than dense copy.</a:t>
            </a:r>
          </a:p>
          <a:p>
            <a:pPr>
              <a:spcAft>
                <a:spcPts val="800"/>
              </a:spcAft>
              <a:defRPr sz="1800">
                <a:solidFill>
                  <a:srgbClr val="2D2D2D"/>
                </a:solidFill>
              </a:defRPr>
            </a:pPr>
            <a:r>
              <a:t>•  ---</a:t>
            </a:r>
          </a:p>
          <a:p>
            <a:pPr>
              <a:spcAft>
                <a:spcPts val="800"/>
              </a:spcAft>
              <a:defRPr sz="1800">
                <a:solidFill>
                  <a:srgbClr val="2D2D2D"/>
                </a:solidFill>
              </a:defRPr>
            </a:pPr>
            <a:r>
              <a:t>•  ### Overall Layout Guidance</a:t>
            </a:r>
          </a:p>
          <a:p>
            <a:pPr>
              <a:spcAft>
                <a:spcPts val="800"/>
              </a:spcAft>
              <a:defRPr sz="1800">
                <a:solidFill>
                  <a:srgbClr val="2D2D2D"/>
                </a:solidFill>
              </a:defRPr>
            </a:pPr>
            <a:r>
              <a:t>•  Grid: 12‑column baseline grid, 24 pt margins on all sides.</a:t>
            </a:r>
          </a:p>
          <a:p>
            <a:pPr>
              <a:spcAft>
                <a:spcPts val="800"/>
              </a:spcAft>
              <a:defRPr sz="1800">
                <a:solidFill>
                  <a:srgbClr val="2D2D2D"/>
                </a:solidFill>
              </a:defRPr>
            </a:pPr>
            <a:r>
              <a:t>•  Typography: Headline 44 pt (Poppins/Arial), sub‑headline 28 pt, body 16 pt, benefit titles 20 pt.</a:t>
            </a:r>
          </a:p>
          <a:p>
            <a:pPr>
              <a:spcAft>
                <a:spcPts val="800"/>
              </a:spcAft>
              <a:defRPr sz="1800">
                <a:solidFill>
                  <a:srgbClr val="2D2D2D"/>
                </a:solidFill>
              </a:defRPr>
            </a:pPr>
            <a:r>
              <a:t>•  Color Palette: Anthropic dark text #141413, light background #faf9f5, accent gray #b0aea5 for dividers and subtle icons.</a:t>
            </a:r>
          </a:p>
          <a:p>
            <a:pPr>
              <a:spcAft>
                <a:spcPts val="800"/>
              </a:spcAft>
              <a:defRPr sz="1800">
                <a:solidFill>
                  <a:srgbClr val="2D2D2D"/>
                </a:solidFill>
              </a:defRPr>
            </a:pPr>
            <a:r>
              <a:t>•  Imagery: Use only high‑resolution, monochrome‑compatible visuals; no decorative gradients or heavy drop‑shadows beyond thin line‑art accents.</a:t>
            </a:r>
          </a:p>
          <a:p>
            <a:pPr>
              <a:spcAft>
                <a:spcPts val="800"/>
              </a:spcAft>
              <a:defRPr sz="1800">
                <a:solidFill>
                  <a:srgbClr val="2D2D2D"/>
                </a:solidFill>
              </a:defRPr>
            </a:pPr>
            <a:r>
              <a:t>•  Whitespace: Minimum 48 pt vertical breathing room between sections; keep each section visually isolated.</a:t>
            </a:r>
          </a:p>
          <a:p>
            <a:pPr>
              <a:spcAft>
                <a:spcPts val="800"/>
              </a:spcAft>
              <a:defRPr sz="1800">
                <a:solidFill>
                  <a:srgbClr val="2D2D2D"/>
                </a:solidFill>
              </a:defRPr>
            </a:pPr>
            <a:r>
              <a:t>•  ---</a:t>
            </a:r>
          </a:p>
          <a:p>
            <a:pPr>
              <a:spcAft>
                <a:spcPts val="800"/>
              </a:spcAft>
              <a:defRPr sz="1800">
                <a:solidFill>
                  <a:srgbClr val="2D2D2D"/>
                </a:solidFill>
              </a:defRPr>
            </a:pPr>
            <a:r>
              <a:t>•  Feedback Request</a:t>
            </a:r>
          </a:p>
          <a:p>
            <a:pPr>
              <a:spcAft>
                <a:spcPts val="800"/>
              </a:spcAft>
              <a:defRPr sz="1800">
                <a:solidFill>
                  <a:srgbClr val="2D2D2D"/>
                </a:solidFill>
              </a:defRPr>
            </a:pPr>
            <a:r>
              <a:t>•  Could you please review the outline and let me know:</a:t>
            </a:r>
          </a:p>
          <a:p>
            <a:pPr>
              <a:spcAft>
                <a:spcPts val="800"/>
              </a:spcAft>
              <a:defRPr sz="1800">
                <a:solidFill>
                  <a:srgbClr val="2D2D2D"/>
                </a:solidFill>
              </a:defRPr>
            </a:pPr>
            <a:r>
              <a:t>•  1. Does the overall flow feel natural and compelling?</a:t>
            </a:r>
          </a:p>
          <a:p>
            <a:pPr>
              <a:spcAft>
                <a:spcPts val="800"/>
              </a:spcAft>
              <a:defRPr sz="1800">
                <a:solidFill>
                  <a:srgbClr val="2D2D2D"/>
                </a:solidFill>
              </a:defRPr>
            </a:pPr>
            <a:r>
              <a:t>•  2. Is the tone aligned with the Steve‑Jobs‑level simplicity we’re aiming for?</a:t>
            </a:r>
          </a:p>
          <a:p>
            <a:pPr>
              <a:spcAft>
                <a:spcPts val="800"/>
              </a:spcAft>
              <a:defRPr sz="1800">
                <a:solidFill>
                  <a:srgbClr val="2D2D2D"/>
                </a:solidFill>
              </a:defRPr>
            </a:pPr>
            <a:r>
              <a:t>•  3. Are the visual hierarchy cues (size, placement, whitespace) appropriate?</a:t>
            </a:r>
          </a:p>
          <a:p>
            <a:pPr>
              <a:spcAft>
                <a:spcPts val="800"/>
              </a:spcAft>
              <a:defRPr sz="1800">
                <a:solidFill>
                  <a:srgbClr val="2D2D2D"/>
                </a:solidFill>
              </a:defRPr>
            </a:pPr>
            <a:r>
              <a:t>•  4. Any copy that feels too wordy or could be tightened?</a:t>
            </a:r>
          </a:p>
          <a:p>
            <a:pPr>
              <a:spcAft>
                <a:spcPts val="800"/>
              </a:spcAft>
              <a:defRPr sz="1800">
                <a:solidFill>
                  <a:srgbClr val="2D2D2D"/>
                </a:solidFill>
              </a:defRPr>
            </a:pPr>
            <a:r>
              <a:t>•  5. Any adjustments to the layout or sections you’d recommend?</a:t>
            </a:r>
          </a:p>
          <a:p>
            <a:pPr>
              <a:spcAft>
                <a:spcPts val="800"/>
              </a:spcAft>
              <a:defRPr sz="1800">
                <a:solidFill>
                  <a:srgbClr val="2D2D2D"/>
                </a:solidFill>
              </a:defRPr>
            </a:pPr>
            <a:r>
              <a:t>•  Your quick thoughts will help us move confidently into full‑page design. If you’d like a brief sync to discuss, I’m happy to schedule a 15‑minute call.</a:t>
            </a:r>
          </a:p>
          <a:p>
            <a:pPr>
              <a:spcAft>
                <a:spcPts val="800"/>
              </a:spcAft>
              <a:defRPr sz="1800">
                <a:solidFill>
                  <a:srgbClr val="2D2D2D"/>
                </a:solidFill>
              </a:defRPr>
            </a:pPr>
            <a:r>
              <a:t>•  Thank you!</a:t>
            </a:r>
          </a:p>
          <a:p>
            <a:pPr>
              <a:spcAft>
                <a:spcPts val="800"/>
              </a:spcAft>
              <a:defRPr sz="1800">
                <a:solidFill>
                  <a:srgbClr val="2D2D2D"/>
                </a:solidFill>
              </a:defRPr>
            </a:pPr>
            <a:r>
              <a:t>•  Best regards,</a:t>
            </a:r>
          </a:p>
          <a:p>
            <a:pPr>
              <a:spcAft>
                <a:spcPts val="800"/>
              </a:spcAft>
              <a:defRPr sz="1800">
                <a:solidFill>
                  <a:srgbClr val="2D2D2D"/>
                </a:solidFill>
              </a:defRPr>
            </a:pPr>
            <a:r>
              <a:t>•  Project Manager Alpha</a:t>
            </a:r>
          </a:p>
          <a:p>
            <a:pPr>
              <a:spcAft>
                <a:spcPts val="800"/>
              </a:spcAft>
              <a:defRPr sz="1800">
                <a:solidFill>
                  <a:srgbClr val="2D2D2D"/>
                </a:solidFill>
              </a:defRPr>
            </a:pPr>
            <a:r>
              <a:t>•  AIDEN IWO Team</a:t>
            </a:r>
          </a:p>
          <a:p>
            <a:pPr>
              <a:spcAft>
                <a:spcPts val="800"/>
              </a:spcAft>
              <a:defRPr sz="1800">
                <a:solidFill>
                  <a:srgbClr val="2D2D2D"/>
                </a:solidFill>
              </a:defRPr>
            </a:pPr>
            <a:r>
              <a:t>•  [alpha@aiden-iwo.com]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C53"/>
        </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4400" b="1">
                <a:solidFill>
                  <a:srgbClr val="FFFFFF"/>
                </a:solidFil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