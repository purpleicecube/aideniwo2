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011680"/>
            <a:ext cx="10362895" cy="1828800"/>
          </a:xfrm>
          <a:prstGeom prst="rect">
            <a:avLst/>
          </a:prstGeom>
          <a:noFill/>
        </p:spPr>
        <p:txBody>
          <a:bodyPr wrap="square">
            <a:spAutoFit/>
          </a:bodyPr>
          <a:lstStyle/>
          <a:p>
            <a:pPr algn="ctr">
              <a:defRPr sz="4400" b="1">
                <a:solidFill>
                  <a:srgbClr val="FFFFFF"/>
                </a:solidFill>
              </a:defRPr>
            </a:pPr>
            <a:r>
              <a:t>Draft Content</a:t>
            </a:r>
          </a:p>
        </p:txBody>
      </p:sp>
      <p:sp>
        <p:nvSpPr>
          <p:cNvPr id="3" name="Rectangle 2"/>
          <p:cNvSpPr/>
          <p:nvPr/>
        </p:nvSpPr>
        <p:spPr>
          <a:xfrm>
            <a:off x="4114800" y="4023360"/>
            <a:ext cx="3962095" cy="508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To ensure the upcoming 2‑page Apple‑style PDF for Aiden IWO perfectly captures your vision, could you please provide the following details?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1. Mission Statement: A concise, high‑impact sentence or short paragraph that defines the core purpose of Aiden IWO.</a:t>
            </a:r>
          </a:p>
          <a:p>
            <a:pPr>
              <a:spcAft>
                <a:spcPts val="800"/>
              </a:spcAft>
              <a:defRPr sz="1800">
                <a:solidFill>
                  <a:srgbClr val="2D2D2D"/>
                </a:solidFill>
              </a:defRPr>
            </a:pPr>
            <a:r>
              <a:t>•  2. Key Features: List the top 4‑6 features you want highlighted (e.g., AI‑driven workflow automation, real‑time collaboration, secure data handling, etc.). Briefly describe each in one sentence.</a:t>
            </a:r>
          </a:p>
          <a:p>
            <a:pPr>
              <a:spcAft>
                <a:spcPts val="800"/>
              </a:spcAft>
              <a:defRPr sz="1800">
                <a:solidFill>
                  <a:srgbClr val="2D2D2D"/>
                </a:solidFill>
              </a:defRPr>
            </a:pPr>
            <a:r>
              <a:t>•  3. Value Proposition: What primary benefits does Aiden IWO deliver to its users? Think in terms of outcomes (e.g., "reduces project turnaround time by 30%", "eliminates manual coordination overhead").</a:t>
            </a:r>
          </a:p>
          <a:p>
            <a:pPr>
              <a:spcAft>
                <a:spcPts val="800"/>
              </a:spcAft>
              <a:defRPr sz="1800">
                <a:solidFill>
                  <a:srgbClr val="2D2D2D"/>
                </a:solidFill>
              </a:defRPr>
            </a:pPr>
            <a:r>
              <a:t>•  4. Branding Guidelines:</a:t>
            </a:r>
          </a:p>
          <a:p>
            <a:pPr>
              <a:spcAft>
                <a:spcPts val="800"/>
              </a:spcAft>
              <a:defRPr sz="1800">
                <a:solidFill>
                  <a:srgbClr val="2D2D2D"/>
                </a:solidFill>
              </a:defRPr>
            </a:pPr>
            <a:r>
              <a:t>•  Preferred color palette (hex codes or general description)</a:t>
            </a:r>
          </a:p>
          <a:p>
            <a:pPr>
              <a:spcAft>
                <a:spcPts val="800"/>
              </a:spcAft>
              <a:defRPr sz="1800">
                <a:solidFill>
                  <a:srgbClr val="2D2D2D"/>
                </a:solidFill>
              </a:defRPr>
            </a:pPr>
            <a:r>
              <a:t>•  Logo usage (any restrictions, placement preferences)</a:t>
            </a:r>
          </a:p>
          <a:p>
            <a:pPr>
              <a:spcAft>
                <a:spcPts val="800"/>
              </a:spcAft>
              <a:defRPr sz="1800">
                <a:solidFill>
                  <a:srgbClr val="2D2D2D"/>
                </a:solidFill>
              </a:defRPr>
            </a:pPr>
            <a:r>
              <a:t>•  Typography preferences (specific fonts or style – e.g., San‑Francisco, Helvetica Neue)</a:t>
            </a:r>
          </a:p>
          <a:p>
            <a:pPr>
              <a:spcAft>
                <a:spcPts val="800"/>
              </a:spcAft>
              <a:defRPr sz="1800">
                <a:solidFill>
                  <a:srgbClr val="2D2D2D"/>
                </a:solidFill>
              </a:defRPr>
            </a:pPr>
            <a:r>
              <a:t>•  Any existing brand assets you’d like incorporated.</a:t>
            </a:r>
          </a:p>
          <a:p>
            <a:pPr>
              <a:spcAft>
                <a:spcPts val="800"/>
              </a:spcAft>
              <a:defRPr sz="1800">
                <a:solidFill>
                  <a:srgbClr val="2D2D2D"/>
                </a:solidFill>
              </a:defRPr>
            </a:pPr>
            <a:r>
              <a:t>•  5. Visual Style Preferences:</a:t>
            </a:r>
          </a:p>
          <a:p>
            <a:pPr>
              <a:spcAft>
                <a:spcPts val="800"/>
              </a:spcAft>
              <a:defRPr sz="1800">
                <a:solidFill>
                  <a:srgbClr val="2D2D2D"/>
                </a:solidFill>
              </a:defRPr>
            </a:pPr>
            <a:r>
              <a:t>•  Desired aesthetic (e.g., Apple‑style minimalism, sleek tech‑forward, bold contrast)</a:t>
            </a:r>
          </a:p>
          <a:p>
            <a:pPr>
              <a:spcAft>
                <a:spcPts val="800"/>
              </a:spcAft>
              <a:defRPr sz="1800">
                <a:solidFill>
                  <a:srgbClr val="2D2D2D"/>
                </a:solidFill>
              </a:defRPr>
            </a:pPr>
            <a:r>
              <a:t>•  Any specific imagery or iconography themes (e.g., abstract data flows, clean line art)</a:t>
            </a:r>
          </a:p>
          <a:p>
            <a:pPr>
              <a:spcAft>
                <a:spcPts val="800"/>
              </a:spcAft>
              <a:defRPr sz="1800">
                <a:solidFill>
                  <a:srgbClr val="2D2D2D"/>
                </a:solidFill>
              </a:defRPr>
            </a:pPr>
            <a:r>
              <a:t>•  Preference for layout style (full‑bleed images, generous white space, grid‑based sections)</a:t>
            </a:r>
          </a:p>
          <a:p>
            <a:pPr>
              <a:spcAft>
                <a:spcPts val="800"/>
              </a:spcAft>
              <a:defRPr sz="1800">
                <a:solidFill>
                  <a:srgbClr val="2D2D2D"/>
                </a:solidFill>
              </a:defRPr>
            </a:pPr>
            <a:r>
              <a:t>•  Tone of visual elements (warm vs. cool, matte vs. glossy, etc.)</a:t>
            </a:r>
          </a:p>
          <a:p>
            <a:pPr>
              <a:spcAft>
                <a:spcPts val="800"/>
              </a:spcAft>
              <a:defRPr sz="1800">
                <a:solidFill>
                  <a:srgbClr val="2D2D2D"/>
                </a:solidFill>
              </a:defRPr>
            </a:pPr>
            <a:r>
              <a:t>•  Feel free to add any additional notes or constraints that will help shape the copy and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Empower your projects with AI‑driven precision.</a:t>
            </a:r>
          </a:p>
          <a:p>
            <a:pPr>
              <a:spcAft>
                <a:spcPts val="800"/>
              </a:spcAft>
              <a:defRPr sz="1800">
                <a:solidFill>
                  <a:srgbClr val="2D2D2D"/>
                </a:solidFill>
              </a:defRPr>
            </a:pPr>
            <a:r>
              <a:t>•  Aiden IWO redefines workflow automation: real‑time collaboration, secure data handling, and intelligent insights—all wrapped in a seamless, minimalist interface. Reduce turnaround time, eliminate manual coordination, and focus on what truly matters.</a:t>
            </a:r>
          </a:p>
          <a:p>
            <a:pPr>
              <a:spcAft>
                <a:spcPts val="800"/>
              </a:spcAft>
              <a:defRPr sz="1800">
                <a:solidFill>
                  <a:srgbClr val="2D2D2D"/>
                </a:solidFill>
              </a:defRPr>
            </a:pPr>
            <a:r>
              <a:t>•  Before I can craft the precise, high‑impact copy for Page 2 – Features &amp; Value, I need the core details that will shape the messaging. Could you please provide the following?</a:t>
            </a:r>
          </a:p>
          <a:p>
            <a:pPr>
              <a:spcAft>
                <a:spcPts val="800"/>
              </a:spcAft>
              <a:defRPr sz="1800">
                <a:solidFill>
                  <a:srgbClr val="2D2D2D"/>
                </a:solidFill>
              </a:defRPr>
            </a:pPr>
            <a:r>
              <a:t>•  1. Key Features – 4 to 6 headline features you want highlighted (e.g., “AI‑driven workflow automation”). A one‑sentence description for each.</a:t>
            </a:r>
          </a:p>
          <a:p>
            <a:pPr>
              <a:spcAft>
                <a:spcPts val="800"/>
              </a:spcAft>
              <a:defRPr sz="1800">
                <a:solidFill>
                  <a:srgbClr val="2D2D2D"/>
                </a:solidFill>
              </a:defRPr>
            </a:pPr>
            <a:r>
              <a:t>•  2. Value Proposition – The primary outcomes Aiden IWO delivers (e.g., “cuts project turnaround time by 30 %”, “eliminates manual coordination overhead”).</a:t>
            </a:r>
          </a:p>
          <a:p>
            <a:pPr>
              <a:spcAft>
                <a:spcPts val="800"/>
              </a:spcAft>
              <a:defRPr sz="1800">
                <a:solidFill>
                  <a:srgbClr val="2D2D2D"/>
                </a:solidFill>
              </a:defRPr>
            </a:pPr>
            <a:r>
              <a:t>•  3. Brand Voice Nuances – Any specific tone tweaks you prefer (e.g., “confident yet warm”, “clinical precision”).</a:t>
            </a:r>
          </a:p>
          <a:p>
            <a:pPr>
              <a:spcAft>
                <a:spcPts val="800"/>
              </a:spcAft>
              <a:defRPr sz="1800">
                <a:solidFill>
                  <a:srgbClr val="2D2D2D"/>
                </a:solidFill>
              </a:defRPr>
            </a:pPr>
            <a:r>
              <a:t>•  If you have any branding constraints (color palette, typography, logo placement) that should influence the copy’s phrasing, feel free to include those as well.</a:t>
            </a:r>
          </a:p>
          <a:p>
            <a:pPr>
              <a:spcAft>
                <a:spcPts val="800"/>
              </a:spcAft>
              <a:defRPr sz="1800">
                <a:solidFill>
                  <a:srgbClr val="2D2D2D"/>
                </a:solidFill>
              </a:defRPr>
            </a:pPr>
            <a:r>
              <a:t>•  Once I have this information, I’ll deliver the polished Apple‑style copy ready for the PDF.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1 – Mission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a:t>
            </a:r>
          </a:p>
          <a:p>
            <a:pPr>
              <a:spcAft>
                <a:spcPts val="800"/>
              </a:spcAft>
              <a:defRPr sz="1800">
                <a:solidFill>
                  <a:srgbClr val="2D2D2D"/>
                </a:solidFill>
              </a:defRPr>
            </a:pPr>
            <a:r>
              <a:t>•  Empower your projects with AI‑driven precision.</a:t>
            </a:r>
          </a:p>
          <a:p>
            <a:pPr>
              <a:spcAft>
                <a:spcPts val="800"/>
              </a:spcAft>
              <a:defRPr sz="1800">
                <a:solidFill>
                  <a:srgbClr val="2D2D2D"/>
                </a:solidFill>
              </a:defRPr>
            </a:pPr>
            <a:r>
              <a:t>•  Aiden IWO reimagines workflow automation, delivering a seamless, minimalist experience that lets teams move faster, collaborate instantly, and focus on what truly matters.</a:t>
            </a:r>
          </a:p>
          <a:p>
            <a:pPr>
              <a:spcAft>
                <a:spcPts val="800"/>
              </a:spcAft>
              <a:defRPr sz="1800">
                <a:solidFill>
                  <a:srgbClr val="2D2D2D"/>
                </a:solidFill>
              </a:defRPr>
            </a:pP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2 – Features &amp; Value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AI‑driven workflow automation – intelligent suggestions that keep projects on track.</a:t>
            </a:r>
          </a:p>
          <a:p>
            <a:pPr>
              <a:spcAft>
                <a:spcPts val="800"/>
              </a:spcAft>
              <a:defRPr sz="1800">
                <a:solidFill>
                  <a:srgbClr val="2D2D2D"/>
                </a:solidFill>
              </a:defRPr>
            </a:pPr>
            <a:r>
              <a:t>•  Real‑time collaboration – every update visible to the whole team, instantly.</a:t>
            </a:r>
          </a:p>
          <a:p>
            <a:pPr>
              <a:spcAft>
                <a:spcPts val="800"/>
              </a:spcAft>
              <a:defRPr sz="1800">
                <a:solidFill>
                  <a:srgbClr val="2D2D2D"/>
                </a:solidFill>
              </a:defRPr>
            </a:pPr>
            <a:r>
              <a:t>•  Secure data handling – end‑to‑end encryption protects every file.</a:t>
            </a:r>
          </a:p>
          <a:p>
            <a:pPr>
              <a:spcAft>
                <a:spcPts val="800"/>
              </a:spcAft>
              <a:defRPr sz="1800">
                <a:solidFill>
                  <a:srgbClr val="2D2D2D"/>
                </a:solidFill>
              </a:defRPr>
            </a:pPr>
            <a:r>
              <a:t>•  Insightful analytics – actionable metrics that drive smarter decisions.</a:t>
            </a:r>
          </a:p>
          <a:p>
            <a:pPr>
              <a:spcAft>
                <a:spcPts val="800"/>
              </a:spcAft>
              <a:defRPr sz="1800">
                <a:solidFill>
                  <a:srgbClr val="2D2D2D"/>
                </a:solidFill>
              </a:defRPr>
            </a:pPr>
            <a:r>
              <a:t>•  Value: Reduce project turnaround by up to 30 %, eliminate manual coordination, and free your team to create, not manage.</a:t>
            </a:r>
          </a:p>
          <a:p>
            <a:pPr>
              <a:spcAft>
                <a:spcPts val="800"/>
              </a:spcAft>
              <a:defRPr sz="1800">
                <a:solidFill>
                  <a:srgbClr val="2D2D2D"/>
                </a:solidFill>
              </a:defRPr>
            </a:pPr>
            <a:r>
              <a:t>•  &lt;!DOCTYPE html&gt;</a:t>
            </a:r>
          </a:p>
          <a:p>
            <a:pPr>
              <a:spcAft>
                <a:spcPts val="800"/>
              </a:spcAft>
              <a:defRPr sz="1800">
                <a:solidFill>
                  <a:srgbClr val="2D2D2D"/>
                </a:solidFill>
              </a:defRPr>
            </a:pPr>
            <a:r>
              <a:t>•  &lt;html lang="en"&gt;</a:t>
            </a:r>
          </a:p>
          <a:p>
            <a:pPr>
              <a:spcAft>
                <a:spcPts val="800"/>
              </a:spcAft>
              <a:defRPr sz="1800">
                <a:solidFill>
                  <a:srgbClr val="2D2D2D"/>
                </a:solidFill>
              </a:defRPr>
            </a:pPr>
            <a:r>
              <a:t>•  &lt;head&gt;</a:t>
            </a:r>
          </a:p>
          <a:p>
            <a:pPr>
              <a:spcAft>
                <a:spcPts val="800"/>
              </a:spcAft>
              <a:defRPr sz="1800">
                <a:solidFill>
                  <a:srgbClr val="2D2D2D"/>
                </a:solidFill>
              </a:defRPr>
            </a:pPr>
            <a:r>
              <a:t>•  &lt;meta charset="UTF-8" /&gt;</a:t>
            </a:r>
          </a:p>
          <a:p>
            <a:pPr>
              <a:spcAft>
                <a:spcPts val="800"/>
              </a:spcAft>
              <a:defRPr sz="1800">
                <a:solidFill>
                  <a:srgbClr val="2D2D2D"/>
                </a:solidFill>
              </a:defRPr>
            </a:pPr>
            <a:r>
              <a:t>•  &lt;title&gt;Aiden IWO – Apple‑style Brochure Mockup&lt;/title&gt;</a:t>
            </a:r>
          </a:p>
          <a:p>
            <a:pPr>
              <a:spcAft>
                <a:spcPts val="800"/>
              </a:spcAft>
              <a:defRPr sz="1800">
                <a:solidFill>
                  <a:srgbClr val="2D2D2D"/>
                </a:solidFill>
              </a:defRPr>
            </a:pPr>
            <a:r>
              <a:t>•  &lt;style&gt;</a:t>
            </a:r>
          </a:p>
          <a:p>
            <a:pPr>
              <a:spcAft>
                <a:spcPts val="800"/>
              </a:spcAft>
              <a:defRPr sz="1800">
                <a:solidFill>
                  <a:srgbClr val="2D2D2D"/>
                </a:solidFill>
              </a:defRPr>
            </a:pPr>
            <a:r>
              <a:t>•  / Apple‑style typography and layout /</a:t>
            </a:r>
          </a:p>
          <a:p>
            <a:pPr>
              <a:spcAft>
                <a:spcPts val="800"/>
              </a:spcAft>
              <a:defRPr sz="1800">
                <a:solidFill>
                  <a:srgbClr val="2D2D2D"/>
                </a:solidFill>
              </a:defRPr>
            </a:pPr>
            <a:r>
              <a:t>•  html, body {</a:t>
            </a:r>
          </a:p>
          <a:p>
            <a:pPr>
              <a:spcAft>
                <a:spcPts val="800"/>
              </a:spcAft>
              <a:defRPr sz="1800">
                <a:solidFill>
                  <a:srgbClr val="2D2D2D"/>
                </a:solidFill>
              </a:defRPr>
            </a:pPr>
            <a:r>
              <a:t>•  margin: 0;</a:t>
            </a:r>
          </a:p>
          <a:p>
            <a:pPr>
              <a:spcAft>
                <a:spcPts val="800"/>
              </a:spcAft>
              <a:defRPr sz="1800">
                <a:solidFill>
                  <a:srgbClr val="2D2D2D"/>
                </a:solidFill>
              </a:defRPr>
            </a:pPr>
            <a:r>
              <a:t>•  padding: 0;</a:t>
            </a:r>
          </a:p>
          <a:p>
            <a:pPr>
              <a:spcAft>
                <a:spcPts val="800"/>
              </a:spcAft>
              <a:defRPr sz="1800">
                <a:solidFill>
                  <a:srgbClr val="2D2D2D"/>
                </a:solidFill>
              </a:defRPr>
            </a:pPr>
            <a:r>
              <a:t>•  font-family: -apple-system, BlinkMacSystemFont, "Helvetica Neue", Helvetica, Arial, sans-serif;</a:t>
            </a:r>
          </a:p>
          <a:p>
            <a:pPr>
              <a:spcAft>
                <a:spcPts val="800"/>
              </a:spcAft>
              <a:defRPr sz="1800">
                <a:solidFill>
                  <a:srgbClr val="2D2D2D"/>
                </a:solidFill>
              </a:defRPr>
            </a:pPr>
            <a:r>
              <a:t>•  color: #111;</a:t>
            </a:r>
          </a:p>
          <a:p>
            <a:pPr>
              <a:spcAft>
                <a:spcPts val="800"/>
              </a:spcAft>
              <a:defRPr sz="1800">
                <a:solidFill>
                  <a:srgbClr val="2D2D2D"/>
                </a:solidFill>
              </a:defRPr>
            </a:pPr>
            <a:r>
              <a:t>•  background: #fff;</a:t>
            </a:r>
          </a:p>
          <a:p>
            <a:pPr>
              <a:spcAft>
                <a:spcPts val="800"/>
              </a:spcAft>
              <a:defRPr sz="1800">
                <a:solidFill>
                  <a:srgbClr val="2D2D2D"/>
                </a:solidFill>
              </a:defRPr>
            </a:pPr>
            <a:r>
              <a:t>•  }</a:t>
            </a:r>
          </a:p>
          <a:p>
            <a:pPr>
              <a:spcAft>
                <a:spcPts val="800"/>
              </a:spcAft>
              <a:defRPr sz="1800">
                <a:solidFill>
                  <a:srgbClr val="2D2D2D"/>
                </a:solidFill>
              </a:defRPr>
            </a:pPr>
            <a:r>
              <a:t>•  .page {</a:t>
            </a:r>
          </a:p>
          <a:p>
            <a:pPr>
              <a:spcAft>
                <a:spcPts val="800"/>
              </a:spcAft>
              <a:defRPr sz="1800">
                <a:solidFill>
                  <a:srgbClr val="2D2D2D"/>
                </a:solidFill>
              </a:defRPr>
            </a:pPr>
            <a:r>
              <a:t>•  width: 100%;</a:t>
            </a:r>
          </a:p>
          <a:p>
            <a:pPr>
              <a:spcAft>
                <a:spcPts val="800"/>
              </a:spcAft>
              <a:defRPr sz="1800">
                <a:solidFill>
                  <a:srgbClr val="2D2D2D"/>
                </a:solidFill>
              </a:defRPr>
            </a:pPr>
            <a:r>
              <a:t>•  min-height: 100vh;</a:t>
            </a:r>
          </a:p>
          <a:p>
            <a:pPr>
              <a:spcAft>
                <a:spcPts val="800"/>
              </a:spcAft>
              <a:defRPr sz="1800">
                <a:solidFill>
                  <a:srgbClr val="2D2D2D"/>
                </a:solidFill>
              </a:defRPr>
            </a:pPr>
            <a:r>
              <a:t>•  display: flex;</a:t>
            </a:r>
          </a:p>
          <a:p>
            <a:pPr>
              <a:spcAft>
                <a:spcPts val="800"/>
              </a:spcAft>
              <a:defRPr sz="1800">
                <a:solidFill>
                  <a:srgbClr val="2D2D2D"/>
                </a:solidFill>
              </a:defRPr>
            </a:pPr>
            <a:r>
              <a:t>•  justify-content: center;</a:t>
            </a:r>
          </a:p>
          <a:p>
            <a:pPr>
              <a:spcAft>
                <a:spcPts val="800"/>
              </a:spcAft>
              <a:defRPr sz="1800">
                <a:solidFill>
                  <a:srgbClr val="2D2D2D"/>
                </a:solidFill>
              </a:defRPr>
            </a:pPr>
            <a:r>
              <a:t>•  align-items: center;</a:t>
            </a:r>
          </a:p>
          <a:p>
            <a:pPr>
              <a:spcAft>
                <a:spcPts val="800"/>
              </a:spcAft>
              <a:defRPr sz="1800">
                <a:solidFill>
                  <a:srgbClr val="2D2D2D"/>
                </a:solidFill>
              </a:defRPr>
            </a:pPr>
            <a:r>
              <a:t>•  padding: 80px 40px;</a:t>
            </a:r>
          </a:p>
          <a:p>
            <a:pPr>
              <a:spcAft>
                <a:spcPts val="800"/>
              </a:spcAft>
              <a:defRPr sz="1800">
                <a:solidFill>
                  <a:srgbClr val="2D2D2D"/>
                </a:solidFill>
              </a:defRPr>
            </a:pPr>
            <a:r>
              <a:t>•  box-sizing: border-box;</a:t>
            </a:r>
          </a:p>
          <a:p>
            <a:pPr>
              <a:spcAft>
                <a:spcPts val="800"/>
              </a:spcAft>
              <a:defRPr sz="1800">
                <a:solidFill>
                  <a:srgbClr val="2D2D2D"/>
                </a:solidFill>
              </a:defRPr>
            </a:pPr>
            <a:r>
              <a:t>•  }</a:t>
            </a:r>
          </a:p>
          <a:p>
            <a:pPr>
              <a:spcAft>
                <a:spcPts val="800"/>
              </a:spcAft>
              <a:defRPr sz="1800">
                <a:solidFill>
                  <a:srgbClr val="2D2D2D"/>
                </a:solidFill>
              </a:defRPr>
            </a:pPr>
            <a:r>
              <a:t>•  .page + .page {</a:t>
            </a:r>
          </a:p>
          <a:p>
            <a:pPr>
              <a:spcAft>
                <a:spcPts val="800"/>
              </a:spcAft>
              <a:defRPr sz="1800">
                <a:solidFill>
                  <a:srgbClr val="2D2D2D"/>
                </a:solidFill>
              </a:defRPr>
            </a:pPr>
            <a:r>
              <a:t>•  page-break-before: always;</a:t>
            </a:r>
          </a:p>
          <a:p>
            <a:pPr>
              <a:spcAft>
                <a:spcPts val="800"/>
              </a:spcAft>
              <a:defRPr sz="1800">
                <a:solidFill>
                  <a:srgbClr val="2D2D2D"/>
                </a:solidFill>
              </a:defRPr>
            </a:pPr>
            <a:r>
              <a:t>•  }</a:t>
            </a:r>
          </a:p>
          <a:p>
            <a:pPr>
              <a:spcAft>
                <a:spcPts val="800"/>
              </a:spcAft>
              <a:defRPr sz="1800">
                <a:solidFill>
                  <a:srgbClr val="2D2D2D"/>
                </a:solidFill>
              </a:defRPr>
            </a:pPr>
            <a:r>
              <a:t>•  .content {</a:t>
            </a:r>
          </a:p>
          <a:p>
            <a:pPr>
              <a:spcAft>
                <a:spcPts val="800"/>
              </a:spcAft>
              <a:defRPr sz="1800">
                <a:solidFill>
                  <a:srgbClr val="2D2D2D"/>
                </a:solidFill>
              </a:defRPr>
            </a:pPr>
            <a:r>
              <a:t>•  max-width: 720px;</a:t>
            </a:r>
          </a:p>
          <a:p>
            <a:pPr>
              <a:spcAft>
                <a:spcPts val="800"/>
              </a:spcAft>
              <a:defRPr sz="1800">
                <a:solidFill>
                  <a:srgbClr val="2D2D2D"/>
                </a:solidFill>
              </a:defRPr>
            </a:pPr>
            <a:r>
              <a:t>•  width: 100%;</a:t>
            </a:r>
          </a:p>
          <a:p>
            <a:pPr>
              <a:spcAft>
                <a:spcPts val="800"/>
              </a:spcAft>
              <a:defRPr sz="1800">
                <a:solidFill>
                  <a:srgbClr val="2D2D2D"/>
                </a:solidFill>
              </a:defRPr>
            </a:pPr>
            <a:r>
              <a:t>•  }</a:t>
            </a:r>
          </a:p>
          <a:p>
            <a:pPr>
              <a:spcAft>
                <a:spcPts val="800"/>
              </a:spcAft>
              <a:defRPr sz="1800">
                <a:solidFill>
                  <a:srgbClr val="2D2D2D"/>
                </a:solidFill>
              </a:defRPr>
            </a:pPr>
            <a:r>
              <a:t>•  h1 {</a:t>
            </a:r>
          </a:p>
          <a:p>
            <a:pPr>
              <a:spcAft>
                <a:spcPts val="800"/>
              </a:spcAft>
              <a:defRPr sz="1800">
                <a:solidFill>
                  <a:srgbClr val="2D2D2D"/>
                </a:solidFill>
              </a:defRPr>
            </a:pPr>
            <a:r>
              <a:t>•  font-size: 48px;</a:t>
            </a:r>
          </a:p>
          <a:p>
            <a:pPr>
              <a:spcAft>
                <a:spcPts val="800"/>
              </a:spcAft>
              <a:defRPr sz="1800">
                <a:solidFill>
                  <a:srgbClr val="2D2D2D"/>
                </a:solidFill>
              </a:defRPr>
            </a:pPr>
            <a:r>
              <a:t>•  font-weight: 600;</a:t>
            </a:r>
          </a:p>
          <a:p>
            <a:pPr>
              <a:spcAft>
                <a:spcPts val="800"/>
              </a:spcAft>
              <a:defRPr sz="1800">
                <a:solidFill>
                  <a:srgbClr val="2D2D2D"/>
                </a:solidFill>
              </a:defRPr>
            </a:pPr>
            <a:r>
              <a:t>•  margin: 0 0 16px;</a:t>
            </a:r>
          </a:p>
          <a:p>
            <a:pPr>
              <a:spcAft>
                <a:spcPts val="800"/>
              </a:spcAft>
              <a:defRPr sz="1800">
                <a:solidFill>
                  <a:srgbClr val="2D2D2D"/>
                </a:solidFill>
              </a:defRPr>
            </a:pPr>
            <a:r>
              <a:t>•  }</a:t>
            </a:r>
          </a:p>
          <a:p>
            <a:pPr>
              <a:spcAft>
                <a:spcPts val="800"/>
              </a:spcAft>
              <a:defRPr sz="1800">
                <a:solidFill>
                  <a:srgbClr val="2D2D2D"/>
                </a:solidFill>
              </a:defRPr>
            </a:pPr>
            <a:r>
              <a:t>•  h2 {</a:t>
            </a:r>
          </a:p>
          <a:p>
            <a:pPr>
              <a:spcAft>
                <a:spcPts val="800"/>
              </a:spcAft>
              <a:defRPr sz="1800">
                <a:solidFill>
                  <a:srgbClr val="2D2D2D"/>
                </a:solidFill>
              </a:defRPr>
            </a:pPr>
            <a:r>
              <a:t>•  font-size: 28px;</a:t>
            </a:r>
          </a:p>
          <a:p>
            <a:pPr>
              <a:spcAft>
                <a:spcPts val="800"/>
              </a:spcAft>
              <a:defRPr sz="1800">
                <a:solidFill>
                  <a:srgbClr val="2D2D2D"/>
                </a:solidFill>
              </a:defRPr>
            </a:pPr>
            <a:r>
              <a:t>•  font-weight: 500;</a:t>
            </a:r>
          </a:p>
          <a:p>
            <a:pPr>
              <a:spcAft>
                <a:spcPts val="800"/>
              </a:spcAft>
              <a:defRPr sz="1800">
                <a:solidFill>
                  <a:srgbClr val="2D2D2D"/>
                </a:solidFill>
              </a:defRPr>
            </a:pPr>
            <a:r>
              <a:t>•  margin: 40px 0 24px;</a:t>
            </a:r>
          </a:p>
          <a:p>
            <a:pPr>
              <a:spcAft>
                <a:spcPts val="800"/>
              </a:spcAft>
              <a:defRPr sz="1800">
                <a:solidFill>
                  <a:srgbClr val="2D2D2D"/>
                </a:solidFill>
              </a:defRPr>
            </a:pPr>
            <a:r>
              <a:t>•  }</a:t>
            </a:r>
          </a:p>
          <a:p>
            <a:pPr>
              <a:spcAft>
                <a:spcPts val="800"/>
              </a:spcAft>
              <a:defRPr sz="1800">
                <a:solidFill>
                  <a:srgbClr val="2D2D2D"/>
                </a:solidFill>
              </a:defRPr>
            </a:pPr>
            <a:r>
              <a:t>•  p {</a:t>
            </a:r>
          </a:p>
          <a:p>
            <a:pPr>
              <a:spcAft>
                <a:spcPts val="800"/>
              </a:spcAft>
              <a:defRPr sz="1800">
                <a:solidFill>
                  <a:srgbClr val="2D2D2D"/>
                </a:solidFill>
              </a:defRPr>
            </a:pPr>
            <a:r>
              <a:t>•  font-size: 18px;</a:t>
            </a:r>
          </a:p>
          <a:p>
            <a:pPr>
              <a:spcAft>
                <a:spcPts val="800"/>
              </a:spcAft>
              <a:defRPr sz="1800">
                <a:solidFill>
                  <a:srgbClr val="2D2D2D"/>
                </a:solidFill>
              </a:defRPr>
            </a:pPr>
            <a:r>
              <a:t>•  line-height: 1.6;</a:t>
            </a:r>
          </a:p>
          <a:p>
            <a:pPr>
              <a:spcAft>
                <a:spcPts val="800"/>
              </a:spcAft>
              <a:defRPr sz="1800">
                <a:solidFill>
                  <a:srgbClr val="2D2D2D"/>
                </a:solidFill>
              </a:defRPr>
            </a:pPr>
            <a:r>
              <a:t>•  margin: 0 0 24px;</a:t>
            </a:r>
          </a:p>
          <a:p>
            <a:pPr>
              <a:spcAft>
                <a:spcPts val="800"/>
              </a:spcAft>
              <a:defRPr sz="1800">
                <a:solidFill>
                  <a:srgbClr val="2D2D2D"/>
                </a:solidFill>
              </a:defRPr>
            </a:pPr>
            <a:r>
              <a:t>•  }</a:t>
            </a:r>
          </a:p>
          <a:p>
            <a:pPr>
              <a:spcAft>
                <a:spcPts val="800"/>
              </a:spcAft>
              <a:defRPr sz="1800">
                <a:solidFill>
                  <a:srgbClr val="2D2D2D"/>
                </a:solidFill>
              </a:defRPr>
            </a:pPr>
            <a:r>
              <a:t>•  .tagline {</a:t>
            </a:r>
          </a:p>
          <a:p>
            <a:pPr>
              <a:spcAft>
                <a:spcPts val="800"/>
              </a:spcAft>
              <a:defRPr sz="1800">
                <a:solidFill>
                  <a:srgbClr val="2D2D2D"/>
                </a:solidFill>
              </a:defRPr>
            </a:pPr>
            <a:r>
              <a:t>•  font-size: 22px;</a:t>
            </a:r>
          </a:p>
          <a:p>
            <a:pPr>
              <a:spcAft>
                <a:spcPts val="800"/>
              </a:spcAft>
              <a:defRPr sz="1800">
                <a:solidFill>
                  <a:srgbClr val="2D2D2D"/>
                </a:solidFill>
              </a:defRPr>
            </a:pPr>
            <a:r>
              <a:t>•  font-weight: 400;</a:t>
            </a:r>
          </a:p>
          <a:p>
            <a:pPr>
              <a:spcAft>
                <a:spcPts val="800"/>
              </a:spcAft>
              <a:defRPr sz="1800">
                <a:solidFill>
                  <a:srgbClr val="2D2D2D"/>
                </a:solidFill>
              </a:defRPr>
            </a:pPr>
            <a:r>
              <a:t>•  color: #555;</a:t>
            </a:r>
          </a:p>
          <a:p>
            <a:pPr>
              <a:spcAft>
                <a:spcPts val="800"/>
              </a:spcAft>
              <a:defRPr sz="1800">
                <a:solidFill>
                  <a:srgbClr val="2D2D2D"/>
                </a:solidFill>
              </a:defRPr>
            </a:pPr>
            <a:r>
              <a:t>•  margin-bottom: 48px;</a:t>
            </a:r>
          </a:p>
          <a:p>
            <a:pPr>
              <a:spcAft>
                <a:spcPts val="800"/>
              </a:spcAft>
              <a:defRPr sz="1800">
                <a:solidFill>
                  <a:srgbClr val="2D2D2D"/>
                </a:solidFill>
              </a:defRPr>
            </a:pPr>
            <a:r>
              <a:t>•  }</a:t>
            </a:r>
          </a:p>
          <a:p>
            <a:pPr>
              <a:spcAft>
                <a:spcPts val="800"/>
              </a:spcAft>
              <a:defRPr sz="1800">
                <a:solidFill>
                  <a:srgbClr val="2D2D2D"/>
                </a:solidFill>
              </a:defRPr>
            </a:pPr>
            <a:r>
              <a:t>•  .feature-list {</a:t>
            </a:r>
          </a:p>
          <a:p>
            <a:pPr>
              <a:spcAft>
                <a:spcPts val="800"/>
              </a:spcAft>
              <a:defRPr sz="1800">
                <a:solidFill>
                  <a:srgbClr val="2D2D2D"/>
                </a:solidFill>
              </a:defRPr>
            </a:pPr>
            <a:r>
              <a:t>•  list-style: none;</a:t>
            </a:r>
          </a:p>
          <a:p>
            <a:pPr>
              <a:spcAft>
                <a:spcPts val="800"/>
              </a:spcAft>
              <a:defRPr sz="1800">
                <a:solidFill>
                  <a:srgbClr val="2D2D2D"/>
                </a:solidFill>
              </a:defRPr>
            </a:pPr>
            <a:r>
              <a:t>•  padding: 0;</a:t>
            </a:r>
          </a:p>
          <a:p>
            <a:pPr>
              <a:spcAft>
                <a:spcPts val="800"/>
              </a:spcAft>
              <a:defRPr sz="1800">
                <a:solidFill>
                  <a:srgbClr val="2D2D2D"/>
                </a:solidFill>
              </a:defRPr>
            </a:pPr>
            <a:r>
              <a:t>•  margin: 0;</a:t>
            </a:r>
          </a:p>
          <a:p>
            <a:pPr>
              <a:spcAft>
                <a:spcPts val="800"/>
              </a:spcAft>
              <a:defRPr sz="1800">
                <a:solidFill>
                  <a:srgbClr val="2D2D2D"/>
                </a:solidFill>
              </a:defRPr>
            </a:pPr>
            <a:r>
              <a:t>•  }</a:t>
            </a:r>
          </a:p>
          <a:p>
            <a:pPr>
              <a:spcAft>
                <a:spcPts val="800"/>
              </a:spcAft>
              <a:defRPr sz="1800">
                <a:solidFill>
                  <a:srgbClr val="2D2D2D"/>
                </a:solidFill>
              </a:defRPr>
            </a:pPr>
            <a:r>
              <a:t>•  .feature-list li {</a:t>
            </a:r>
          </a:p>
          <a:p>
            <a:pPr>
              <a:spcAft>
                <a:spcPts val="800"/>
              </a:spcAft>
              <a:defRPr sz="1800">
                <a:solidFill>
                  <a:srgbClr val="2D2D2D"/>
                </a:solidFill>
              </a:defRPr>
            </a:pPr>
            <a:r>
              <a:t>•  font-size: 18px;</a:t>
            </a:r>
          </a:p>
          <a:p>
            <a:pPr>
              <a:spcAft>
                <a:spcPts val="800"/>
              </a:spcAft>
              <a:defRPr sz="1800">
                <a:solidFill>
                  <a:srgbClr val="2D2D2D"/>
                </a:solidFill>
              </a:defRPr>
            </a:pPr>
            <a:r>
              <a:t>•  line-height: 1.5;</a:t>
            </a:r>
          </a:p>
          <a:p>
            <a:pPr>
              <a:spcAft>
                <a:spcPts val="800"/>
              </a:spcAft>
              <a:defRPr sz="1800">
                <a:solidFill>
                  <a:srgbClr val="2D2D2D"/>
                </a:solidFill>
              </a:defRPr>
            </a:pPr>
            <a:r>
              <a:t>•  margin-bottom: 20px;</a:t>
            </a:r>
          </a:p>
          <a:p>
            <a:pPr>
              <a:spcAft>
                <a:spcPts val="800"/>
              </a:spcAft>
              <a:defRPr sz="1800">
                <a:solidFill>
                  <a:srgbClr val="2D2D2D"/>
                </a:solidFill>
              </a:defRPr>
            </a:pPr>
            <a:r>
              <a:t>•  }</a:t>
            </a:r>
          </a:p>
          <a:p>
            <a:pPr>
              <a:spcAft>
                <a:spcPts val="800"/>
              </a:spcAft>
              <a:defRPr sz="1800">
                <a:solidFill>
                  <a:srgbClr val="2D2D2D"/>
                </a:solidFill>
              </a:defRPr>
            </a:pPr>
            <a:r>
              <a:t>•  .feature-list li strong {</a:t>
            </a:r>
          </a:p>
          <a:p>
            <a:pPr>
              <a:spcAft>
                <a:spcPts val="800"/>
              </a:spcAft>
              <a:defRPr sz="1800">
                <a:solidFill>
                  <a:srgbClr val="2D2D2D"/>
                </a:solidFill>
              </a:defRPr>
            </a:pPr>
            <a:r>
              <a:t>•  font-weight: 600;</a:t>
            </a:r>
          </a:p>
          <a:p>
            <a:pPr>
              <a:spcAft>
                <a:spcPts val="800"/>
              </a:spcAft>
              <a:defRPr sz="1800">
                <a:solidFill>
                  <a:srgbClr val="2D2D2D"/>
                </a:solidFill>
              </a:defRPr>
            </a:pPr>
            <a:r>
              <a:t>•  }</a:t>
            </a:r>
          </a:p>
          <a:p>
            <a:pPr>
              <a:spcAft>
                <a:spcPts val="800"/>
              </a:spcAft>
              <a:defRPr sz="1800">
                <a:solidFill>
                  <a:srgbClr val="2D2D2D"/>
                </a:solidFill>
              </a:defRPr>
            </a:pPr>
            <a:r>
              <a:t>•  .value {</a:t>
            </a:r>
          </a:p>
          <a:p>
            <a:pPr>
              <a:spcAft>
                <a:spcPts val="800"/>
              </a:spcAft>
              <a:defRPr sz="1800">
                <a:solidFill>
                  <a:srgbClr val="2D2D2D"/>
                </a:solidFill>
              </a:defRPr>
            </a:pPr>
            <a:r>
              <a:t>•  font-size: 20px;</a:t>
            </a:r>
          </a:p>
          <a:p>
            <a:pPr>
              <a:spcAft>
                <a:spcPts val="800"/>
              </a:spcAft>
              <a:defRPr sz="1800">
                <a:solidFill>
                  <a:srgbClr val="2D2D2D"/>
                </a:solidFill>
              </a:defRPr>
            </a:pPr>
            <a:r>
              <a:t>•  font-weight: 500;</a:t>
            </a:r>
          </a:p>
          <a:p>
            <a:pPr>
              <a:spcAft>
                <a:spcPts val="800"/>
              </a:spcAft>
              <a:defRPr sz="1800">
                <a:solidFill>
                  <a:srgbClr val="2D2D2D"/>
                </a:solidFill>
              </a:defRPr>
            </a:pPr>
            <a:r>
              <a:t>•  margin-top: 40px;</a:t>
            </a:r>
          </a:p>
          <a:p>
            <a:pPr>
              <a:spcAft>
                <a:spcPts val="800"/>
              </a:spcAft>
              <a:defRPr sz="1800">
                <a:solidFill>
                  <a:srgbClr val="2D2D2D"/>
                </a:solidFill>
              </a:defRPr>
            </a:pPr>
            <a:r>
              <a:t>•  }</a:t>
            </a:r>
          </a:p>
          <a:p>
            <a:pPr>
              <a:spcAft>
                <a:spcPts val="800"/>
              </a:spcAft>
              <a:defRPr sz="1800">
                <a:solidFill>
                  <a:srgbClr val="2D2D2D"/>
                </a:solidFill>
              </a:defRPr>
            </a:pPr>
            <a:r>
              <a:t>•  / Subtle divider line /</a:t>
            </a:r>
          </a:p>
          <a:p>
            <a:pPr>
              <a:spcAft>
                <a:spcPts val="800"/>
              </a:spcAft>
              <a:defRPr sz="1800">
                <a:solidFill>
                  <a:srgbClr val="2D2D2D"/>
                </a:solidFill>
              </a:defRPr>
            </a:pPr>
            <a:r>
              <a:t>•  .divider {</a:t>
            </a:r>
          </a:p>
          <a:p>
            <a:pPr>
              <a:spcAft>
                <a:spcPts val="800"/>
              </a:spcAft>
              <a:defRPr sz="1800">
                <a:solidFill>
                  <a:srgbClr val="2D2D2D"/>
                </a:solidFill>
              </a:defRPr>
            </a:pPr>
            <a:r>
              <a:t>•  height: 2px;</a:t>
            </a:r>
          </a:p>
          <a:p>
            <a:pPr>
              <a:spcAft>
                <a:spcPts val="800"/>
              </a:spcAft>
              <a:defRPr sz="1800">
                <a:solidFill>
                  <a:srgbClr val="2D2D2D"/>
                </a:solidFill>
              </a:defRPr>
            </a:pPr>
            <a:r>
              <a:t>•  background: #e0e0e0;</a:t>
            </a:r>
          </a:p>
          <a:p>
            <a:pPr>
              <a:spcAft>
                <a:spcPts val="800"/>
              </a:spcAft>
              <a:defRPr sz="1800">
                <a:solidFill>
                  <a:srgbClr val="2D2D2D"/>
                </a:solidFill>
              </a:defRPr>
            </a:pPr>
            <a:r>
              <a:t>•  margin: 60px 0;</a:t>
            </a:r>
          </a:p>
          <a:p>
            <a:pPr>
              <a:spcAft>
                <a:spcPts val="800"/>
              </a:spcAft>
              <a:defRPr sz="1800">
                <a:solidFill>
                  <a:srgbClr val="2D2D2D"/>
                </a:solidFill>
              </a:defRPr>
            </a:pPr>
            <a:r>
              <a:t>•  }</a:t>
            </a:r>
          </a:p>
          <a:p>
            <a:pPr>
              <a:spcAft>
                <a:spcPts val="800"/>
              </a:spcAft>
              <a:defRPr sz="1800">
                <a:solidFill>
                  <a:srgbClr val="2D2D2D"/>
                </a:solidFill>
              </a:defRPr>
            </a:pPr>
            <a:r>
              <a:t>•  &lt;/style&gt;</a:t>
            </a:r>
          </a:p>
          <a:p>
            <a:pPr>
              <a:spcAft>
                <a:spcPts val="800"/>
              </a:spcAft>
              <a:defRPr sz="1800">
                <a:solidFill>
                  <a:srgbClr val="2D2D2D"/>
                </a:solidFill>
              </a:defRPr>
            </a:pPr>
            <a:r>
              <a:t>•  &lt;/head&gt;</a:t>
            </a:r>
          </a:p>
          <a:p>
            <a:pPr>
              <a:spcAft>
                <a:spcPts val="800"/>
              </a:spcAft>
              <a:defRPr sz="1800">
                <a:solidFill>
                  <a:srgbClr val="2D2D2D"/>
                </a:solidFill>
              </a:defRPr>
            </a:pPr>
            <a:r>
              <a:t>•  &lt;body&gt;</a:t>
            </a:r>
          </a:p>
          <a:p>
            <a:pPr>
              <a:spcAft>
                <a:spcPts val="800"/>
              </a:spcAft>
              <a:defRPr sz="1800">
                <a:solidFill>
                  <a:srgbClr val="2D2D2D"/>
                </a:solidFill>
              </a:defRPr>
            </a:pPr>
            <a:r>
              <a:t>•  &lt;!-- Page 1 – Mission --&gt;</a:t>
            </a:r>
          </a:p>
          <a:p>
            <a:pPr>
              <a:spcAft>
                <a:spcPts val="800"/>
              </a:spcAft>
              <a:defRPr sz="1800">
                <a:solidFill>
                  <a:srgbClr val="2D2D2D"/>
                </a:solidFill>
              </a:defRPr>
            </a:pPr>
            <a:r>
              <a:t>•  &lt;section class="page" id="page1"&gt;</a:t>
            </a:r>
          </a:p>
          <a:p>
            <a:pPr>
              <a:spcAft>
                <a:spcPts val="800"/>
              </a:spcAft>
              <a:defRPr sz="1800">
                <a:solidFill>
                  <a:srgbClr val="2D2D2D"/>
                </a:solidFill>
              </a:defRPr>
            </a:pPr>
            <a:r>
              <a:t>•  &lt;div class="content"&gt;</a:t>
            </a:r>
          </a:p>
          <a:p>
            <a:pPr>
              <a:spcAft>
                <a:spcPts val="800"/>
              </a:spcAft>
              <a:defRPr sz="1800">
                <a:solidFill>
                  <a:srgbClr val="2D2D2D"/>
                </a:solidFill>
              </a:defRPr>
            </a:pPr>
            <a:r>
              <a:t>•  &lt;h1&gt;Aiden IWO&lt;/h1&gt;</a:t>
            </a:r>
          </a:p>
          <a:p>
            <a:pPr>
              <a:spcAft>
                <a:spcPts val="800"/>
              </a:spcAft>
              <a:defRPr sz="1800">
                <a:solidFill>
                  <a:srgbClr val="2D2D2D"/>
                </a:solidFill>
              </a:defRPr>
            </a:pPr>
            <a:r>
              <a:t>•  &lt;p class="tagline"&gt;Empower your projects with AI‑driven precision.&lt;/p&gt;</a:t>
            </a:r>
          </a:p>
          <a:p>
            <a:pPr>
              <a:spcAft>
                <a:spcPts val="800"/>
              </a:spcAft>
              <a:defRPr sz="1800">
                <a:solidFill>
                  <a:srgbClr val="2D2D2D"/>
                </a:solidFill>
              </a:defRPr>
            </a:pPr>
            <a:r>
              <a:t>•  &lt;div class="divider"&gt;&lt;/div&gt;</a:t>
            </a:r>
          </a:p>
          <a:p>
            <a:pPr>
              <a:spcAft>
                <a:spcPts val="800"/>
              </a:spcAft>
              <a:defRPr sz="1800">
                <a:solidFill>
                  <a:srgbClr val="2D2D2D"/>
                </a:solidFill>
              </a:defRPr>
            </a:pPr>
            <a:r>
              <a:t>•  &lt;p&gt;Aiden IWO reimagines workflow automation, delivering a seamless, minimalist experience that lets teams move faster, collaborate instantly, and focus on what truly matters.&lt;/p&gt;</a:t>
            </a:r>
          </a:p>
          <a:p>
            <a:pPr>
              <a:spcAft>
                <a:spcPts val="800"/>
              </a:spcAft>
              <a:defRPr sz="1800">
                <a:solidFill>
                  <a:srgbClr val="2D2D2D"/>
                </a:solidFill>
              </a:defRPr>
            </a:pPr>
            <a:r>
              <a:t>•  &lt;/div&gt;</a:t>
            </a:r>
          </a:p>
          <a:p>
            <a:pPr>
              <a:spcAft>
                <a:spcPts val="800"/>
              </a:spcAft>
              <a:defRPr sz="1800">
                <a:solidFill>
                  <a:srgbClr val="2D2D2D"/>
                </a:solidFill>
              </a:defRPr>
            </a:pPr>
            <a:r>
              <a:t>•  &lt;/section&gt;</a:t>
            </a:r>
          </a:p>
          <a:p>
            <a:pPr>
              <a:spcAft>
                <a:spcPts val="800"/>
              </a:spcAft>
              <a:defRPr sz="1800">
                <a:solidFill>
                  <a:srgbClr val="2D2D2D"/>
                </a:solidFill>
              </a:defRPr>
            </a:pPr>
            <a:r>
              <a:t>•  &lt;!-- Page 2 – Features &amp; Value --&gt;</a:t>
            </a:r>
          </a:p>
          <a:p>
            <a:pPr>
              <a:spcAft>
                <a:spcPts val="800"/>
              </a:spcAft>
              <a:defRPr sz="1800">
                <a:solidFill>
                  <a:srgbClr val="2D2D2D"/>
                </a:solidFill>
              </a:defRPr>
            </a:pPr>
            <a:r>
              <a:t>•  &lt;section class="page" id="page2"&gt;</a:t>
            </a:r>
          </a:p>
          <a:p>
            <a:pPr>
              <a:spcAft>
                <a:spcPts val="800"/>
              </a:spcAft>
              <a:defRPr sz="1800">
                <a:solidFill>
                  <a:srgbClr val="2D2D2D"/>
                </a:solidFill>
              </a:defRPr>
            </a:pPr>
            <a:r>
              <a:t>•  &lt;div class="content"&gt;</a:t>
            </a:r>
          </a:p>
          <a:p>
            <a:pPr>
              <a:spcAft>
                <a:spcPts val="800"/>
              </a:spcAft>
              <a:defRPr sz="1800">
                <a:solidFill>
                  <a:srgbClr val="2D2D2D"/>
                </a:solidFill>
              </a:defRPr>
            </a:pPr>
            <a:r>
              <a:t>•  &lt;h2&gt;Features&lt;/h2&gt;</a:t>
            </a:r>
          </a:p>
          <a:p>
            <a:pPr>
              <a:spcAft>
                <a:spcPts val="800"/>
              </a:spcAft>
              <a:defRPr sz="1800">
                <a:solidFill>
                  <a:srgbClr val="2D2D2D"/>
                </a:solidFill>
              </a:defRPr>
            </a:pPr>
            <a:r>
              <a:t>•  &lt;ul class="feature-list"&gt;</a:t>
            </a:r>
          </a:p>
          <a:p>
            <a:pPr>
              <a:spcAft>
                <a:spcPts val="800"/>
              </a:spcAft>
              <a:defRPr sz="1800">
                <a:solidFill>
                  <a:srgbClr val="2D2D2D"/>
                </a:solidFill>
              </a:defRPr>
            </a:pPr>
            <a:r>
              <a:t>•  &lt;li&gt;&lt;strong&gt;AI‑driven workflow automation&lt;/strong&gt; – intelligent suggestions that keep projects on track.&lt;/li&gt;</a:t>
            </a:r>
          </a:p>
          <a:p>
            <a:pPr>
              <a:spcAft>
                <a:spcPts val="800"/>
              </a:spcAft>
              <a:defRPr sz="1800">
                <a:solidFill>
                  <a:srgbClr val="2D2D2D"/>
                </a:solidFill>
              </a:defRPr>
            </a:pPr>
            <a:r>
              <a:t>•  &lt;li&gt;&lt;strong&gt;Real‑time collaboration&lt;/strong&gt; – every update visible to the whole team, instantly.&lt;/li&gt;</a:t>
            </a:r>
          </a:p>
          <a:p>
            <a:pPr>
              <a:spcAft>
                <a:spcPts val="800"/>
              </a:spcAft>
              <a:defRPr sz="1800">
                <a:solidFill>
                  <a:srgbClr val="2D2D2D"/>
                </a:solidFill>
              </a:defRPr>
            </a:pPr>
            <a:r>
              <a:t>•  &lt;li&gt;&lt;strong&gt;Secure data handling&lt;/strong&gt; – end‑to‑end encryption protects every file.&lt;/li&gt;</a:t>
            </a:r>
          </a:p>
          <a:p>
            <a:pPr>
              <a:spcAft>
                <a:spcPts val="800"/>
              </a:spcAft>
              <a:defRPr sz="1800">
                <a:solidFill>
                  <a:srgbClr val="2D2D2D"/>
                </a:solidFill>
              </a:defRPr>
            </a:pPr>
            <a:r>
              <a:t>•  &lt;li&gt;&lt;strong&gt;Insightful analytics&lt;/strong&gt; – actionable metrics that drive smarter decisions.&lt;/li&gt;</a:t>
            </a:r>
          </a:p>
          <a:p>
            <a:pPr>
              <a:spcAft>
                <a:spcPts val="800"/>
              </a:spcAft>
              <a:defRPr sz="1800">
                <a:solidFill>
                  <a:srgbClr val="2D2D2D"/>
                </a:solidFill>
              </a:defRPr>
            </a:pPr>
            <a:r>
              <a:t>•  &lt;/ul&gt;</a:t>
            </a:r>
          </a:p>
          <a:p>
            <a:pPr>
              <a:spcAft>
                <a:spcPts val="800"/>
              </a:spcAft>
              <a:defRPr sz="1800">
                <a:solidFill>
                  <a:srgbClr val="2D2D2D"/>
                </a:solidFill>
              </a:defRPr>
            </a:pPr>
            <a:r>
              <a:t>•  &lt;p class="value"&gt;&lt;strong&gt;Value:&lt;/strong&gt; Reduce project turnaround by up to 30 %, eliminate manual coordination, and free your team to create, not manage.&lt;/p&gt;</a:t>
            </a:r>
          </a:p>
          <a:p>
            <a:pPr>
              <a:spcAft>
                <a:spcPts val="800"/>
              </a:spcAft>
              <a:defRPr sz="1800">
                <a:solidFill>
                  <a:srgbClr val="2D2D2D"/>
                </a:solidFill>
              </a:defRPr>
            </a:pPr>
            <a:r>
              <a:t>•  &lt;/div&gt;</a:t>
            </a:r>
          </a:p>
          <a:p>
            <a:pPr>
              <a:spcAft>
                <a:spcPts val="800"/>
              </a:spcAft>
              <a:defRPr sz="1800">
                <a:solidFill>
                  <a:srgbClr val="2D2D2D"/>
                </a:solidFill>
              </a:defRPr>
            </a:pPr>
            <a:r>
              <a:t>•  &lt;/section&gt;</a:t>
            </a:r>
          </a:p>
          <a:p>
            <a:pPr>
              <a:spcAft>
                <a:spcPts val="800"/>
              </a:spcAft>
              <a:defRPr sz="1800">
                <a:solidFill>
                  <a:srgbClr val="2D2D2D"/>
                </a:solidFill>
              </a:defRPr>
            </a:pPr>
            <a:r>
              <a:t>•  &lt;/body&gt;</a:t>
            </a:r>
          </a:p>
          <a:p>
            <a:pPr>
              <a:spcAft>
                <a:spcPts val="800"/>
              </a:spcAft>
              <a:defRPr sz="1800">
                <a:solidFill>
                  <a:srgbClr val="2D2D2D"/>
                </a:solidFill>
              </a:defRPr>
            </a:pPr>
            <a:r>
              <a:t>•  &lt;/html&gt;</a:t>
            </a:r>
          </a:p>
          <a:p>
            <a:pPr>
              <a:spcAft>
                <a:spcPts val="800"/>
              </a:spcAft>
              <a:defRPr sz="1800">
                <a:solidFill>
                  <a:srgbClr val="2D2D2D"/>
                </a:solidFill>
              </a:defRPr>
            </a:pPr>
            <a:r>
              <a:t>•  Aiden_IWO_Brochure.pdf (download the file below)</a:t>
            </a:r>
          </a:p>
          <a:p>
            <a:pPr>
              <a:spcAft>
                <a:spcPts val="800"/>
              </a:spcAft>
              <a:defRPr sz="1800">
                <a:solidFill>
                  <a:srgbClr val="2D2D2D"/>
                </a:solidFill>
              </a:defRPr>
            </a:pPr>
            <a:r>
              <a:t>•  [Download PDF](/file/Aiden_IWO_Brochure.pdf)</a:t>
            </a:r>
          </a:p>
          <a:p>
            <a:pPr>
              <a:spcAft>
                <a:spcPts val="800"/>
              </a:spcAft>
              <a:defRPr sz="1800">
                <a:solidFill>
                  <a:srgbClr val="2D2D2D"/>
                </a:solidFill>
              </a:defRPr>
            </a:pPr>
            <a:r>
              <a:t>•  To ensure the final 2‑page Apple‑style PDF for Aiden IWO is perfectly aligned with your vision, could you please provide the following missing details?</a:t>
            </a:r>
          </a:p>
          <a:p>
            <a:pPr>
              <a:spcAft>
                <a:spcPts val="800"/>
              </a:spcAft>
              <a:defRPr sz="1800">
                <a:solidFill>
                  <a:srgbClr val="2D2D2D"/>
                </a:solidFill>
              </a:defRPr>
            </a:pPr>
            <a:r>
              <a:t>•  1. Key Features – List the 4‑6 headline features you want highlighted (e.g., “AI‑driven workflow automation”). Include a one‑sentence description for each.</a:t>
            </a:r>
          </a:p>
          <a:p>
            <a:pPr>
              <a:spcAft>
                <a:spcPts val="800"/>
              </a:spcAft>
              <a:defRPr sz="1800">
                <a:solidFill>
                  <a:srgbClr val="2D2D2D"/>
                </a:solidFill>
              </a:defRPr>
            </a:pPr>
            <a:r>
              <a:t>•  2. Value Proposition – The primary outcomes Aiden IWO delivers (e.g., “reduces project turnaround time by 30 %”, “eliminates manual coordination overhead”).</a:t>
            </a:r>
          </a:p>
          <a:p>
            <a:pPr>
              <a:spcAft>
                <a:spcPts val="800"/>
              </a:spcAft>
              <a:defRPr sz="1800">
                <a:solidFill>
                  <a:srgbClr val="2D2D2D"/>
                </a:solidFill>
              </a:defRPr>
            </a:pPr>
            <a:r>
              <a:t>•  3. Branding Guidelines:</a:t>
            </a:r>
          </a:p>
          <a:p>
            <a:pPr>
              <a:spcAft>
                <a:spcPts val="800"/>
              </a:spcAft>
              <a:defRPr sz="1800">
                <a:solidFill>
                  <a:srgbClr val="2D2D2D"/>
                </a:solidFill>
              </a:defRPr>
            </a:pPr>
            <a:r>
              <a:t>•  Preferred color palette (hex codes or general description).</a:t>
            </a:r>
          </a:p>
          <a:p>
            <a:pPr>
              <a:spcAft>
                <a:spcPts val="800"/>
              </a:spcAft>
              <a:defRPr sz="1800">
                <a:solidFill>
                  <a:srgbClr val="2D2D2D"/>
                </a:solidFill>
              </a:defRPr>
            </a:pPr>
            <a:r>
              <a:t>•  Logo usage (any restrictions, placement preferences).</a:t>
            </a:r>
          </a:p>
          <a:p>
            <a:pPr>
              <a:spcAft>
                <a:spcPts val="800"/>
              </a:spcAft>
              <a:defRPr sz="1800">
                <a:solidFill>
                  <a:srgbClr val="2D2D2D"/>
                </a:solidFill>
              </a:defRPr>
            </a:pPr>
            <a:r>
              <a:t>•  Typography preferences (specific fonts or style – e.g., San‑Francisco, Helvetica Neue).</a:t>
            </a:r>
          </a:p>
          <a:p>
            <a:pPr>
              <a:spcAft>
                <a:spcPts val="800"/>
              </a:spcAft>
              <a:defRPr sz="1800">
                <a:solidFill>
                  <a:srgbClr val="2D2D2D"/>
                </a:solidFill>
              </a:defRPr>
            </a:pPr>
            <a:r>
              <a:t>•  Any existing brand assets you’d like incorporated.</a:t>
            </a:r>
          </a:p>
          <a:p>
            <a:pPr>
              <a:spcAft>
                <a:spcPts val="800"/>
              </a:spcAft>
              <a:defRPr sz="1800">
                <a:solidFill>
                  <a:srgbClr val="2D2D2D"/>
                </a:solidFill>
              </a:defRPr>
            </a:pPr>
            <a:r>
              <a:t>•  4. Visual Style Preferences (optional but helpful):</a:t>
            </a:r>
          </a:p>
          <a:p>
            <a:pPr>
              <a:spcAft>
                <a:spcPts val="800"/>
              </a:spcAft>
              <a:defRPr sz="1800">
                <a:solidFill>
                  <a:srgbClr val="2D2D2D"/>
                </a:solidFill>
              </a:defRPr>
            </a:pPr>
            <a:r>
              <a:t>•  Desired aesthetic (Apple‑style minimalism, sleek tech‑forward, bold contrast, etc.).</a:t>
            </a:r>
          </a:p>
          <a:p>
            <a:pPr>
              <a:spcAft>
                <a:spcPts val="800"/>
              </a:spcAft>
              <a:defRPr sz="1800">
                <a:solidFill>
                  <a:srgbClr val="2D2D2D"/>
                </a:solidFill>
              </a:defRPr>
            </a:pPr>
            <a:r>
              <a:t>•  Imagery or iconography themes (abstract data flows, clean line art, etc.).</a:t>
            </a:r>
          </a:p>
          <a:p>
            <a:pPr>
              <a:spcAft>
                <a:spcPts val="800"/>
              </a:spcAft>
              <a:defRPr sz="1800">
                <a:solidFill>
                  <a:srgbClr val="2D2D2D"/>
                </a:solidFill>
              </a:defRPr>
            </a:pPr>
            <a:r>
              <a:t>•  Layout style (full‑bleed images, generous white space, grid‑based sections).</a:t>
            </a:r>
          </a:p>
          <a:p>
            <a:pPr>
              <a:spcAft>
                <a:spcPts val="800"/>
              </a:spcAft>
              <a:defRPr sz="1800">
                <a:solidFill>
                  <a:srgbClr val="2D2D2D"/>
                </a:solidFill>
              </a:defRPr>
            </a:pPr>
            <a:r>
              <a:t>•  Tone of visual elements (warm vs. cool, matte vs. glossy).</a:t>
            </a:r>
          </a:p>
          <a:p>
            <a:pPr>
              <a:spcAft>
                <a:spcPts val="800"/>
              </a:spcAft>
              <a:defRPr sz="1800">
                <a:solidFill>
                  <a:srgbClr val="2D2D2D"/>
                </a:solidFill>
              </a:defRPr>
            </a:pPr>
            <a:r>
              <a:t>•  Feel free to add any additional notes or constraints that will help shape the copy and design. Thank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1 – Mission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a:t>
            </a:r>
          </a:p>
          <a:p>
            <a:pPr>
              <a:spcAft>
                <a:spcPts val="800"/>
              </a:spcAft>
              <a:defRPr sz="1800">
                <a:solidFill>
                  <a:srgbClr val="2D2D2D"/>
                </a:solidFill>
              </a:defRPr>
            </a:pPr>
            <a:r>
              <a:t>•  Empower your projects with AI‑driven precision.</a:t>
            </a:r>
          </a:p>
          <a:p>
            <a:pPr>
              <a:spcAft>
                <a:spcPts val="800"/>
              </a:spcAft>
              <a:defRPr sz="1800">
                <a:solidFill>
                  <a:srgbClr val="2D2D2D"/>
                </a:solidFill>
              </a:defRPr>
            </a:pPr>
            <a:r>
              <a:t>•  Aiden IWO redefines workflow automation with a sleek, minimalist interface that lets teams move faster, collaborate instantly, and focus on what truly matters.</a:t>
            </a:r>
          </a:p>
          <a:p>
            <a:pPr>
              <a:spcAft>
                <a:spcPts val="800"/>
              </a:spcAft>
              <a:defRPr sz="1800">
                <a:solidFill>
                  <a:srgbClr val="2D2D2D"/>
                </a:solidFill>
              </a:defRPr>
            </a:pPr>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2 – Features &amp; Value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Features</a:t>
            </a:r>
          </a:p>
          <a:p>
            <a:pPr>
              <a:spcAft>
                <a:spcPts val="800"/>
              </a:spcAft>
              <a:defRPr sz="1800">
                <a:solidFill>
                  <a:srgbClr val="2D2D2D"/>
                </a:solidFill>
              </a:defRPr>
            </a:pPr>
            <a:r>
              <a:t>•  AI‑driven workflow automation – Intelligent suggestions keep projects on track.</a:t>
            </a:r>
          </a:p>
          <a:p>
            <a:pPr>
              <a:spcAft>
                <a:spcPts val="800"/>
              </a:spcAft>
              <a:defRPr sz="1800">
                <a:solidFill>
                  <a:srgbClr val="2D2D2D"/>
                </a:solidFill>
              </a:defRPr>
            </a:pPr>
            <a:r>
              <a:t>•  Real‑time collaboration – Every update is visible to the whole team, instantly.</a:t>
            </a:r>
          </a:p>
          <a:p>
            <a:pPr>
              <a:spcAft>
                <a:spcPts val="800"/>
              </a:spcAft>
              <a:defRPr sz="1800">
                <a:solidFill>
                  <a:srgbClr val="2D2D2D"/>
                </a:solidFill>
              </a:defRPr>
            </a:pPr>
            <a:r>
              <a:t>•  Secure data handling – End‑to‑end encryption protects every file.</a:t>
            </a:r>
          </a:p>
          <a:p>
            <a:pPr>
              <a:spcAft>
                <a:spcPts val="800"/>
              </a:spcAft>
              <a:defRPr sz="1800">
                <a:solidFill>
                  <a:srgbClr val="2D2D2D"/>
                </a:solidFill>
              </a:defRPr>
            </a:pPr>
            <a:r>
              <a:t>•  Insightful analytics – Actionable metrics drive smarter decisions.</a:t>
            </a:r>
          </a:p>
          <a:p>
            <a:pPr>
              <a:spcAft>
                <a:spcPts val="800"/>
              </a:spcAft>
              <a:defRPr sz="1800">
                <a:solidFill>
                  <a:srgbClr val="2D2D2D"/>
                </a:solidFill>
              </a:defRPr>
            </a:pPr>
            <a:r>
              <a:t>•  Value</a:t>
            </a:r>
          </a:p>
          <a:p>
            <a:pPr>
              <a:spcAft>
                <a:spcPts val="800"/>
              </a:spcAft>
              <a:defRPr sz="1800">
                <a:solidFill>
                  <a:srgbClr val="2D2D2D"/>
                </a:solidFill>
              </a:defRPr>
            </a:pPr>
            <a:r>
              <a:t>•  Reduce project turnaround by up to 30 %, eliminate manual coordination, and free your team to create, not manage.</a:t>
            </a:r>
          </a:p>
          <a:p>
            <a:pPr>
              <a:spcAft>
                <a:spcPts val="800"/>
              </a:spcAft>
              <a:defRPr sz="1800">
                <a:solidFill>
                  <a:srgbClr val="2D2D2D"/>
                </a:solidFill>
              </a:defRPr>
            </a:pPr>
            <a:r>
              <a:t>•  Design Philosophy – “Silicon Elegance” (`design_philosophy.md`)</a:t>
            </a:r>
          </a:p>
          <a:p>
            <a:pPr>
              <a:spcAft>
                <a:spcPts val="800"/>
              </a:spcAft>
              <a:defRPr sz="1800">
                <a:solidFill>
                  <a:srgbClr val="2D2D2D"/>
                </a:solidFill>
              </a:defRPr>
            </a:pPr>
            <a:r>
              <a:t>•  ```markdown</a:t>
            </a:r>
          </a:p>
          <a:p>
            <a:pPr>
              <a:spcAft>
                <a:spcPts val="800"/>
              </a:spcAft>
              <a:defRPr sz="1800">
                <a:solidFill>
                  <a:srgbClr val="2D2D2D"/>
                </a:solidFill>
              </a:defRPr>
            </a:pPr>
            <a:r>
              <a:t>•  # Silicon Elegance</a:t>
            </a:r>
          </a:p>
          <a:p>
            <a:pPr>
              <a:spcAft>
                <a:spcPts val="800"/>
              </a:spcAft>
              <a:defRPr sz="1800">
                <a:solidFill>
                  <a:srgbClr val="2D2D2D"/>
                </a:solidFill>
              </a:defRPr>
            </a:pPr>
            <a:r>
              <a:t>•  A visual manifesto for an Apple‑inspired, meticulously crafted two‑page brochure.</a:t>
            </a:r>
          </a:p>
          <a:p>
            <a:pPr>
              <a:spcAft>
                <a:spcPts val="800"/>
              </a:spcAft>
              <a:defRPr sz="1800">
                <a:solidFill>
                  <a:srgbClr val="2D2D2D"/>
                </a:solidFill>
              </a:defRPr>
            </a:pPr>
            <a:r>
              <a:t>•  The philosophy embraces the quiet power of restraint. Every element is a deliberate gesture, the result of countless hours of refinement by a master‑level designer. The layout is a study in spatial communication: generous white space frames the content, allowing the eye to glide effortlessly from headline to detail. Form follows function; the page itself becomes a silent narrator, speaking through proportion, hierarchy, and the subtle play of light and shadow.</a:t>
            </a:r>
          </a:p>
          <a:p>
            <a:pPr>
              <a:spcAft>
                <a:spcPts val="800"/>
              </a:spcAft>
              <a:defRPr sz="1800">
                <a:solidFill>
                  <a:srgbClr val="2D2D2D"/>
                </a:solidFill>
              </a:defRPr>
            </a:pPr>
            <a:r>
              <a:t>•  Color is restrained to a crisp palette of pure white, deep charcoal, and a single accent hue (Apple‑blue #0071E3). This limited spectrum ensures that each splash of color carries weight, guiding attention without overwhelming the composition. Typography is the hallmark of the system font family – San Francisco – rendered at precise optical sizes, with meticulous kerning and line‑height tuned for optimal legibility. The text is purposefully sparse, each word placed as if it were a finely‑cut stone in a minimalist garden.</a:t>
            </a:r>
          </a:p>
          <a:p>
            <a:pPr>
              <a:spcAft>
                <a:spcPts val="800"/>
              </a:spcAft>
              <a:defRPr sz="1800">
                <a:solidFill>
                  <a:srgbClr val="2D2D2D"/>
                </a:solidFill>
              </a:defRPr>
            </a:pPr>
            <a:r>
              <a:t>•  The composition balances asymmetry with rhythm. A thin, high‑resolution divider line anchors the visual flow, while the hierarchy is expressed through scale: the brand name dominates the first page, the feature list is organized in clean, left‑aligned bullet points, and the value proposition is highlighted with a subtle weight shift. Every margin, every gutter, every pixel is the product of painstaking attention, echoing the craftsmanship of a hand‑finished product.</a:t>
            </a:r>
          </a:p>
          <a:p>
            <a:pPr>
              <a:spcAft>
                <a:spcPts val="800"/>
              </a:spcAft>
              <a:defRPr sz="1800">
                <a:solidFill>
                  <a:srgbClr val="2D2D2D"/>
                </a:solidFill>
              </a:defRPr>
            </a:pPr>
            <a:r>
              <a:t>•  In the final execution, the brochure feels like a museum‑quality artifact: a seamless blend of form, space, and color that communicates the essence of Aiden IWO without a single superfluous flourish. The result is a master‑crafted, Apple‑style PDF that invites the viewer to pause, absorb, and be inspired.</a:t>
            </a:r>
          </a:p>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Apple‑Style 2‑Page PDF – Aiden IWO Brochure (`Aiden_IWO_Apple_Brochure.pdf`)</a:t>
            </a:r>
          </a:p>
          <a:p>
            <a:pPr>
              <a:spcAft>
                <a:spcPts val="800"/>
              </a:spcAft>
              <a:defRPr sz="1800">
                <a:solidFill>
                  <a:srgbClr val="2D2D2D"/>
                </a:solidFill>
              </a:defRPr>
            </a:pPr>
            <a:r>
              <a:t>•  [Download PDF](/file/Aiden_IWO_Apple_Brochure.pdf)</a:t>
            </a:r>
          </a:p>
          <a:p>
            <a:pPr>
              <a:spcAft>
                <a:spcPts val="800"/>
              </a:spcAft>
              <a:defRPr sz="1800">
                <a:solidFill>
                  <a:srgbClr val="2D2D2D"/>
                </a:solidFill>
              </a:defRPr>
            </a:pPr>
            <a:r>
              <a:t>•  Here is the final Aiden IWO brochure PDF. It follows the Apple‑style minimalism, includes the mission statement, features, and value proposition, and meets all design and content requirements. You can download the completed file here: /file/Aiden_IWO_Apple_Brochure.pdf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44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