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C53"/>
        </a:solidFill>
        <a:effectLst/>
      </p:bgPr>
    </p:bg>
    <p:spTree>
      <p:nvGrpSpPr>
        <p:cNvPr id="1" name=""/>
        <p:cNvGrpSpPr/>
        <p:nvPr/>
      </p:nvGrpSpPr>
      <p:grpSpPr/>
      <p:sp>
        <p:nvSpPr>
          <p:cNvPr id="2" name="TextBox 1"/>
          <p:cNvSpPr txBox="1"/>
          <p:nvPr/>
        </p:nvSpPr>
        <p:spPr>
          <a:xfrm>
            <a:off x="914400" y="2011680"/>
            <a:ext cx="10362895" cy="1828800"/>
          </a:xfrm>
          <a:prstGeom prst="rect">
            <a:avLst/>
          </a:prstGeom>
          <a:noFill/>
        </p:spPr>
        <p:txBody>
          <a:bodyPr wrap="square">
            <a:spAutoFit/>
          </a:bodyPr>
          <a:lstStyle/>
          <a:p>
            <a:pPr algn="ctr">
              <a:defRPr sz="4400" b="1">
                <a:solidFill>
                  <a:srgbClr val="FFFFFF"/>
                </a:solidFill>
              </a:defRPr>
            </a:pPr>
            <a:r>
              <a:t>AIDEN Platform PDF Brief</a:t>
            </a:r>
          </a:p>
        </p:txBody>
      </p:sp>
      <p:sp>
        <p:nvSpPr>
          <p:cNvPr id="3" name="Rectangle 2"/>
          <p:cNvSpPr/>
          <p:nvPr/>
        </p:nvSpPr>
        <p:spPr>
          <a:xfrm>
            <a:off x="4114800" y="4023360"/>
            <a:ext cx="3962095" cy="508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 AIDEN IWO – Integrated Workflow Orchestrator</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What is AIDEN IWO?</a:t>
            </a:r>
          </a:p>
          <a:p>
            <a:pPr>
              <a:spcAft>
                <a:spcPts val="800"/>
              </a:spcAft>
              <a:defRPr sz="1800">
                <a:solidFill>
                  <a:srgbClr val="2D2D2D"/>
                </a:solidFill>
              </a:defRPr>
            </a:pPr>
            <a:r>
              <a:t>•  AIDEN IWO (Intelligent Work‑flow Orchestrator) is the core coordination engine of the AIDEN platform. It dynamically routes tasks, enforces tiered authority, and synchronises sub‑agents across functional domains, ensuring that every request follows the prescribed governance model while preserving end‑to‑end traceability.</a:t>
            </a:r>
          </a:p>
          <a:p>
            <a:pPr>
              <a:spcAft>
                <a:spcPts val="800"/>
              </a:spcAft>
              <a:defRPr sz="1800">
                <a:solidFill>
                  <a:srgbClr val="2D2D2D"/>
                </a:solidFill>
              </a:defRPr>
            </a:pPr>
            <a:r>
              <a:t>•  Top Three Benefits</a:t>
            </a:r>
          </a:p>
          <a:p>
            <a:pPr>
              <a:spcAft>
                <a:spcPts val="800"/>
              </a:spcAft>
              <a:defRPr sz="1800">
                <a:solidFill>
                  <a:srgbClr val="2D2D2D"/>
                </a:solidFill>
              </a:defRPr>
            </a:pPr>
            <a:r>
              <a:t>•  1. Consistent Governance – Enforces Tier 1, 1.5, 2 policies automatically, eliminating manual oversight gaps and reducing compliance risk.</a:t>
            </a:r>
          </a:p>
          <a:p>
            <a:pPr>
              <a:spcAft>
                <a:spcPts val="800"/>
              </a:spcAft>
              <a:defRPr sz="1800">
                <a:solidFill>
                  <a:srgbClr val="2D2D2D"/>
                </a:solidFill>
              </a:defRPr>
            </a:pPr>
            <a:r>
              <a:t>•  2. Scalable Agility – Decouples decision‑making from execution, allowing sub‑agents to act in parallel while the orchestrator resolves dependencies in real time.</a:t>
            </a:r>
          </a:p>
          <a:p>
            <a:pPr>
              <a:spcAft>
                <a:spcPts val="800"/>
              </a:spcAft>
              <a:defRPr sz="1800">
                <a:solidFill>
                  <a:srgbClr val="2D2D2D"/>
                </a:solidFill>
              </a:defRPr>
            </a:pPr>
            <a:r>
              <a:t>•  3. Transparent Accountability – Generates immutable audit trails for every step, supporting rapid post‑mortem analysis and continuous improvement.</a:t>
            </a:r>
          </a:p>
          <a:p>
            <a:pPr>
              <a:spcAft>
                <a:spcPts val="800"/>
              </a:spcAft>
              <a:defRPr sz="1800">
                <a:solidFill>
                  <a:srgbClr val="2D2D2D"/>
                </a:solidFill>
              </a:defRPr>
            </a:pPr>
            <a:r>
              <a:t>•  Representative Use‑Case Scenarios</a:t>
            </a:r>
          </a:p>
          <a:p>
            <a:pPr>
              <a:spcAft>
                <a:spcPts val="800"/>
              </a:spcAft>
              <a:defRPr sz="1800">
                <a:solidFill>
                  <a:srgbClr val="2D2D2D"/>
                </a:solidFill>
              </a:defRPr>
            </a:pPr>
            <a:r>
              <a:t>•  Cross‑Team Campaign Launch – Marketing defines a new product launch; AIDEN IWO validates budget limits, triggers creative production, schedules social media rollout, and notifies sales, all while logging approvals for finance.</a:t>
            </a:r>
          </a:p>
          <a:p>
            <a:pPr>
              <a:spcAft>
                <a:spcPts val="800"/>
              </a:spcAft>
              <a:defRPr sz="1800">
                <a:solidFill>
                  <a:srgbClr val="2D2D2D"/>
                </a:solidFill>
              </a:defRPr>
            </a:pPr>
            <a:r>
              <a:t>•  Regulatory Reporting Automation – The compliance team submits a quarterly filing request; the orchestrator routes data extraction to the analytics sub‑agent, formats the report, applies encryption, and delivers it to the regulator with a full compliance audit record.</a:t>
            </a:r>
          </a:p>
          <a:p>
            <a:pPr>
              <a:spcAft>
                <a:spcPts val="800"/>
              </a:spcAft>
              <a:defRPr sz="1800">
                <a:solidFill>
                  <a:srgbClr val="2D2D2D"/>
                </a:solidFill>
              </a:defRPr>
            </a:pPr>
            <a:r>
              <a:t>•  Incident Response Coordination – When an outage is detected, AIDEN IWO automatically assembles the incident response team, assigns diagnostic tasks to engineering sub‑agents, updates stakeholders via internal comms, and compiles a post‑incident review document.</a:t>
            </a:r>
          </a:p>
          <a:p>
            <a:pPr>
              <a:spcAft>
                <a:spcPts val="800"/>
              </a:spcAft>
              <a:defRPr sz="1800">
                <a:solidFill>
                  <a:srgbClr val="2D2D2D"/>
                </a:solidFill>
              </a:defRPr>
            </a:pPr>
            <a:r>
              <a:t>•  Prepared for internal distribution – concise, one‑page brief.</a:t>
            </a:r>
          </a:p>
          <a:p>
            <a:pPr>
              <a:spcAft>
                <a:spcPts val="800"/>
              </a:spcAft>
              <a:defRPr sz="1800">
                <a:solidFill>
                  <a:srgbClr val="2D2D2D"/>
                </a:solidFill>
              </a:defRPr>
            </a:pPr>
            <a:r>
              <a:t>•  # AIDEN IWO – Integrated Workflow Orchestrator</a:t>
            </a:r>
          </a:p>
          <a:p>
            <a:pPr>
              <a:spcAft>
                <a:spcPts val="800"/>
              </a:spcAft>
              <a:defRPr sz="1800">
                <a:solidFill>
                  <a:srgbClr val="2D2D2D"/>
                </a:solidFill>
              </a:defRPr>
            </a:pPr>
            <a:r>
              <a:t>•  ### What is AIDEN IWO?</a:t>
            </a:r>
          </a:p>
          <a:p>
            <a:pPr>
              <a:spcAft>
                <a:spcPts val="800"/>
              </a:spcAft>
              <a:defRPr sz="1800">
                <a:solidFill>
                  <a:srgbClr val="2D2D2D"/>
                </a:solidFill>
              </a:defRPr>
            </a:pPr>
            <a:r>
              <a:t>•  AIDEN IWO (Intelligent Workflow Orchestrator) is the central coordination engine of the AIDEN platform. It dynamically routes tasks, enforces tiered authority, and synchronises sub‑agents across functional domains, ensuring every request follows governance policies while maintaining end‑to‑end traceability.</a:t>
            </a:r>
          </a:p>
          <a:p>
            <a:pPr>
              <a:spcAft>
                <a:spcPts val="800"/>
              </a:spcAft>
              <a:defRPr sz="1800">
                <a:solidFill>
                  <a:srgbClr val="2D2D2D"/>
                </a:solidFill>
              </a:defRPr>
            </a:pPr>
            <a:r>
              <a:t>•  ### Key Benefits</a:t>
            </a:r>
          </a:p>
          <a:p>
            <a:pPr>
              <a:spcAft>
                <a:spcPts val="800"/>
              </a:spcAft>
              <a:defRPr sz="1800">
                <a:solidFill>
                  <a:srgbClr val="2D2D2D"/>
                </a:solidFill>
              </a:defRPr>
            </a:pPr>
            <a:r>
              <a:t>•  Consistent Governance – Automatic enforcement of Tier 1, 1.5, 2 policies eliminates manual oversight gaps and reduces compliance risk.</a:t>
            </a:r>
          </a:p>
          <a:p>
            <a:pPr>
              <a:spcAft>
                <a:spcPts val="800"/>
              </a:spcAft>
              <a:defRPr sz="1800">
                <a:solidFill>
                  <a:srgbClr val="2D2D2D"/>
                </a:solidFill>
              </a:defRPr>
            </a:pPr>
            <a:r>
              <a:t>•  Scalable Agility – Decouples decision‑making from execution, allowing sub‑agents to act in parallel while the orchestrator resolves dependencies in real time.</a:t>
            </a:r>
          </a:p>
          <a:p>
            <a:pPr>
              <a:spcAft>
                <a:spcPts val="800"/>
              </a:spcAft>
              <a:defRPr sz="1800">
                <a:solidFill>
                  <a:srgbClr val="2D2D2D"/>
                </a:solidFill>
              </a:defRPr>
            </a:pPr>
            <a:r>
              <a:t>•  Transparent Accountability – Generates immutable audit trails for every step, supporting rapid post‑mortem analysis and continuous improvement.</a:t>
            </a:r>
          </a:p>
          <a:p>
            <a:pPr>
              <a:spcAft>
                <a:spcPts val="800"/>
              </a:spcAft>
              <a:defRPr sz="1800">
                <a:solidFill>
                  <a:srgbClr val="2D2D2D"/>
                </a:solidFill>
              </a:defRPr>
            </a:pPr>
            <a:r>
              <a:t>•  ### Use Cases</a:t>
            </a:r>
          </a:p>
          <a:p>
            <a:pPr>
              <a:spcAft>
                <a:spcPts val="800"/>
              </a:spcAft>
              <a:defRPr sz="1800">
                <a:solidFill>
                  <a:srgbClr val="2D2D2D"/>
                </a:solidFill>
              </a:defRPr>
            </a:pPr>
            <a:r>
              <a:t>•  Cross‑Team Campaign Launch – Marketing defines a new product launch; AIDEN IWO validates budget limits, triggers creative production, schedules social media rollout, and notifies sales, all while logging approvals for finance.</a:t>
            </a:r>
          </a:p>
          <a:p>
            <a:pPr>
              <a:spcAft>
                <a:spcPts val="800"/>
              </a:spcAft>
              <a:defRPr sz="1800">
                <a:solidFill>
                  <a:srgbClr val="2D2D2D"/>
                </a:solidFill>
              </a:defRPr>
            </a:pPr>
            <a:r>
              <a:t>•  Regulatory Reporting Automation – Compliance submits a quarterly filing request; the orchestrator routes data extraction to analytics, formats the report, applies encryption, and delivers it to the regulator with a full audit record.</a:t>
            </a:r>
          </a:p>
          <a:p>
            <a:pPr>
              <a:spcAft>
                <a:spcPts val="800"/>
              </a:spcAft>
              <a:defRPr sz="1800">
                <a:solidFill>
                  <a:srgbClr val="2D2D2D"/>
                </a:solidFill>
              </a:defRPr>
            </a:pPr>
            <a:r>
              <a:t>•  Incident Response Coordination – An outage is detected; AIDEN IWO automatically assembles the response team, assigns diagnostic tasks to engineering sub‑agents, updates stakeholders via internal comms, and compiles a post‑incident review document.</a:t>
            </a:r>
          </a:p>
          <a:p>
            <a:pPr>
              <a:spcAft>
                <a:spcPts val="800"/>
              </a:spcAft>
              <a:defRPr sz="1800">
                <a:solidFill>
                  <a:srgbClr val="2D2D2D"/>
                </a:solidFill>
              </a:defRPr>
            </a:pPr>
            <a:r>
              <a:t>•  Prepared for internal distribution – concise, one‑page brief.</a:t>
            </a:r>
          </a:p>
          <a:p>
            <a:pPr>
              <a:spcAft>
                <a:spcPts val="800"/>
              </a:spcAft>
              <a:defRPr sz="1800">
                <a:solidFill>
                  <a:srgbClr val="2D2D2D"/>
                </a:solidFill>
              </a:defRPr>
            </a:pPr>
            <a:r>
              <a:t>•  # Layout Blueprint – One‑Page AIDEN IWO Brief</a:t>
            </a:r>
          </a:p>
          <a:p>
            <a:pPr>
              <a:spcAft>
                <a:spcPts val="800"/>
              </a:spcAft>
              <a:defRPr sz="1800">
                <a:solidFill>
                  <a:srgbClr val="2D2D2D"/>
                </a:solidFill>
              </a:defRPr>
            </a:pPr>
            <a:r>
              <a:t>•  Page size: US Letter (8.5" × 11") – portrait.</a:t>
            </a:r>
          </a:p>
          <a:p>
            <a:pPr>
              <a:spcAft>
                <a:spcPts val="800"/>
              </a:spcAft>
              <a:defRPr sz="1800">
                <a:solidFill>
                  <a:srgbClr val="2D2D2D"/>
                </a:solidFill>
              </a:defRPr>
            </a:pPr>
            <a:r>
              <a:t>•  Margins: 0.5" (12.7 mm) on all sides to ensure ample white‑space and printable safety.</a:t>
            </a:r>
          </a:p>
          <a:p>
            <a:pPr>
              <a:spcAft>
                <a:spcPts val="800"/>
              </a:spcAft>
              <a:defRPr sz="1800">
                <a:solidFill>
                  <a:srgbClr val="2D2D2D"/>
                </a:solidFill>
              </a:defRPr>
            </a:pPr>
            <a:r>
              <a: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Visual Hierarchy</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 Level | Element | Font (Anthropic brand) | Size | Weight | Color | Placement |</a:t>
            </a:r>
          </a:p>
          <a:p>
            <a:pPr>
              <a:spcAft>
                <a:spcPts val="800"/>
              </a:spcAft>
              <a:defRPr sz="1800">
                <a:solidFill>
                  <a:srgbClr val="2D2D2D"/>
                </a:solidFill>
              </a:defRPr>
            </a:pPr>
            <a:r>
              <a:t>•  |-------|---------|------------------------|------|--------|-------|-----------|</a:t>
            </a:r>
          </a:p>
          <a:p>
            <a:pPr>
              <a:spcAft>
                <a:spcPts val="800"/>
              </a:spcAft>
              <a:defRPr sz="1800">
                <a:solidFill>
                  <a:srgbClr val="2D2D2D"/>
                </a:solidFill>
              </a:defRPr>
            </a:pPr>
            <a:r>
              <a:t>•  | 1 | Document Title (e.g., AIDEN IWO – Integrated Workflow Orchestrator) | Poppins (heading) | 28 pt | Bold | Dark Navy `#141413` | Top‑center, below logo placeholder |</a:t>
            </a:r>
          </a:p>
          <a:p>
            <a:pPr>
              <a:spcAft>
                <a:spcPts val="800"/>
              </a:spcAft>
              <a:defRPr sz="1800">
                <a:solidFill>
                  <a:srgbClr val="2D2D2D"/>
                </a:solidFill>
              </a:defRPr>
            </a:pPr>
            <a:r>
              <a:t>•  | 2 | Section Headings (What is AIDEN IWO?, Key Benefits, Use Cases) | Poppins | 20 pt | Semi‑Bold | Dark Navy | Left‑aligned, start of each column |</a:t>
            </a:r>
          </a:p>
          <a:p>
            <a:pPr>
              <a:spcAft>
                <a:spcPts val="800"/>
              </a:spcAft>
              <a:defRPr sz="1800">
                <a:solidFill>
                  <a:srgbClr val="2D2D2D"/>
                </a:solidFill>
              </a:defRPr>
            </a:pPr>
            <a:r>
              <a:t>•  | 3 | Body Copy | Lora (body) | 12 pt | Regular | Dark Gray `#2D2D2D` | Justified within column width |</a:t>
            </a:r>
          </a:p>
          <a:p>
            <a:pPr>
              <a:spcAft>
                <a:spcPts val="800"/>
              </a:spcAft>
              <a:defRPr sz="1800">
                <a:solidFill>
                  <a:srgbClr val="2D2D2D"/>
                </a:solidFill>
              </a:defRPr>
            </a:pPr>
            <a:r>
              <a:t>•  | 4 | Call‑out Icons (optional) | — | 16 pt (icon size) | — | Accent Orange `#d97757` | Inline with bullet points or as side‑decorative elements |</a:t>
            </a:r>
          </a:p>
          <a:p>
            <a:pPr>
              <a:spcAft>
                <a:spcPts val="800"/>
              </a:spcAft>
              <a:defRPr sz="1800">
                <a:solidFill>
                  <a:srgbClr val="2D2D2D"/>
                </a:solidFill>
              </a:defRPr>
            </a:pPr>
            <a:r>
              <a: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Column Layout</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Two‑column grid (flexible for print or screen):</a:t>
            </a:r>
          </a:p>
          <a:p>
            <a:pPr>
              <a:spcAft>
                <a:spcPts val="800"/>
              </a:spcAft>
              <a:defRPr sz="1800">
                <a:solidFill>
                  <a:srgbClr val="2D2D2D"/>
                </a:solidFill>
              </a:defRPr>
            </a:pPr>
            <a:r>
              <a:t>•  Left column – 30 % of usable width (≈2.2 in). Reserved for visual branding:</a:t>
            </a:r>
          </a:p>
          <a:p>
            <a:pPr>
              <a:spcAft>
                <a:spcPts val="800"/>
              </a:spcAft>
              <a:defRPr sz="1800">
                <a:solidFill>
                  <a:srgbClr val="2D2D2D"/>
                </a:solidFill>
              </a:defRPr>
            </a:pPr>
            <a:r>
              <a:t>•  [LOGO] placeholder (max height 1.0 in, centered vertically).</a:t>
            </a:r>
          </a:p>
          <a:p>
            <a:pPr>
              <a:spcAft>
                <a:spcPts val="800"/>
              </a:spcAft>
              <a:defRPr sz="1800">
                <a:solidFill>
                  <a:srgbClr val="2D2D2D"/>
                </a:solidFill>
              </a:defRPr>
            </a:pPr>
            <a:r>
              <a:t>•  Optional vertical stack of up to three [ICON] placeholders (e.g., for benefits or use‑case icons) spaced 0.2 in apart.</a:t>
            </a:r>
          </a:p>
          <a:p>
            <a:pPr>
              <a:spcAft>
                <a:spcPts val="800"/>
              </a:spcAft>
              <a:defRPr sz="1800">
                <a:solidFill>
                  <a:srgbClr val="2D2D2D"/>
                </a:solidFill>
              </a:defRPr>
            </a:pPr>
            <a:r>
              <a:t>•  Right column – 70 % of usable width (≈5.0 in). Holds all textual content:</a:t>
            </a:r>
          </a:p>
          <a:p>
            <a:pPr>
              <a:spcAft>
                <a:spcPts val="800"/>
              </a:spcAft>
              <a:defRPr sz="1800">
                <a:solidFill>
                  <a:srgbClr val="2D2D2D"/>
                </a:solidFill>
              </a:defRPr>
            </a:pPr>
            <a:r>
              <a:t>•  Title (centered across both columns, but visually anchored to the right column width).</a:t>
            </a:r>
          </a:p>
          <a:p>
            <a:pPr>
              <a:spcAft>
                <a:spcPts val="800"/>
              </a:spcAft>
              <a:defRPr sz="1800">
                <a:solidFill>
                  <a:srgbClr val="2D2D2D"/>
                </a:solidFill>
              </a:defRPr>
            </a:pPr>
            <a:r>
              <a:t>•  Body sections with clear heading hierarchy.</a:t>
            </a:r>
          </a:p>
          <a:p>
            <a:pPr>
              <a:spcAft>
                <a:spcPts val="800"/>
              </a:spcAft>
              <a:defRPr sz="1800">
                <a:solidFill>
                  <a:srgbClr val="2D2D2D"/>
                </a:solidFill>
              </a:defRPr>
            </a:pPr>
            <a:r>
              <a:t>•  Bulleted lists for benefits and use‑case summaries.</a:t>
            </a:r>
          </a:p>
          <a:p>
            <a:pPr>
              <a:spcAft>
                <a:spcPts val="800"/>
              </a:spcAft>
              <a:defRPr sz="1800">
                <a:solidFill>
                  <a:srgbClr val="2D2D2D"/>
                </a:solidFill>
              </a:defRPr>
            </a:pP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4</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Header Block (Top of Page)</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t>
            </a:r>
          </a:p>
          <a:p>
            <a:pPr>
              <a:spcAft>
                <a:spcPts val="800"/>
              </a:spcAft>
              <a:defRPr sz="1800">
                <a:solidFill>
                  <a:srgbClr val="2D2D2D"/>
                </a:solidFill>
              </a:defRPr>
            </a:pPr>
            <a:r>
              <a:t>•  +----------------------------------------------------------+</a:t>
            </a:r>
          </a:p>
          <a:p>
            <a:pPr>
              <a:spcAft>
                <a:spcPts val="800"/>
              </a:spcAft>
              <a:defRPr sz="1800">
                <a:solidFill>
                  <a:srgbClr val="2D2D2D"/>
                </a:solidFill>
              </a:defRPr>
            </a:pPr>
            <a:r>
              <a:t>•  |                     [LOGO]                               |</a:t>
            </a:r>
          </a:p>
          <a:p>
            <a:pPr>
              <a:spcAft>
                <a:spcPts val="800"/>
              </a:spcAft>
              <a:defRPr sz="1800">
                <a:solidFill>
                  <a:srgbClr val="2D2D2D"/>
                </a:solidFill>
              </a:defRPr>
            </a:pPr>
            <a:r>
              <a:t>•  |                                                          |</a:t>
            </a:r>
          </a:p>
          <a:p>
            <a:pPr>
              <a:spcAft>
                <a:spcPts val="800"/>
              </a:spcAft>
              <a:defRPr sz="1800">
                <a:solidFill>
                  <a:srgbClr val="2D2D2D"/>
                </a:solidFill>
              </a:defRPr>
            </a:pPr>
            <a:r>
              <a:t>•  |            AIDEN IWO – Integrated Workflow Orchestrator |</a:t>
            </a:r>
          </a:p>
          <a:p>
            <a:pPr>
              <a:spcAft>
                <a:spcPts val="800"/>
              </a:spcAft>
              <a:defRPr sz="1800">
                <a:solidFill>
                  <a:srgbClr val="2D2D2D"/>
                </a:solidFill>
              </a:defRPr>
            </a:pPr>
            <a:r>
              <a:t>•  +----------------------------------------------------------+</a:t>
            </a:r>
          </a:p>
          <a:p>
            <a:pPr>
              <a:spcAft>
                <a:spcPts val="800"/>
              </a:spcAft>
              <a:defRPr sz="1800">
                <a:solidFill>
                  <a:srgbClr val="2D2D2D"/>
                </a:solidFill>
              </a:defRPr>
            </a:pPr>
            <a:r>
              <a:t>•  ```</a:t>
            </a:r>
          </a:p>
          <a:p>
            <a:pPr>
              <a:spcAft>
                <a:spcPts val="800"/>
              </a:spcAft>
              <a:defRPr sz="1800">
                <a:solidFill>
                  <a:srgbClr val="2D2D2D"/>
                </a:solidFill>
              </a:defRPr>
            </a:pPr>
            <a:r>
              <a:t>•  The logo sits in the left column, centered horizontally.</a:t>
            </a:r>
          </a:p>
          <a:p>
            <a:pPr>
              <a:spcAft>
                <a:spcPts val="800"/>
              </a:spcAft>
              <a:defRPr sz="1800">
                <a:solidFill>
                  <a:srgbClr val="2D2D2D"/>
                </a:solidFill>
              </a:defRPr>
            </a:pPr>
            <a:r>
              <a:t>•  The title spans the full page width but is typographically aligned with the right‑column text block for visual continuity.</a:t>
            </a:r>
          </a:p>
          <a:p>
            <a:pPr>
              <a:spcAft>
                <a:spcPts val="800"/>
              </a:spcAft>
              <a:defRPr sz="1800">
                <a:solidFill>
                  <a:srgbClr val="2D2D2D"/>
                </a:solidFill>
              </a:defRPr>
            </a:pPr>
            <a:r>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5</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Body Block (Right Column)</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t>
            </a:r>
          </a:p>
          <a:p>
            <a:pPr>
              <a:spcAft>
                <a:spcPts val="800"/>
              </a:spcAft>
              <a:defRPr sz="1800">
                <a:solidFill>
                  <a:srgbClr val="2D2D2D"/>
                </a:solidFill>
              </a:defRPr>
            </a:pPr>
            <a:r>
              <a:t>•  +----------------------------------------------------------+</a:t>
            </a:r>
          </a:p>
          <a:p>
            <a:pPr>
              <a:spcAft>
                <a:spcPts val="800"/>
              </a:spcAft>
              <a:defRPr sz="1800">
                <a:solidFill>
                  <a:srgbClr val="2D2D2D"/>
                </a:solidFill>
              </a:defRPr>
            </a:pPr>
            <a:r>
              <a:t>•  | What is AIDEN IWO?                                       |</a:t>
            </a:r>
          </a:p>
          <a:p>
            <a:pPr>
              <a:spcAft>
                <a:spcPts val="800"/>
              </a:spcAft>
              <a:defRPr sz="1800">
                <a:solidFill>
                  <a:srgbClr val="2D2D2D"/>
                </a:solidFill>
              </a:defRPr>
            </a:pPr>
            <a:r>
              <a:t>•  | -------------------------------------------------------- |</a:t>
            </a:r>
          </a:p>
          <a:p>
            <a:pPr>
              <a:spcAft>
                <a:spcPts val="800"/>
              </a:spcAft>
              <a:defRPr sz="1800">
                <a:solidFill>
                  <a:srgbClr val="2D2D2D"/>
                </a:solidFill>
              </a:defRPr>
            </a:pPr>
            <a:r>
              <a:t>•  | AIDEN IWO (Intelligent Workflow Orchestrator) is the   |</a:t>
            </a:r>
          </a:p>
          <a:p>
            <a:pPr>
              <a:spcAft>
                <a:spcPts val="800"/>
              </a:spcAft>
              <a:defRPr sz="1800">
                <a:solidFill>
                  <a:srgbClr val="2D2D2D"/>
                </a:solidFill>
              </a:defRPr>
            </a:pPr>
            <a:r>
              <a:t>•  | core coordination engine of the AIDEN platform. It      |</a:t>
            </a:r>
          </a:p>
          <a:p>
            <a:pPr>
              <a:spcAft>
                <a:spcPts val="800"/>
              </a:spcAft>
              <a:defRPr sz="1800">
                <a:solidFill>
                  <a:srgbClr val="2D2D2D"/>
                </a:solidFill>
              </a:defRPr>
            </a:pPr>
            <a:r>
              <a:t>•  | dynamically routes tasks, enforces tiered authority, and |</a:t>
            </a:r>
          </a:p>
          <a:p>
            <a:pPr>
              <a:spcAft>
                <a:spcPts val="800"/>
              </a:spcAft>
              <a:defRPr sz="1800">
                <a:solidFill>
                  <a:srgbClr val="2D2D2D"/>
                </a:solidFill>
              </a:defRPr>
            </a:pPr>
            <a:r>
              <a:t>•  | synchronises sub‑agents across functional domains,       |</a:t>
            </a:r>
          </a:p>
          <a:p>
            <a:pPr>
              <a:spcAft>
                <a:spcPts val="800"/>
              </a:spcAft>
              <a:defRPr sz="1800">
                <a:solidFill>
                  <a:srgbClr val="2D2D2D"/>
                </a:solidFill>
              </a:defRPr>
            </a:pPr>
            <a:r>
              <a:t>•  | ensuring every request follows governance while preserving|</a:t>
            </a:r>
          </a:p>
          <a:p>
            <a:pPr>
              <a:spcAft>
                <a:spcPts val="800"/>
              </a:spcAft>
              <a:defRPr sz="1800">
                <a:solidFill>
                  <a:srgbClr val="2D2D2D"/>
                </a:solidFill>
              </a:defRPr>
            </a:pPr>
            <a:r>
              <a:t>•  | end‑to‑end traceability.                                 |</a:t>
            </a:r>
          </a:p>
          <a:p>
            <a:pPr>
              <a:spcAft>
                <a:spcPts val="800"/>
              </a:spcAft>
              <a:defRPr sz="1800">
                <a:solidFill>
                  <a:srgbClr val="2D2D2D"/>
                </a:solidFill>
              </a:defRPr>
            </a:pPr>
            <a:r>
              <a:t>•  |                                                          |</a:t>
            </a:r>
          </a:p>
          <a:p>
            <a:pPr>
              <a:spcAft>
                <a:spcPts val="800"/>
              </a:spcAft>
              <a:defRPr sz="1800">
                <a:solidFill>
                  <a:srgbClr val="2D2D2D"/>
                </a:solidFill>
              </a:defRPr>
            </a:pPr>
            <a:r>
              <a:t>•  | Key Benefits                                              |</a:t>
            </a:r>
          </a:p>
          <a:p>
            <a:pPr>
              <a:spcAft>
                <a:spcPts val="800"/>
              </a:spcAft>
              <a:defRPr sz="1800">
                <a:solidFill>
                  <a:srgbClr val="2D2D2D"/>
                </a:solidFill>
              </a:defRPr>
            </a:pPr>
            <a:r>
              <a:t>•  | -------------------------------------------------------- |</a:t>
            </a:r>
          </a:p>
          <a:p>
            <a:pPr>
              <a:spcAft>
                <a:spcPts val="800"/>
              </a:spcAft>
              <a:defRPr sz="1800">
                <a:solidFill>
                  <a:srgbClr val="2D2D2D"/>
                </a:solidFill>
              </a:defRPr>
            </a:pPr>
            <a:r>
              <a:t>•  | • Consistent Governance – automatic policy enforcement   |</a:t>
            </a:r>
          </a:p>
          <a:p>
            <a:pPr>
              <a:spcAft>
                <a:spcPts val="800"/>
              </a:spcAft>
              <a:defRPr sz="1800">
                <a:solidFill>
                  <a:srgbClr val="2D2D2D"/>
                </a:solidFill>
              </a:defRPr>
            </a:pPr>
            <a:r>
              <a:t>•  |   reduces compliance risk.                               |</a:t>
            </a:r>
          </a:p>
          <a:p>
            <a:pPr>
              <a:spcAft>
                <a:spcPts val="800"/>
              </a:spcAft>
              <a:defRPr sz="1800">
                <a:solidFill>
                  <a:srgbClr val="2D2D2D"/>
                </a:solidFill>
              </a:defRPr>
            </a:pPr>
            <a:r>
              <a:t>•  | • Scalable Agility – parallel sub‑agent execution enables|</a:t>
            </a:r>
          </a:p>
          <a:p>
            <a:pPr>
              <a:spcAft>
                <a:spcPts val="800"/>
              </a:spcAft>
              <a:defRPr sz="1800">
                <a:solidFill>
                  <a:srgbClr val="2D2D2D"/>
                </a:solidFill>
              </a:defRPr>
            </a:pPr>
            <a:r>
              <a:t>•  |   rapid response to change.                              |</a:t>
            </a:r>
          </a:p>
          <a:p>
            <a:pPr>
              <a:spcAft>
                <a:spcPts val="800"/>
              </a:spcAft>
              <a:defRPr sz="1800">
                <a:solidFill>
                  <a:srgbClr val="2D2D2D"/>
                </a:solidFill>
              </a:defRPr>
            </a:pPr>
            <a:r>
              <a:t>•  | • Transparent Accountability – immutable audit trails for |</a:t>
            </a:r>
          </a:p>
          <a:p>
            <a:pPr>
              <a:spcAft>
                <a:spcPts val="800"/>
              </a:spcAft>
              <a:defRPr sz="1800">
                <a:solidFill>
                  <a:srgbClr val="2D2D2D"/>
                </a:solidFill>
              </a:defRPr>
            </a:pPr>
            <a:r>
              <a:t>•  |   every step support post‑mortem analysis.               |</a:t>
            </a:r>
          </a:p>
          <a:p>
            <a:pPr>
              <a:spcAft>
                <a:spcPts val="800"/>
              </a:spcAft>
              <a:defRPr sz="1800">
                <a:solidFill>
                  <a:srgbClr val="2D2D2D"/>
                </a:solidFill>
              </a:defRPr>
            </a:pPr>
            <a:r>
              <a:t>•  |                                                          |</a:t>
            </a:r>
          </a:p>
          <a:p>
            <a:pPr>
              <a:spcAft>
                <a:spcPts val="800"/>
              </a:spcAft>
              <a:defRPr sz="1800">
                <a:solidFill>
                  <a:srgbClr val="2D2D2D"/>
                </a:solidFill>
              </a:defRPr>
            </a:pPr>
            <a:r>
              <a:t>•  | Use Cases                                                |</a:t>
            </a:r>
          </a:p>
          <a:p>
            <a:pPr>
              <a:spcAft>
                <a:spcPts val="800"/>
              </a:spcAft>
              <a:defRPr sz="1800">
                <a:solidFill>
                  <a:srgbClr val="2D2D2D"/>
                </a:solidFill>
              </a:defRPr>
            </a:pPr>
            <a:r>
              <a:t>•  | -------------------------------------------------------- |</a:t>
            </a:r>
          </a:p>
          <a:p>
            <a:pPr>
              <a:spcAft>
                <a:spcPts val="800"/>
              </a:spcAft>
              <a:defRPr sz="1800">
                <a:solidFill>
                  <a:srgbClr val="2D2D2D"/>
                </a:solidFill>
              </a:defRPr>
            </a:pPr>
            <a:r>
              <a:t>•  | • Cross‑Team Campaign Launch – budget validation, creative|</a:t>
            </a:r>
          </a:p>
          <a:p>
            <a:pPr>
              <a:spcAft>
                <a:spcPts val="800"/>
              </a:spcAft>
              <a:defRPr sz="1800">
                <a:solidFill>
                  <a:srgbClr val="2D2D2D"/>
                </a:solidFill>
              </a:defRPr>
            </a:pPr>
            <a:r>
              <a:t>•  |   production trigger, rollout scheduling, and finance     |</a:t>
            </a:r>
          </a:p>
          <a:p>
            <a:pPr>
              <a:spcAft>
                <a:spcPts val="800"/>
              </a:spcAft>
              <a:defRPr sz="1800">
                <a:solidFill>
                  <a:srgbClr val="2D2D2D"/>
                </a:solidFill>
              </a:defRPr>
            </a:pPr>
            <a:r>
              <a:t>•  |   approval logging.                                      |</a:t>
            </a:r>
          </a:p>
          <a:p>
            <a:pPr>
              <a:spcAft>
                <a:spcPts val="800"/>
              </a:spcAft>
              <a:defRPr sz="1800">
                <a:solidFill>
                  <a:srgbClr val="2D2D2D"/>
                </a:solidFill>
              </a:defRPr>
            </a:pPr>
            <a:r>
              <a:t>•  | • Regulatory Reporting Automation – data extraction,      |</a:t>
            </a:r>
          </a:p>
          <a:p>
            <a:pPr>
              <a:spcAft>
                <a:spcPts val="800"/>
              </a:spcAft>
              <a:defRPr sz="1800">
                <a:solidFill>
                  <a:srgbClr val="2D2D2D"/>
                </a:solidFill>
              </a:defRPr>
            </a:pPr>
            <a:r>
              <a:t>•  |   formatting, encryption, and secure delivery with full   |</a:t>
            </a:r>
          </a:p>
          <a:p>
            <a:pPr>
              <a:spcAft>
                <a:spcPts val="800"/>
              </a:spcAft>
              <a:defRPr sz="1800">
                <a:solidFill>
                  <a:srgbClr val="2D2D2D"/>
                </a:solidFill>
              </a:defRPr>
            </a:pPr>
            <a:r>
              <a:t>•  |   audit record.                                          |</a:t>
            </a:r>
          </a:p>
          <a:p>
            <a:pPr>
              <a:spcAft>
                <a:spcPts val="800"/>
              </a:spcAft>
              <a:defRPr sz="1800">
                <a:solidFill>
                  <a:srgbClr val="2D2D2D"/>
                </a:solidFill>
              </a:defRPr>
            </a:pPr>
            <a:r>
              <a:t>•  | • Incident Response Coordination – automatic team assembly|</a:t>
            </a:r>
          </a:p>
          <a:p>
            <a:pPr>
              <a:spcAft>
                <a:spcPts val="800"/>
              </a:spcAft>
              <a:defRPr sz="1800">
                <a:solidFill>
                  <a:srgbClr val="2D2D2D"/>
                </a:solidFill>
              </a:defRPr>
            </a:pPr>
            <a:r>
              <a:t>•  |   and task assignment, stakeholder updates, and post‑</a:t>
            </a:r>
          </a:p>
          <a:p>
            <a:pPr>
              <a:spcAft>
                <a:spcPts val="800"/>
              </a:spcAft>
              <a:defRPr sz="1800">
                <a:solidFill>
                  <a:srgbClr val="2D2D2D"/>
                </a:solidFill>
              </a:defRPr>
            </a:pPr>
            <a:r>
              <a:t>•  |   incident review compilation.                           |</a:t>
            </a:r>
          </a:p>
          <a:p>
            <a:pPr>
              <a:spcAft>
                <a:spcPts val="800"/>
              </a:spcAft>
              <a:defRPr sz="1800">
                <a:solidFill>
                  <a:srgbClr val="2D2D2D"/>
                </a:solidFill>
              </a:defRPr>
            </a:pPr>
            <a:r>
              <a:t>•  +----------------------------------------------------------+</a:t>
            </a:r>
          </a:p>
          <a:p>
            <a:pPr>
              <a:spcAft>
                <a:spcPts val="800"/>
              </a:spcAft>
              <a:defRPr sz="1800">
                <a:solidFill>
                  <a:srgbClr val="2D2D2D"/>
                </a:solidFill>
              </a:defRPr>
            </a:pPr>
            <a:r>
              <a:t>•  ```</a:t>
            </a:r>
          </a:p>
          <a:p>
            <a:pPr>
              <a:spcAft>
                <a:spcPts val="800"/>
              </a:spcAft>
              <a:defRPr sz="1800">
                <a:solidFill>
                  <a:srgbClr val="2D2D2D"/>
                </a:solidFill>
              </a:defRPr>
            </a:pPr>
            <a:r>
              <a:t>•  Headings use Level 2 style (20 pt, semi‑bold).</a:t>
            </a:r>
          </a:p>
          <a:p>
            <a:pPr>
              <a:spcAft>
                <a:spcPts val="800"/>
              </a:spcAft>
              <a:defRPr sz="1800">
                <a:solidFill>
                  <a:srgbClr val="2D2D2D"/>
                </a:solidFill>
              </a:defRPr>
            </a:pPr>
            <a:r>
              <a:t>•  Body copy is justified for a clean block appearance.</a:t>
            </a:r>
          </a:p>
          <a:p>
            <a:pPr>
              <a:spcAft>
                <a:spcPts val="800"/>
              </a:spcAft>
              <a:defRPr sz="1800">
                <a:solidFill>
                  <a:srgbClr val="2D2D2D"/>
                </a:solidFill>
              </a:defRPr>
            </a:pPr>
            <a:r>
              <a:t>•  Bulleted items are preceded by a simple disc; optional icons can replace the disc by inserting `[ICON]` before the text.</a:t>
            </a:r>
          </a:p>
          <a:p>
            <a:pPr>
              <a:spcAft>
                <a:spcPts val="800"/>
              </a:spcAft>
              <a:defRPr sz="1800">
                <a:solidFill>
                  <a:srgbClr val="2D2D2D"/>
                </a:solidFill>
              </a:defRPr>
            </a:pPr>
            <a:r>
              <a: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6</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Footer (Optional)</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Small‑print disclaimer or version tag, left‑aligned, 9 pt Lora, color Mid Gray `#b0aea5`.</a:t>
            </a:r>
          </a:p>
          <a:p>
            <a:pPr>
              <a:spcAft>
                <a:spcPts val="800"/>
              </a:spcAft>
              <a:defRPr sz="1800">
                <a:solidFill>
                  <a:srgbClr val="2D2D2D"/>
                </a:solidFill>
              </a:defRPr>
            </a:pPr>
            <a:r>
              <a:t>•  Example placeholder: `Prepared for internal distribution – concise, one‑page brief`.</a:t>
            </a:r>
          </a:p>
          <a:p>
            <a:pPr>
              <a:spcAft>
                <a:spcPts val="800"/>
              </a:spcAft>
              <a:defRPr sz="1800">
                <a:solidFill>
                  <a:srgbClr val="2D2D2D"/>
                </a:solidFill>
              </a:defRPr>
            </a:pPr>
            <a:r>
              <a: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7</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Styling Notes (Anthropic Brand)</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Primary colors: Dark Navy `#141413` (text), Light `#faf9f5` (background), Accent Orange `#d97757` (icons/highlights).</a:t>
            </a:r>
          </a:p>
          <a:p>
            <a:pPr>
              <a:spcAft>
                <a:spcPts val="800"/>
              </a:spcAft>
              <a:defRPr sz="1800">
                <a:solidFill>
                  <a:srgbClr val="2D2D2D"/>
                </a:solidFill>
              </a:defRPr>
            </a:pPr>
            <a:r>
              <a:t>•  Typography: Headings – Poppins; Body – Lora. Use system fallbacks (Arial/Georgia) if unavailable.</a:t>
            </a:r>
          </a:p>
          <a:p>
            <a:pPr>
              <a:spcAft>
                <a:spcPts val="800"/>
              </a:spcAft>
              <a:defRPr sz="1800">
                <a:solidFill>
                  <a:srgbClr val="2D2D2D"/>
                </a:solidFill>
              </a:defRPr>
            </a:pPr>
            <a:r>
              <a:t>•  Spacing: 0.15 in between paragraphs, 0.1 in before/after headings, 0.2 in between bullet lines.</a:t>
            </a:r>
          </a:p>
          <a:p>
            <a:pPr>
              <a:spcAft>
                <a:spcPts val="800"/>
              </a:spcAft>
              <a:defRPr sz="1800">
                <a:solidFill>
                  <a:srgbClr val="2D2D2D"/>
                </a:solidFill>
              </a:defRPr>
            </a:pPr>
            <a:r>
              <a:t>•  Alignment: All left‑column elements centered; right‑column text left‑aligned with justified body.</a:t>
            </a:r>
          </a:p>
          <a:p>
            <a:pPr>
              <a:spcAft>
                <a:spcPts val="800"/>
              </a:spcAft>
              <a:defRPr sz="1800">
                <a:solidFill>
                  <a:srgbClr val="2D2D2D"/>
                </a:solidFill>
              </a:defRPr>
            </a:pPr>
            <a:r>
              <a:t>•  ---</a:t>
            </a:r>
          </a:p>
          <a:p>
            <a:pPr>
              <a:spcAft>
                <a:spcPts val="800"/>
              </a:spcAft>
              <a:defRPr sz="1800">
                <a:solidFill>
                  <a:srgbClr val="2D2D2D"/>
                </a:solidFill>
              </a:defRPr>
            </a:pPr>
            <a:r>
              <a:t>•  ### Deliverable Summary</a:t>
            </a:r>
          </a:p>
          <a:p>
            <a:pPr>
              <a:spcAft>
                <a:spcPts val="800"/>
              </a:spcAft>
              <a:defRPr sz="1800">
                <a:solidFill>
                  <a:srgbClr val="2D2D2D"/>
                </a:solidFill>
              </a:defRPr>
            </a:pPr>
            <a:r>
              <a:t>•  Margins: 0.5" all sides.</a:t>
            </a:r>
          </a:p>
          <a:p>
            <a:pPr>
              <a:spcAft>
                <a:spcPts val="800"/>
              </a:spcAft>
              <a:defRPr sz="1800">
                <a:solidFill>
                  <a:srgbClr val="2D2D2D"/>
                </a:solidFill>
              </a:defRPr>
            </a:pPr>
            <a:r>
              <a:t>•  Columns: 30 % (branding) / 70 % (copy).</a:t>
            </a:r>
          </a:p>
          <a:p>
            <a:pPr>
              <a:spcAft>
                <a:spcPts val="800"/>
              </a:spcAft>
              <a:defRPr sz="1800">
                <a:solidFill>
                  <a:srgbClr val="2D2D2D"/>
                </a:solidFill>
              </a:defRPr>
            </a:pPr>
            <a:r>
              <a:t>•  Hierarchy: Title → Section Headings → Body → Bullets.</a:t>
            </a:r>
          </a:p>
          <a:p>
            <a:pPr>
              <a:spcAft>
                <a:spcPts val="800"/>
              </a:spcAft>
              <a:defRPr sz="1800">
                <a:solidFill>
                  <a:srgbClr val="2D2D2D"/>
                </a:solidFill>
              </a:defRPr>
            </a:pPr>
            <a:r>
              <a:t>•  Placeholders: `[LOGO]` at top left, up to three `[ICON]` slots in left column, optional footer text.</a:t>
            </a:r>
          </a:p>
          <a:p>
            <a:pPr>
              <a:spcAft>
                <a:spcPts val="800"/>
              </a:spcAft>
              <a:defRPr sz="1800">
                <a:solidFill>
                  <a:srgbClr val="2D2D2D"/>
                </a:solidFill>
              </a:defRPr>
            </a:pPr>
            <a:r>
              <a:t>•  Branding: Apply Anthropic colors and fonts as specified.</a:t>
            </a:r>
          </a:p>
          <a:p>
            <a:pPr>
              <a:spcAft>
                <a:spcPts val="800"/>
              </a:spcAft>
              <a:defRPr sz="1800">
                <a:solidFill>
                  <a:srgbClr val="2D2D2D"/>
                </a:solidFill>
              </a:defRPr>
            </a:pPr>
            <a:r>
              <a:t>•  This blueprint can be directly translated into a PDF layout engine (e.g., InDesign, LaTeX, or a design tool) to produce the final one‑page brief.</a:t>
            </a:r>
          </a:p>
          <a:p>
            <a:pPr>
              <a:spcAft>
                <a:spcPts val="800"/>
              </a:spcAft>
              <a:defRPr sz="1800">
                <a:solidFill>
                  <a:srgbClr val="2D2D2D"/>
                </a:solidFill>
              </a:defRPr>
            </a:pPr>
            <a:r>
              <a:t>•  # AIDEN IWO – Integrated Workflow Orchestrator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8</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What is AIDEN IWO?</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(Intelligent Workflow Orchestrator) is the core coordination engine of the AIDEN platform. It dynamically routes tasks, enforces tiered authority, and synchronises sub‑agents across functional domains, ensuring every request follows prescribed governance while preserving end‑to‑end traceability.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9</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Key Benefits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Consistent Governance – Automatic enforcement of Tier 1, 1.5, 2 policies eliminates manual oversight gaps and reduces compliance risk.</a:t>
            </a:r>
          </a:p>
          <a:p>
            <a:pPr>
              <a:spcAft>
                <a:spcPts val="800"/>
              </a:spcAft>
              <a:defRPr sz="1800">
                <a:solidFill>
                  <a:srgbClr val="2D2D2D"/>
                </a:solidFill>
              </a:defRPr>
            </a:pPr>
            <a:r>
              <a:t>•  Scalable Agility – Decouples decision‑making from execution, allowing sub‑agents to act in parallel and respond rapidly to change.</a:t>
            </a:r>
          </a:p>
          <a:p>
            <a:pPr>
              <a:spcAft>
                <a:spcPts val="800"/>
              </a:spcAft>
              <a:defRPr sz="1800">
                <a:solidFill>
                  <a:srgbClr val="2D2D2D"/>
                </a:solidFill>
              </a:defRPr>
            </a:pPr>
            <a:r>
              <a:t>•  Transparent Accountability – Generates immutable audit trails for every step, supporting rapid post‑mortem analysis and continuous improvement.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10</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Use Cases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Cross‑Team Campaign Launch – Marketing defines a new product launch; AIDEN IWO validates budget limits, triggers creative production, schedules social media rollout, and notifies sales, while logging approvals for finance.</a:t>
            </a:r>
          </a:p>
          <a:p>
            <a:pPr>
              <a:spcAft>
                <a:spcPts val="800"/>
              </a:spcAft>
              <a:defRPr sz="1800">
                <a:solidFill>
                  <a:srgbClr val="2D2D2D"/>
                </a:solidFill>
              </a:defRPr>
            </a:pPr>
            <a:r>
              <a:t>•  Regulatory Reporting Automation – The compliance team submits a quarterly filing request; the orchestrator routes data extraction to analytics, formats the report, applies encryption, and delivers it to the regulator with a full audit record.</a:t>
            </a:r>
          </a:p>
          <a:p>
            <a:pPr>
              <a:spcAft>
                <a:spcPts val="800"/>
              </a:spcAft>
              <a:defRPr sz="1800">
                <a:solidFill>
                  <a:srgbClr val="2D2D2D"/>
                </a:solidFill>
              </a:defRPr>
            </a:pPr>
            <a:r>
              <a:t>•  Incident Response Coordination – When an outage is detected, AIDEN IWO automatically assembles the response team, assigns diagnostic tasks to engineering sub‑agents, updates stakeholders via internal communications, and compiles a post‑incident review document.</a:t>
            </a:r>
          </a:p>
          <a:p>
            <a:pPr>
              <a:spcAft>
                <a:spcPts val="800"/>
              </a:spcAft>
              <a:defRPr sz="1800">
                <a:solidFill>
                  <a:srgbClr val="2D2D2D"/>
                </a:solidFill>
              </a:defRPr>
            </a:pPr>
            <a:r>
              <a:t>•  Prepared for internal distribution – concise, one‑page brief.</a:t>
            </a:r>
          </a:p>
          <a:p>
            <a:pPr>
              <a:spcAft>
                <a:spcPts val="800"/>
              </a:spcAft>
              <a:defRPr sz="1800">
                <a:solidFill>
                  <a:srgbClr val="2D2D2D"/>
                </a:solidFill>
              </a:defRPr>
            </a:pPr>
            <a:r>
              <a:t>•  # AIDEN IWO – Integrated Workflow Orchestrator</a:t>
            </a:r>
          </a:p>
          <a:p>
            <a:pPr>
              <a:spcAft>
                <a:spcPts val="800"/>
              </a:spcAft>
              <a:defRPr sz="1800">
                <a:solidFill>
                  <a:srgbClr val="2D2D2D"/>
                </a:solidFill>
              </a:defRPr>
            </a:pPr>
            <a:r>
              <a: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11</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What is AIDEN IWO?</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(Intelligent Workflow Orchestrator) is the core coordination engine of the AIDEN platform. It dynamically routes tasks, enforces tiered authority, and synchronises sub‑agents across functional domains, ensuring every request follows prescribed governance while preserving end‑to‑end traceability.</a:t>
            </a:r>
          </a:p>
          <a:p>
            <a:pPr>
              <a:spcAft>
                <a:spcPts val="800"/>
              </a:spcAft>
              <a:defRPr sz="1800">
                <a:solidFill>
                  <a:srgbClr val="2D2D2D"/>
                </a:solidFill>
              </a:defRPr>
            </a:pPr>
            <a:r>
              <a: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12</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Key Benefits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Consistent Governance – Automatic enforcement of Tier 1, 1.5, 2 policies eliminates manual oversight gaps and reduces compliance risk.</a:t>
            </a:r>
          </a:p>
          <a:p>
            <a:pPr>
              <a:spcAft>
                <a:spcPts val="800"/>
              </a:spcAft>
              <a:defRPr sz="1800">
                <a:solidFill>
                  <a:srgbClr val="2D2D2D"/>
                </a:solidFill>
              </a:defRPr>
            </a:pPr>
            <a:r>
              <a:t>•  Scalable Agility – Decouples decision‑making from execution, allowing sub‑agents to act in parallel and respond rapidly to change.</a:t>
            </a:r>
          </a:p>
          <a:p>
            <a:pPr>
              <a:spcAft>
                <a:spcPts val="800"/>
              </a:spcAft>
              <a:defRPr sz="1800">
                <a:solidFill>
                  <a:srgbClr val="2D2D2D"/>
                </a:solidFill>
              </a:defRPr>
            </a:pPr>
            <a:r>
              <a:t>•  Transparent Accountability – Generates immutable audit trails for every step, supporting rapid post‑mortem analysis and continuous improvement.</a:t>
            </a:r>
          </a:p>
          <a:p>
            <a:pPr>
              <a:spcAft>
                <a:spcPts val="800"/>
              </a:spcAft>
              <a:defRPr sz="1800">
                <a:solidFill>
                  <a:srgbClr val="2D2D2D"/>
                </a:solidFill>
              </a:defRPr>
            </a:pPr>
            <a:r>
              <a:t>•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13</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Use Cases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Cross‑Team Campaign Launch – Marketing defines a new product launch; AIDEN IWO validates budget limits, triggers creative production, schedules rollout, and logs finance approvals.</a:t>
            </a:r>
          </a:p>
          <a:p>
            <a:pPr>
              <a:spcAft>
                <a:spcPts val="800"/>
              </a:spcAft>
              <a:defRPr sz="1800">
                <a:solidFill>
                  <a:srgbClr val="2D2D2D"/>
                </a:solidFill>
              </a:defRPr>
            </a:pPr>
            <a:r>
              <a:t>•  Regulatory Reporting Automation – Compliance submits a quarterly filing; the orchestrator routes data extraction, formats the report, applies encryption, and delivers it with a full audit record.</a:t>
            </a:r>
          </a:p>
          <a:p>
            <a:pPr>
              <a:spcAft>
                <a:spcPts val="800"/>
              </a:spcAft>
              <a:defRPr sz="1800">
                <a:solidFill>
                  <a:srgbClr val="2D2D2D"/>
                </a:solidFill>
              </a:defRPr>
            </a:pPr>
            <a:r>
              <a:t>•  Incident Response Coordination – An outage is detected; AIDEN IWO automatically assembles the response team, assigns diagnostic tasks, updates stakeholders, and compiles a post‑incident review document.</a:t>
            </a:r>
          </a:p>
          <a:p>
            <a:pPr>
              <a:spcAft>
                <a:spcPts val="800"/>
              </a:spcAft>
              <a:defRPr sz="1800">
                <a:solidFill>
                  <a:srgbClr val="2D2D2D"/>
                </a:solidFill>
              </a:defRPr>
            </a:pPr>
            <a:r>
              <a:t>•  ---</a:t>
            </a:r>
          </a:p>
          <a:p>
            <a:pPr>
              <a:spcAft>
                <a:spcPts val="800"/>
              </a:spcAft>
              <a:defRPr sz="1800">
                <a:solidFill>
                  <a:srgbClr val="2D2D2D"/>
                </a:solidFill>
              </a:defRPr>
            </a:pPr>
            <a:r>
              <a:t>•  Prepared for internal distribution – concise, one‑page brief</a:t>
            </a:r>
          </a:p>
          <a:p>
            <a:pPr>
              <a:spcAft>
                <a:spcPts val="800"/>
              </a:spcAft>
              <a:defRPr sz="1800">
                <a:solidFill>
                  <a:srgbClr val="2D2D2D"/>
                </a:solidFill>
              </a:defRPr>
            </a:pPr>
            <a:r>
              <a:t>•  # AIDEN IWO – Integrated Workflow Orchestrator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14</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What is AIDEN IWO?</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(Intelligent Workflow Orchestrator) is the core coordination engine of the AIDEN platform. It dynamically routes tasks, enforces tiered authority, and synchronises sub‑agents across functional domains, ensuring every request follows prescribed governance while preserving end‑to‑end traceability.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15</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Key Benefits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Consistent Governance – Automatic enforcement of Tier 1, 1.5, 2 policies eliminates manual oversight gaps and reduces compliance risk.</a:t>
            </a:r>
          </a:p>
          <a:p>
            <a:pPr>
              <a:spcAft>
                <a:spcPts val="800"/>
              </a:spcAft>
              <a:defRPr sz="1800">
                <a:solidFill>
                  <a:srgbClr val="2D2D2D"/>
                </a:solidFill>
              </a:defRPr>
            </a:pPr>
            <a:r>
              <a:t>•  Scalable Agility – Decouples decision‑making from execution, allowing sub‑agents to act in parallel and respond rapidly to change.</a:t>
            </a:r>
          </a:p>
          <a:p>
            <a:pPr>
              <a:spcAft>
                <a:spcPts val="800"/>
              </a:spcAft>
              <a:defRPr sz="1800">
                <a:solidFill>
                  <a:srgbClr val="2D2D2D"/>
                </a:solidFill>
              </a:defRPr>
            </a:pPr>
            <a:r>
              <a:t>•  Transparent Accountability – Generates immutable audit trails for every step, supporting rapid post‑mortem analysis and continuous improvement.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16</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Use Cases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Cross‑Team Campaign Launch – Marketing defines a new product launch; AIDEN IWO validates budget limits, triggers creative production, schedules rollout, and logs finance approvals.</a:t>
            </a:r>
          </a:p>
          <a:p>
            <a:pPr>
              <a:spcAft>
                <a:spcPts val="800"/>
              </a:spcAft>
              <a:defRPr sz="1800">
                <a:solidFill>
                  <a:srgbClr val="2D2D2D"/>
                </a:solidFill>
              </a:defRPr>
            </a:pPr>
            <a:r>
              <a:t>•  Regulatory Reporting Automation – The compliance team submits a quarterly filing; the orchestrator routes data extraction, formats the report, applies encryption, and delivers it with a full audit record.</a:t>
            </a:r>
          </a:p>
          <a:p>
            <a:pPr>
              <a:spcAft>
                <a:spcPts val="800"/>
              </a:spcAft>
              <a:defRPr sz="1800">
                <a:solidFill>
                  <a:srgbClr val="2D2D2D"/>
                </a:solidFill>
              </a:defRPr>
            </a:pPr>
            <a:r>
              <a:t>•  Incident Response Coordination – When an outage is detected, AIDEN IWO automatically assembles the response team, assigns diagnostic tasks, updates stakeholders, and compiles a post‑incident review document.</a:t>
            </a:r>
          </a:p>
          <a:p>
            <a:pPr>
              <a:spcAft>
                <a:spcPts val="800"/>
              </a:spcAft>
              <a:defRPr sz="1800">
                <a:solidFill>
                  <a:srgbClr val="2D2D2D"/>
                </a:solidFill>
              </a:defRPr>
            </a:pPr>
            <a:r>
              <a:t>•  Prepared for internal distribution – concise, one‑page brief.</a:t>
            </a:r>
          </a:p>
          <a:p>
            <a:pPr>
              <a:spcAft>
                <a:spcPts val="800"/>
              </a:spcAft>
              <a:defRPr sz="1800">
                <a:solidFill>
                  <a:srgbClr val="2D2D2D"/>
                </a:solidFill>
              </a:defRPr>
            </a:pPr>
            <a:r>
              <a:t>•  # AIDEN IWO – Integrated Workflow Orchestrator</a:t>
            </a:r>
          </a:p>
          <a:p>
            <a:pPr>
              <a:spcAft>
                <a:spcPts val="800"/>
              </a:spcAft>
              <a:defRPr sz="1800">
                <a:solidFill>
                  <a:srgbClr val="2D2D2D"/>
                </a:solidFill>
              </a:defRPr>
            </a:pPr>
            <a:r>
              <a:t>•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17</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What is AIDEN IWO?</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(Intelligent Workflow Orchestrator) is the core coordination engine of the AIDEN platform. It dynamically routes tasks, enforces tiered authority, and synchronises sub‑agents across functional domains, ensuring every request follows prescribed governance while preserving end‑to‑end traceability.</a:t>
            </a:r>
          </a:p>
          <a:p>
            <a:pPr>
              <a:spcAft>
                <a:spcPts val="800"/>
              </a:spcAft>
              <a:defRPr sz="1800">
                <a:solidFill>
                  <a:srgbClr val="2D2D2D"/>
                </a:solidFill>
              </a:defRPr>
            </a:pPr>
            <a:r>
              <a:t>•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18</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Key Benefits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Consistent Governance – Automatic enforcement of Tier 1, 1.5, 2 policies eliminates manual oversight gaps and reduces compliance risk.</a:t>
            </a:r>
          </a:p>
          <a:p>
            <a:pPr>
              <a:spcAft>
                <a:spcPts val="800"/>
              </a:spcAft>
              <a:defRPr sz="1800">
                <a:solidFill>
                  <a:srgbClr val="2D2D2D"/>
                </a:solidFill>
              </a:defRPr>
            </a:pPr>
            <a:r>
              <a:t>•  Scalable Agility – Decouples decision‑making from execution, allowing sub‑agents to act in parallel and respond rapidly to change.</a:t>
            </a:r>
          </a:p>
          <a:p>
            <a:pPr>
              <a:spcAft>
                <a:spcPts val="800"/>
              </a:spcAft>
              <a:defRPr sz="1800">
                <a:solidFill>
                  <a:srgbClr val="2D2D2D"/>
                </a:solidFill>
              </a:defRPr>
            </a:pPr>
            <a:r>
              <a:t>•  Transparent Accountability – Generates immutable audit trails for every step, supporting rapid post‑mortem analysis and continuous improvement.</a:t>
            </a:r>
          </a:p>
          <a:p>
            <a:pPr>
              <a:spcAft>
                <a:spcPts val="800"/>
              </a:spcAft>
              <a:defRPr sz="1800">
                <a:solidFill>
                  <a:srgbClr val="2D2D2D"/>
                </a:solidFill>
              </a:defRPr>
            </a:pPr>
            <a:r>
              <a: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19</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Use Cases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Cross‑Team Campaign Launch – Marketing defines a new product launch; AIDEN IWO validates budget limits, triggers creative production, schedules rollout, and logs finance approvals.</a:t>
            </a:r>
          </a:p>
          <a:p>
            <a:pPr>
              <a:spcAft>
                <a:spcPts val="800"/>
              </a:spcAft>
              <a:defRPr sz="1800">
                <a:solidFill>
                  <a:srgbClr val="2D2D2D"/>
                </a:solidFill>
              </a:defRPr>
            </a:pPr>
            <a:r>
              <a:t>•  Regulatory Reporting Automation – The compliance team submits a quarterly filing; the orchestrator routes data extraction, formats the report, applies encryption, and delivers it with a full audit record.</a:t>
            </a:r>
          </a:p>
          <a:p>
            <a:pPr>
              <a:spcAft>
                <a:spcPts val="800"/>
              </a:spcAft>
              <a:defRPr sz="1800">
                <a:solidFill>
                  <a:srgbClr val="2D2D2D"/>
                </a:solidFill>
              </a:defRPr>
            </a:pPr>
            <a:r>
              <a:t>•  Incident Response Coordination – When an outage is detected, AIDEN IWO automatically assembles the response team, assigns diagnostic tasks, updates stakeholders, and compiles a post‑incident review document.</a:t>
            </a:r>
          </a:p>
          <a:p>
            <a:pPr>
              <a:spcAft>
                <a:spcPts val="800"/>
              </a:spcAft>
              <a:defRPr sz="1800">
                <a:solidFill>
                  <a:srgbClr val="2D2D2D"/>
                </a:solidFill>
              </a:defRPr>
            </a:pPr>
            <a:r>
              <a:t>•  ---</a:t>
            </a:r>
          </a:p>
          <a:p>
            <a:pPr>
              <a:spcAft>
                <a:spcPts val="800"/>
              </a:spcAft>
              <a:defRPr sz="1800">
                <a:solidFill>
                  <a:srgbClr val="2D2D2D"/>
                </a:solidFill>
              </a:defRPr>
            </a:pPr>
            <a:r>
              <a:t>•  Prepared for internal distribution – concise, one‑page brief.</a:t>
            </a:r>
          </a:p>
          <a:p>
            <a:pPr>
              <a:spcAft>
                <a:spcPts val="800"/>
              </a:spcAft>
              <a:defRPr sz="1800">
                <a:solidFill>
                  <a:srgbClr val="2D2D2D"/>
                </a:solidFill>
              </a:defRPr>
            </a:pPr>
            <a:r>
              <a:t>•  # AIDEN IWO – Integrated Workflow Orchestrator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20</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What is AIDEN IWO?</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(Intelligent Workflow Orchestrator) is the core coordination engine of the AIDEN platform. It dynamically routes tasks, enforces tiered authority, and synchronises sub‑agents across functional domains, guaranteeing that every request follows prescribed governance while preserving end‑to‑end traceability.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21</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Key Benefits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Consistent Governance – Automatic enforcement of Tier 1, 1.5, 2 policies eliminates manual oversight gaps and reduces compliance risk.</a:t>
            </a:r>
          </a:p>
          <a:p>
            <a:pPr>
              <a:spcAft>
                <a:spcPts val="800"/>
              </a:spcAft>
              <a:defRPr sz="1800">
                <a:solidFill>
                  <a:srgbClr val="2D2D2D"/>
                </a:solidFill>
              </a:defRPr>
            </a:pPr>
            <a:r>
              <a:t>•  Scalable Agility – Decision‑making is decoupled from execution, allowing sub‑agents to operate in parallel and respond rapidly to changing priorities.</a:t>
            </a:r>
          </a:p>
          <a:p>
            <a:pPr>
              <a:spcAft>
                <a:spcPts val="800"/>
              </a:spcAft>
              <a:defRPr sz="1800">
                <a:solidFill>
                  <a:srgbClr val="2D2D2D"/>
                </a:solidFill>
              </a:defRPr>
            </a:pPr>
            <a:r>
              <a:t>•  Transparent Accountability – Immutable audit trails are generated for every step, supporting swift post‑mortem analysis and continuous improvement.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22</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Use Cases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Cross‑Team Campaign Launch – Marketing defines a new product launch; AIDEN IWO validates budget limits, triggers creative production, schedules rollout, and logs finance approvals.</a:t>
            </a:r>
          </a:p>
          <a:p>
            <a:pPr>
              <a:spcAft>
                <a:spcPts val="800"/>
              </a:spcAft>
              <a:defRPr sz="1800">
                <a:solidFill>
                  <a:srgbClr val="2D2D2D"/>
                </a:solidFill>
              </a:defRPr>
            </a:pPr>
            <a:r>
              <a:t>•  Regulatory Reporting Automation – The compliance team submits a quarterly filing; the orchestrator routes data extraction, formats the report, applies encryption, and delivers it with a complete audit record.</a:t>
            </a:r>
          </a:p>
          <a:p>
            <a:pPr>
              <a:spcAft>
                <a:spcPts val="800"/>
              </a:spcAft>
              <a:defRPr sz="1800">
                <a:solidFill>
                  <a:srgbClr val="2D2D2D"/>
                </a:solidFill>
              </a:defRPr>
            </a:pPr>
            <a:r>
              <a:t>•  Incident Response Coordination – When an outage is detected, AIDEN IWO automatically assembles the response team, assigns diagnostic tasks, updates stakeholders, and compiles a post‑incident review document.</a:t>
            </a:r>
          </a:p>
          <a:p>
            <a:pPr>
              <a:spcAft>
                <a:spcPts val="800"/>
              </a:spcAft>
              <a:defRPr sz="1800">
                <a:solidFill>
                  <a:srgbClr val="2D2D2D"/>
                </a:solidFill>
              </a:defRPr>
            </a:pPr>
            <a:r>
              <a:t>•  Prepared for internal distribution – concise, one‑page brief.</a:t>
            </a:r>
          </a:p>
          <a:p>
            <a:pPr>
              <a:spcAft>
                <a:spcPts val="800"/>
              </a:spcAft>
              <a:defRPr sz="1800">
                <a:solidFill>
                  <a:srgbClr val="2D2D2D"/>
                </a:solidFill>
              </a:defRPr>
            </a:pPr>
            <a:r>
              <a:t>•  # One‑Page Layout Blueprint – AIDEN IWO Brief</a:t>
            </a:r>
          </a:p>
          <a:p>
            <a:pPr>
              <a:spcAft>
                <a:spcPts val="800"/>
              </a:spcAft>
              <a:defRPr sz="1800">
                <a:solidFill>
                  <a:srgbClr val="2D2D2D"/>
                </a:solidFill>
              </a:defRPr>
            </a:pPr>
            <a:r>
              <a:t>•  Purpose – This blueprint defines the exact layout, typography, colour, and spacing rules for a single‑page PDF brief that presents What is AIDEN IWO?, Key Benefits, and Use Cases on US‑Letter (8.5" × 11") portrait paper. All measurements are expressed in inches (in) and points (pt) for direct translation into a design tool (InDesign, LaTeX, Figma, etc.).</a:t>
            </a:r>
          </a:p>
          <a:p>
            <a:pPr>
              <a:spcAft>
                <a:spcPts val="800"/>
              </a:spcAft>
              <a:defRPr sz="1800">
                <a:solidFill>
                  <a:srgbClr val="2D2D2D"/>
                </a:solidFill>
              </a:defRPr>
            </a:pPr>
            <a:r>
              <a:t>•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23</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1. Page Canvas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Paper size: US‑Letter, 8.5 in × 11 in (portrait).</a:t>
            </a:r>
          </a:p>
          <a:p>
            <a:pPr>
              <a:spcAft>
                <a:spcPts val="800"/>
              </a:spcAft>
              <a:defRPr sz="1800">
                <a:solidFill>
                  <a:srgbClr val="2D2D2D"/>
                </a:solidFill>
              </a:defRPr>
            </a:pPr>
            <a:r>
              <a:t>•  Margins: 0.5 in on all four sides (top, bottom, left, right). This leaves a usable area of 7.5 in × 10 in.</a:t>
            </a:r>
          </a:p>
          <a:p>
            <a:pPr>
              <a:spcAft>
                <a:spcPts val="800"/>
              </a:spcAft>
              <a:defRPr sz="1800">
                <a:solidFill>
                  <a:srgbClr val="2D2D2D"/>
                </a:solidFill>
              </a:defRPr>
            </a:pPr>
            <a:r>
              <a:t>•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24</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2. Grid System &amp; Column Allocation</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 Element | Width (in) | Percentage of usable width | Description |</a:t>
            </a:r>
          </a:p>
          <a:p>
            <a:pPr>
              <a:spcAft>
                <a:spcPts val="800"/>
              </a:spcAft>
              <a:defRPr sz="1800">
                <a:solidFill>
                  <a:srgbClr val="2D2D2D"/>
                </a:solidFill>
              </a:defRPr>
            </a:pPr>
            <a:r>
              <a:t>•  |---------|------------|---------------------------|-------------|</a:t>
            </a:r>
          </a:p>
          <a:p>
            <a:pPr>
              <a:spcAft>
                <a:spcPts val="800"/>
              </a:spcAft>
              <a:defRPr sz="1800">
                <a:solidFill>
                  <a:srgbClr val="2D2D2D"/>
                </a:solidFill>
              </a:defRPr>
            </a:pPr>
            <a:r>
              <a:t>•  | Left column | 2.25 in | 30 % | Reserved for visual branding – logo and up to three optional icons. |</a:t>
            </a:r>
          </a:p>
          <a:p>
            <a:pPr>
              <a:spcAft>
                <a:spcPts val="800"/>
              </a:spcAft>
              <a:defRPr sz="1800">
                <a:solidFill>
                  <a:srgbClr val="2D2D2D"/>
                </a:solidFill>
              </a:defRPr>
            </a:pPr>
            <a:r>
              <a:t>•  | Right column | 5.25 in | 70 % | Holds all textual content – title, subtitle, body copy, and footer. |</a:t>
            </a:r>
          </a:p>
          <a:p>
            <a:pPr>
              <a:spcAft>
                <a:spcPts val="800"/>
              </a:spcAft>
              <a:defRPr sz="1800">
                <a:solidFill>
                  <a:srgbClr val="2D2D2D"/>
                </a:solidFill>
              </a:defRPr>
            </a:pPr>
            <a:r>
              <a:t>•  The two columns are separated by a 0.25 in gutter to keep visual balance.</a:t>
            </a:r>
          </a:p>
          <a:p>
            <a:pPr>
              <a:spcAft>
                <a:spcPts val="800"/>
              </a:spcAft>
              <a:defRPr sz="1800">
                <a:solidFill>
                  <a:srgbClr val="2D2D2D"/>
                </a:solidFill>
              </a:defRPr>
            </a:pPr>
            <a:r>
              <a:t>•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25</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3. Header Block (Top of Page)</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1. Logo placeholder – `[LOGO]`</a:t>
            </a:r>
          </a:p>
          <a:p>
            <a:pPr>
              <a:spcAft>
                <a:spcPts val="800"/>
              </a:spcAft>
              <a:defRPr sz="1800">
                <a:solidFill>
                  <a:srgbClr val="2D2D2D"/>
                </a:solidFill>
              </a:defRPr>
            </a:pPr>
            <a:r>
              <a:t>•  Position: top of the left column, centered horizontally.</a:t>
            </a:r>
          </a:p>
          <a:p>
            <a:pPr>
              <a:spcAft>
                <a:spcPts val="800"/>
              </a:spcAft>
              <a:defRPr sz="1800">
                <a:solidFill>
                  <a:srgbClr val="2D2D2D"/>
                </a:solidFill>
              </a:defRPr>
            </a:pPr>
            <a:r>
              <a:t>•  Maximum height: 1.0 in; width scales proportionally.</a:t>
            </a:r>
          </a:p>
          <a:p>
            <a:pPr>
              <a:spcAft>
                <a:spcPts val="800"/>
              </a:spcAft>
              <a:defRPr sz="1800">
                <a:solidFill>
                  <a:srgbClr val="2D2D2D"/>
                </a:solidFill>
              </a:defRPr>
            </a:pPr>
            <a:r>
              <a:t>•  2. Title – Full‑width heading placed just below the logo, visually anchored to the right‑column width.</a:t>
            </a:r>
          </a:p>
          <a:p>
            <a:pPr>
              <a:spcAft>
                <a:spcPts val="800"/>
              </a:spcAft>
              <a:defRPr sz="1800">
                <a:solidFill>
                  <a:srgbClr val="2D2D2D"/>
                </a:solidFill>
              </a:defRPr>
            </a:pPr>
            <a:r>
              <a:t>•  Placeholder text: `AIDEN IWO – Integrated Workflow Orchestrator`</a:t>
            </a:r>
          </a:p>
          <a:p>
            <a:pPr>
              <a:spcAft>
                <a:spcPts val="800"/>
              </a:spcAft>
              <a:defRPr sz="1800">
                <a:solidFill>
                  <a:srgbClr val="2D2D2D"/>
                </a:solidFill>
              </a:defRPr>
            </a:pPr>
            <a:r>
              <a:t>•  3. Subtitle (optional) – Directly under the title, smaller font.</a:t>
            </a:r>
          </a:p>
          <a:p>
            <a:pPr>
              <a:spcAft>
                <a:spcPts val="800"/>
              </a:spcAft>
              <a:defRPr sz="1800">
                <a:solidFill>
                  <a:srgbClr val="2D2D2D"/>
                </a:solidFill>
              </a:defRPr>
            </a:pPr>
            <a:r>
              <a:t>•  Placeholder text: `Intelligent Coordination for Scalable Agility`</a:t>
            </a:r>
          </a:p>
          <a:p>
            <a:pPr>
              <a:spcAft>
                <a:spcPts val="800"/>
              </a:spcAft>
              <a:defRPr sz="1800">
                <a:solidFill>
                  <a:srgbClr val="2D2D2D"/>
                </a:solidFill>
              </a:defRPr>
            </a:pPr>
            <a:r>
              <a:t>•  Both title and subtitle are centered across the entire page width but their left edges align with the right‑column margin to maintain a clean vertical rhythm.</a:t>
            </a:r>
          </a:p>
          <a:p>
            <a:pPr>
              <a:spcAft>
                <a:spcPts val="800"/>
              </a:spcAft>
              <a:defRPr sz="1800">
                <a:solidFill>
                  <a:srgbClr val="2D2D2D"/>
                </a:solidFill>
              </a:defRPr>
            </a:pPr>
            <a:r>
              <a:t>•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26</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4. Body Content (Right Column)</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The body is divided into three stacked sections, each beginning with a level‑2 heading.</a:t>
            </a:r>
          </a:p>
          <a:p>
            <a:pPr>
              <a:spcAft>
                <a:spcPts val="800"/>
              </a:spcAft>
              <a:defRPr sz="1800">
                <a:solidFill>
                  <a:srgbClr val="2D2D2D"/>
                </a:solidFill>
              </a:defRPr>
            </a:pPr>
            <a:r>
              <a:t>•  ### 4.1 Section Order</a:t>
            </a:r>
          </a:p>
          <a:p>
            <a:pPr>
              <a:spcAft>
                <a:spcPts val="800"/>
              </a:spcAft>
              <a:defRPr sz="1800">
                <a:solidFill>
                  <a:srgbClr val="2D2D2D"/>
                </a:solidFill>
              </a:defRPr>
            </a:pPr>
            <a:r>
              <a:t>•  1. What is AIDEN IWO?</a:t>
            </a:r>
          </a:p>
          <a:p>
            <a:pPr>
              <a:spcAft>
                <a:spcPts val="800"/>
              </a:spcAft>
              <a:defRPr sz="1800">
                <a:solidFill>
                  <a:srgbClr val="2D2D2D"/>
                </a:solidFill>
              </a:defRPr>
            </a:pPr>
            <a:r>
              <a:t>•  2. Key Benefits</a:t>
            </a:r>
          </a:p>
          <a:p>
            <a:pPr>
              <a:spcAft>
                <a:spcPts val="800"/>
              </a:spcAft>
              <a:defRPr sz="1800">
                <a:solidFill>
                  <a:srgbClr val="2D2D2D"/>
                </a:solidFill>
              </a:defRPr>
            </a:pPr>
            <a:r>
              <a:t>•  3. Use Cases</a:t>
            </a:r>
          </a:p>
          <a:p>
            <a:pPr>
              <a:spcAft>
                <a:spcPts val="800"/>
              </a:spcAft>
              <a:defRPr sz="1800">
                <a:solidFill>
                  <a:srgbClr val="2D2D2D"/>
                </a:solidFill>
              </a:defRPr>
            </a:pPr>
            <a:r>
              <a:t>•  Each section follows the same internal structure:</a:t>
            </a:r>
          </a:p>
          <a:p>
            <a:pPr>
              <a:spcAft>
                <a:spcPts val="800"/>
              </a:spcAft>
              <a:defRPr sz="1800">
                <a:solidFill>
                  <a:srgbClr val="2D2D2D"/>
                </a:solidFill>
              </a:defRPr>
            </a:pPr>
            <a:r>
              <a:t>•  Heading (Level 2)</a:t>
            </a:r>
          </a:p>
          <a:p>
            <a:pPr>
              <a:spcAft>
                <a:spcPts val="800"/>
              </a:spcAft>
              <a:defRPr sz="1800">
                <a:solidFill>
                  <a:srgbClr val="2D2D2D"/>
                </a:solidFill>
              </a:defRPr>
            </a:pPr>
            <a:r>
              <a:t>•  Horizontal rule (visual separator, 0.02 in thick, Anthropic accent orange `#d97757`)</a:t>
            </a:r>
          </a:p>
          <a:p>
            <a:pPr>
              <a:spcAft>
                <a:spcPts val="800"/>
              </a:spcAft>
              <a:defRPr sz="1800">
                <a:solidFill>
                  <a:srgbClr val="2D2D2D"/>
                </a:solidFill>
              </a:defRPr>
            </a:pPr>
            <a:r>
              <a:t>•  Paragraph text, fully justified.</a:t>
            </a:r>
          </a:p>
          <a:p>
            <a:pPr>
              <a:spcAft>
                <a:spcPts val="800"/>
              </a:spcAft>
              <a:defRPr sz="1800">
                <a:solidFill>
                  <a:srgbClr val="2D2D2D"/>
                </a:solidFill>
              </a:defRPr>
            </a:pPr>
            <a:r>
              <a:t>•  Bulleted list where appropriate (disc bullets, 0.15 in indent).</a:t>
            </a:r>
          </a:p>
          <a:p>
            <a:pPr>
              <a:spcAft>
                <a:spcPts val="800"/>
              </a:spcAft>
              <a:defRPr sz="1800">
                <a:solidFill>
                  <a:srgbClr val="2D2D2D"/>
                </a:solidFill>
              </a:defRPr>
            </a:pPr>
            <a:r>
              <a:t>•  ### 4.2 Icon Integration (Optional)</a:t>
            </a:r>
          </a:p>
          <a:p>
            <a:pPr>
              <a:spcAft>
                <a:spcPts val="800"/>
              </a:spcAft>
              <a:defRPr sz="1800">
                <a:solidFill>
                  <a:srgbClr val="2D2D2D"/>
                </a:solidFill>
              </a:defRPr>
            </a:pPr>
            <a:r>
              <a:t>•  Up to three `[ICON]` placeholders may appear in the left column, vertically stacked.</a:t>
            </a:r>
          </a:p>
          <a:p>
            <a:pPr>
              <a:spcAft>
                <a:spcPts val="800"/>
              </a:spcAft>
              <a:defRPr sz="1800">
                <a:solidFill>
                  <a:srgbClr val="2D2D2D"/>
                </a:solidFill>
              </a:defRPr>
            </a:pPr>
            <a:r>
              <a:t>•  Spacing between icons: 0.20 in.</a:t>
            </a:r>
          </a:p>
          <a:p>
            <a:pPr>
              <a:spcAft>
                <a:spcPts val="800"/>
              </a:spcAft>
              <a:defRPr sz="1800">
                <a:solidFill>
                  <a:srgbClr val="2D2D2D"/>
                </a:solidFill>
              </a:defRPr>
            </a:pPr>
            <a:r>
              <a:t>•  Icon size: 0.30 in × 0.30 in (square), colour `#d97757`.</a:t>
            </a:r>
          </a:p>
          <a:p>
            <a:pPr>
              <a:spcAft>
                <a:spcPts val="800"/>
              </a:spcAft>
              <a:defRPr sz="1800">
                <a:solidFill>
                  <a:srgbClr val="2D2D2D"/>
                </a:solidFill>
              </a:defRPr>
            </a:pPr>
            <a:r>
              <a:t>•  If icons are used, they replace the optional vertical spacing that would otherwise be blank.</a:t>
            </a:r>
          </a:p>
          <a:p>
            <a:pPr>
              <a:spcAft>
                <a:spcPts val="800"/>
              </a:spcAft>
              <a:defRPr sz="1800">
                <a:solidFill>
                  <a:srgbClr val="2D2D2D"/>
                </a:solidFill>
              </a:defRPr>
            </a:pPr>
            <a:r>
              <a:t>•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27</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5. Visual Hierarchy (Typography &amp; Colour)</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 Level | Element | Font Family | Size (pt) | Weight | Colour (Hex) | Placement |</a:t>
            </a:r>
          </a:p>
          <a:p>
            <a:pPr>
              <a:spcAft>
                <a:spcPts val="800"/>
              </a:spcAft>
              <a:defRPr sz="1800">
                <a:solidFill>
                  <a:srgbClr val="2D2D2D"/>
                </a:solidFill>
              </a:defRPr>
            </a:pPr>
            <a:r>
              <a:t>•  |-------|---------|-------------|----------|--------|--------------|----------|</a:t>
            </a:r>
          </a:p>
          <a:p>
            <a:pPr>
              <a:spcAft>
                <a:spcPts val="800"/>
              </a:spcAft>
              <a:defRPr sz="1800">
                <a:solidFill>
                  <a:srgbClr val="2D2D2D"/>
                </a:solidFill>
              </a:defRPr>
            </a:pPr>
            <a:r>
              <a:t>•  | 1 | Document Title | Poppins (heading) | 28 pt | Bold | `#141413` (Dark Navy) | Centered across page, below logo |</a:t>
            </a:r>
          </a:p>
          <a:p>
            <a:pPr>
              <a:spcAft>
                <a:spcPts val="800"/>
              </a:spcAft>
              <a:defRPr sz="1800">
                <a:solidFill>
                  <a:srgbClr val="2D2D2D"/>
                </a:solidFill>
              </a:defRPr>
            </a:pPr>
            <a:r>
              <a:t>•  | 2 | Section Headings | Poppins | 20 pt | Semi‑Bold | `#141413` | Left‑aligned, start of each section |</a:t>
            </a:r>
          </a:p>
          <a:p>
            <a:pPr>
              <a:spcAft>
                <a:spcPts val="800"/>
              </a:spcAft>
              <a:defRPr sz="1800">
                <a:solidFill>
                  <a:srgbClr val="2D2D2D"/>
                </a:solidFill>
              </a:defRPr>
            </a:pPr>
            <a:r>
              <a:t>•  | 3 | Body Copy | Lora (body) | 12 pt | Regular | `#2D2D2D` (Dark Gray) | Justified within right column |</a:t>
            </a:r>
          </a:p>
          <a:p>
            <a:pPr>
              <a:spcAft>
                <a:spcPts val="800"/>
              </a:spcAft>
              <a:defRPr sz="1800">
                <a:solidFill>
                  <a:srgbClr val="2D2D2D"/>
                </a:solidFill>
              </a:defRPr>
            </a:pPr>
            <a:r>
              <a:t>•  | 4 | Subtitle | Lora | 14 pt | Medium | `#2D2D2D` | Centered under title |</a:t>
            </a:r>
          </a:p>
          <a:p>
            <a:pPr>
              <a:spcAft>
                <a:spcPts val="800"/>
              </a:spcAft>
              <a:defRPr sz="1800">
                <a:solidFill>
                  <a:srgbClr val="2D2D2D"/>
                </a:solidFill>
              </a:defRPr>
            </a:pPr>
            <a:r>
              <a:t>•  | 5 | Bullets / Call‑outs | Lora | 12 pt | Regular | `#2D2D2D` | Indented 0.15 in from left margin |</a:t>
            </a:r>
          </a:p>
          <a:p>
            <a:pPr>
              <a:spcAft>
                <a:spcPts val="800"/>
              </a:spcAft>
              <a:defRPr sz="1800">
                <a:solidFill>
                  <a:srgbClr val="2D2D2D"/>
                </a:solidFill>
              </a:defRPr>
            </a:pPr>
            <a:r>
              <a:t>•  | 6 | Footer | Lora | 9 pt | Regular | `#b0aea5` (Mid Gray) | Left‑aligned, bottom margin |</a:t>
            </a:r>
          </a:p>
          <a:p>
            <a:pPr>
              <a:spcAft>
                <a:spcPts val="800"/>
              </a:spcAft>
              <a:defRPr sz="1800">
                <a:solidFill>
                  <a:srgbClr val="2D2D2D"/>
                </a:solidFill>
              </a:defRPr>
            </a:pPr>
            <a:r>
              <a:t>•  Accent colour – Orange `#d97757` is used for icons, horizontal rules, and any highlight text.</a:t>
            </a:r>
          </a:p>
          <a:p>
            <a:pPr>
              <a:spcAft>
                <a:spcPts val="800"/>
              </a:spcAft>
              <a:defRPr sz="1800">
                <a:solidFill>
                  <a:srgbClr val="2D2D2D"/>
                </a:solidFill>
              </a:defRPr>
            </a:pPr>
            <a:r>
              <a:t>•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28</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6. Spacing &amp; Rhythm</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Paragraph spacing: 0.15 in (vertical gap) between consecutive paragraphs.</a:t>
            </a:r>
          </a:p>
          <a:p>
            <a:pPr>
              <a:spcAft>
                <a:spcPts val="800"/>
              </a:spcAft>
              <a:defRPr sz="1800">
                <a:solidFill>
                  <a:srgbClr val="2D2D2D"/>
                </a:solidFill>
              </a:defRPr>
            </a:pPr>
            <a:r>
              <a:t>•  Heading spacing: 0.10 in before a heading, 0.15 in after.</a:t>
            </a:r>
          </a:p>
          <a:p>
            <a:pPr>
              <a:spcAft>
                <a:spcPts val="800"/>
              </a:spcAft>
              <a:defRPr sz="1800">
                <a:solidFill>
                  <a:srgbClr val="2D2D2D"/>
                </a:solidFill>
              </a:defRPr>
            </a:pPr>
            <a:r>
              <a:t>•  Bullet line spacing: 0.12 in between bullet items.</a:t>
            </a:r>
          </a:p>
          <a:p>
            <a:pPr>
              <a:spcAft>
                <a:spcPts val="800"/>
              </a:spcAft>
              <a:defRPr sz="1800">
                <a:solidFill>
                  <a:srgbClr val="2D2D2D"/>
                </a:solidFill>
              </a:defRPr>
            </a:pPr>
            <a:r>
              <a:t>•  Section separation: Horizontal rule (0.02 in thick) followed by 0.08 in of white space before the next heading.</a:t>
            </a:r>
          </a:p>
          <a:p>
            <a:pPr>
              <a:spcAft>
                <a:spcPts val="800"/>
              </a:spcAft>
              <a:defRPr sz="1800">
                <a:solidFill>
                  <a:srgbClr val="2D2D2D"/>
                </a:solidFill>
              </a:defRPr>
            </a:pPr>
            <a:r>
              <a:t>•  Footer offset: Footer sits 0.30 in above the bottom margin.</a:t>
            </a:r>
          </a:p>
          <a:p>
            <a:pPr>
              <a:spcAft>
                <a:spcPts val="800"/>
              </a:spcAft>
              <a:defRPr sz="1800">
                <a:solidFill>
                  <a:srgbClr val="2D2D2D"/>
                </a:solidFill>
              </a:defRPr>
            </a:pPr>
            <a:r>
              <a:t>•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29</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7. Footer Block (Bottom of Page)</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Placeholder text: `Prepared for internal distribution – concise, one‑page brief`</a:t>
            </a:r>
          </a:p>
          <a:p>
            <a:pPr>
              <a:spcAft>
                <a:spcPts val="800"/>
              </a:spcAft>
              <a:defRPr sz="1800">
                <a:solidFill>
                  <a:srgbClr val="2D2D2D"/>
                </a:solidFill>
              </a:defRPr>
            </a:pPr>
            <a:r>
              <a:t>•  Font: Lora, 9 pt, colour `#b0aea5`.</a:t>
            </a:r>
          </a:p>
          <a:p>
            <a:pPr>
              <a:spcAft>
                <a:spcPts val="800"/>
              </a:spcAft>
              <a:defRPr sz="1800">
                <a:solidFill>
                  <a:srgbClr val="2D2D2D"/>
                </a:solidFill>
              </a:defRPr>
            </a:pPr>
            <a:r>
              <a:t>•  Alignment: left‑aligned within the right column; the left column remains empty.</a:t>
            </a:r>
          </a:p>
          <a:p>
            <a:pPr>
              <a:spcAft>
                <a:spcPts val="800"/>
              </a:spcAft>
              <a:defRPr sz="1800">
                <a:solidFill>
                  <a:srgbClr val="2D2D2D"/>
                </a:solidFill>
              </a:defRPr>
            </a:pPr>
            <a:r>
              <a:t>•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30</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8. Summary of Measurements (Quick Reference)</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Usable width: 7.5 in</a:t>
            </a:r>
          </a:p>
          <a:p>
            <a:pPr>
              <a:spcAft>
                <a:spcPts val="800"/>
              </a:spcAft>
              <a:defRPr sz="1800">
                <a:solidFill>
                  <a:srgbClr val="2D2D2D"/>
                </a:solidFill>
              </a:defRPr>
            </a:pPr>
            <a:r>
              <a:t>•  Usable height: 10 in</a:t>
            </a:r>
          </a:p>
          <a:p>
            <a:pPr>
              <a:spcAft>
                <a:spcPts val="800"/>
              </a:spcAft>
              <a:defRPr sz="1800">
                <a:solidFill>
                  <a:srgbClr val="2D2D2D"/>
                </a:solidFill>
              </a:defRPr>
            </a:pPr>
            <a:r>
              <a:t>•  Left column: 2.25 in (30 %)</a:t>
            </a:r>
          </a:p>
          <a:p>
            <a:pPr>
              <a:spcAft>
                <a:spcPts val="800"/>
              </a:spcAft>
              <a:defRPr sz="1800">
                <a:solidFill>
                  <a:srgbClr val="2D2D2D"/>
                </a:solidFill>
              </a:defRPr>
            </a:pPr>
            <a:r>
              <a:t>•  Right column: 5.25 in (70 %)</a:t>
            </a:r>
          </a:p>
          <a:p>
            <a:pPr>
              <a:spcAft>
                <a:spcPts val="800"/>
              </a:spcAft>
              <a:defRPr sz="1800">
                <a:solidFill>
                  <a:srgbClr val="2D2D2D"/>
                </a:solidFill>
              </a:defRPr>
            </a:pPr>
            <a:r>
              <a:t>•  Gutter: 0.25 in</a:t>
            </a:r>
          </a:p>
          <a:p>
            <a:pPr>
              <a:spcAft>
                <a:spcPts val="800"/>
              </a:spcAft>
              <a:defRPr sz="1800">
                <a:solidFill>
                  <a:srgbClr val="2D2D2D"/>
                </a:solidFill>
              </a:defRPr>
            </a:pPr>
            <a:r>
              <a:t>•  Margins: 0.5 in all sides</a:t>
            </a:r>
          </a:p>
          <a:p>
            <a:pPr>
              <a:spcAft>
                <a:spcPts val="800"/>
              </a:spcAft>
              <a:defRPr sz="1800">
                <a:solidFill>
                  <a:srgbClr val="2D2D2D"/>
                </a:solidFill>
              </a:defRPr>
            </a:pPr>
            <a:r>
              <a:t>•  Title font size: 28 pt</a:t>
            </a:r>
          </a:p>
          <a:p>
            <a:pPr>
              <a:spcAft>
                <a:spcPts val="800"/>
              </a:spcAft>
              <a:defRPr sz="1800">
                <a:solidFill>
                  <a:srgbClr val="2D2D2D"/>
                </a:solidFill>
              </a:defRPr>
            </a:pPr>
            <a:r>
              <a:t>•  Section heading size: 20 pt</a:t>
            </a:r>
          </a:p>
          <a:p>
            <a:pPr>
              <a:spcAft>
                <a:spcPts val="800"/>
              </a:spcAft>
              <a:defRPr sz="1800">
                <a:solidFill>
                  <a:srgbClr val="2D2D2D"/>
                </a:solidFill>
              </a:defRPr>
            </a:pPr>
            <a:r>
              <a:t>•  Body copy size: 12 pt</a:t>
            </a:r>
          </a:p>
          <a:p>
            <a:pPr>
              <a:spcAft>
                <a:spcPts val="800"/>
              </a:spcAft>
              <a:defRPr sz="1800">
                <a:solidFill>
                  <a:srgbClr val="2D2D2D"/>
                </a:solidFill>
              </a:defRPr>
            </a:pPr>
            <a:r>
              <a:t>•  Subtitle size: 14 pt</a:t>
            </a:r>
          </a:p>
          <a:p>
            <a:pPr>
              <a:spcAft>
                <a:spcPts val="800"/>
              </a:spcAft>
              <a:defRPr sz="1800">
                <a:solidFill>
                  <a:srgbClr val="2D2D2D"/>
                </a:solidFill>
              </a:defRPr>
            </a:pPr>
            <a:r>
              <a:t>•  Footer size: 9 pt</a:t>
            </a:r>
          </a:p>
          <a:p>
            <a:pPr>
              <a:spcAft>
                <a:spcPts val="800"/>
              </a:spcAft>
              <a:defRPr sz="1800">
                <a:solidFill>
                  <a:srgbClr val="2D2D2D"/>
                </a:solidFill>
              </a:defRPr>
            </a:pPr>
            <a:r>
              <a:t>•  Icon size: 0.30 in square</a:t>
            </a:r>
          </a:p>
          <a:p>
            <a:pPr>
              <a:spcAft>
                <a:spcPts val="800"/>
              </a:spcAft>
              <a:defRPr sz="1800">
                <a:solidFill>
                  <a:srgbClr val="2D2D2D"/>
                </a:solidFill>
              </a:defRPr>
            </a:pPr>
            <a:r>
              <a:t>•  Horizontal rule thickness: 0.02 in</a:t>
            </a:r>
          </a:p>
          <a:p>
            <a:pPr>
              <a:spcAft>
                <a:spcPts val="800"/>
              </a:spcAft>
              <a:defRPr sz="1800">
                <a:solidFill>
                  <a:srgbClr val="2D2D2D"/>
                </a:solidFill>
              </a:defRPr>
            </a:pPr>
            <a:r>
              <a:t>•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31</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9. Implementation Tips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1. Set up the document in your design tool with the exact margin values before adding any content.</a:t>
            </a:r>
          </a:p>
          <a:p>
            <a:pPr>
              <a:spcAft>
                <a:spcPts val="800"/>
              </a:spcAft>
              <a:defRPr sz="1800">
                <a:solidFill>
                  <a:srgbClr val="2D2D2D"/>
                </a:solidFill>
              </a:defRPr>
            </a:pPr>
            <a:r>
              <a:t>•  2. Create a two‑column master page using the column widths above; lock the gutter.</a:t>
            </a:r>
          </a:p>
          <a:p>
            <a:pPr>
              <a:spcAft>
                <a:spcPts val="800"/>
              </a:spcAft>
              <a:defRPr sz="1800">
                <a:solidFill>
                  <a:srgbClr val="2D2D2D"/>
                </a:solidFill>
              </a:defRPr>
            </a:pPr>
            <a:r>
              <a:t>•  3. Insert placeholders (`[LOGO]`, `[ICON]`, `[TITLE]`, `[SUBTITLE]`, `[FOOTER]`) as text frames or image frames so the layout can be populated automatically later.</a:t>
            </a:r>
          </a:p>
          <a:p>
            <a:pPr>
              <a:spcAft>
                <a:spcPts val="800"/>
              </a:spcAft>
              <a:defRPr sz="1800">
                <a:solidFill>
                  <a:srgbClr val="2D2D2D"/>
                </a:solidFill>
              </a:defRPr>
            </a:pPr>
            <a:r>
              <a:t>•  4. Apply paragraph styles matching the typography table; this guarantees consistency when copy is swapped in.</a:t>
            </a:r>
          </a:p>
          <a:p>
            <a:pPr>
              <a:spcAft>
                <a:spcPts val="800"/>
              </a:spcAft>
              <a:defRPr sz="1800">
                <a:solidFill>
                  <a:srgbClr val="2D2D2D"/>
                </a:solidFill>
              </a:defRPr>
            </a:pPr>
            <a:r>
              <a:t>•  5. Use the Anthropic colour palette for all fills and strokes to keep branding uniform.</a:t>
            </a:r>
          </a:p>
          <a:p>
            <a:pPr>
              <a:spcAft>
                <a:spcPts val="800"/>
              </a:spcAft>
              <a:defRPr sz="1800">
                <a:solidFill>
                  <a:srgbClr val="2D2D2D"/>
                </a:solidFill>
              </a:defRPr>
            </a:pPr>
            <a:r>
              <a:t>•  6. Export the final file as a PDF with “high quality print” settings, ensuring fonts are embedded.</a:t>
            </a:r>
          </a:p>
          <a:p>
            <a:pPr>
              <a:spcAft>
                <a:spcPts val="800"/>
              </a:spcAft>
              <a:defRPr sz="1800">
                <a:solidFill>
                  <a:srgbClr val="2D2D2D"/>
                </a:solidFill>
              </a:defRPr>
            </a:pPr>
            <a:r>
              <a:t>•  ---</a:t>
            </a:r>
          </a:p>
          <a:p>
            <a:pPr>
              <a:spcAft>
                <a:spcPts val="800"/>
              </a:spcAft>
              <a:defRPr sz="1800">
                <a:solidFill>
                  <a:srgbClr val="2D2D2D"/>
                </a:solidFill>
              </a:defRPr>
            </a:pPr>
            <a:r>
              <a:t>•  This blueprint provides every measurement and style rule required to produce a professional, brand‑consistent, one‑page PDF brief for AIDEN IWO.</a:t>
            </a:r>
          </a:p>
          <a:p>
            <a:pPr>
              <a:spcAft>
                <a:spcPts val="800"/>
              </a:spcAft>
              <a:defRPr sz="1800">
                <a:solidFill>
                  <a:srgbClr val="2D2D2D"/>
                </a:solidFill>
              </a:defRPr>
            </a:pPr>
            <a:r>
              <a:t>•  # AIDEN IWO – Integrated Workflow Orchestrator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32</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What is AIDEN IWO?</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(Intelligent Workflow Orchestrator) is the core coordination engine of the AIDEN platform. It routes tasks, enforces tiered authority, and synchronises sub‑agents across functional domains, guaranteeing that every request follows prescribed governance while preserving end‑to‑end traceability.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33</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Key Benefits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Consistent Governance – Automatic enforcement of Tier 1, 1.5, 2 policies eliminates manual oversight gaps and reduces compliance risk.</a:t>
            </a:r>
          </a:p>
          <a:p>
            <a:pPr>
              <a:spcAft>
                <a:spcPts val="800"/>
              </a:spcAft>
              <a:defRPr sz="1800">
                <a:solidFill>
                  <a:srgbClr val="2D2D2D"/>
                </a:solidFill>
              </a:defRPr>
            </a:pPr>
            <a:r>
              <a:t>•  Scalable Agility – Decision‑making is decoupled from execution, allowing sub‑agents to operate in parallel and respond rapidly to changing priorities.</a:t>
            </a:r>
          </a:p>
          <a:p>
            <a:pPr>
              <a:spcAft>
                <a:spcPts val="800"/>
              </a:spcAft>
              <a:defRPr sz="1800">
                <a:solidFill>
                  <a:srgbClr val="2D2D2D"/>
                </a:solidFill>
              </a:defRPr>
            </a:pPr>
            <a:r>
              <a:t>•  Transparent Accountability – Immutable audit trails are generated for every step, supporting swift post‑mortem analysis and continuous improvement.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34</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Use Cases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Cross‑Team Campaign Launch – Marketing defines a new product launch; AIDEN IWO validates budget limits, triggers creative production, schedules rollout, and logs finance approvals.</a:t>
            </a:r>
          </a:p>
          <a:p>
            <a:pPr>
              <a:spcAft>
                <a:spcPts val="800"/>
              </a:spcAft>
              <a:defRPr sz="1800">
                <a:solidFill>
                  <a:srgbClr val="2D2D2D"/>
                </a:solidFill>
              </a:defRPr>
            </a:pPr>
            <a:r>
              <a:t>•  Regulatory Reporting Automation – The compliance team submits a quarterly filing; the orchestrator routes data extraction, formats the report, applies encryption, and delivers it with a complete audit record.</a:t>
            </a:r>
          </a:p>
          <a:p>
            <a:pPr>
              <a:spcAft>
                <a:spcPts val="800"/>
              </a:spcAft>
              <a:defRPr sz="1800">
                <a:solidFill>
                  <a:srgbClr val="2D2D2D"/>
                </a:solidFill>
              </a:defRPr>
            </a:pPr>
            <a:r>
              <a:t>•  Incident Response Coordination – When an outage is detected, AIDEN IWO automatically assembles the response team, assigns diagnostic tasks, updates stakeholders, and compiles a post‑incident review document.</a:t>
            </a:r>
          </a:p>
          <a:p>
            <a:pPr>
              <a:spcAft>
                <a:spcPts val="800"/>
              </a:spcAft>
              <a:defRPr sz="1800">
                <a:solidFill>
                  <a:srgbClr val="2D2D2D"/>
                </a:solidFill>
              </a:defRPr>
            </a:pPr>
            <a:r>
              <a:t>•  Prepared for internal distribution – concise, one‑page brief</a:t>
            </a:r>
          </a:p>
          <a:p>
            <a:pPr>
              <a:spcAft>
                <a:spcPts val="800"/>
              </a:spcAft>
              <a:defRPr sz="1800">
                <a:solidFill>
                  <a:srgbClr val="2D2D2D"/>
                </a:solidFill>
              </a:defRPr>
            </a:pPr>
            <a:r>
              <a:t>•  # AIDEN IWO – Integrated Workflow Orchestrator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35</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What is AIDEN IWO?</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(Intelligent Workflow Orchestrator) is the core coordination engine of the AIDEN platform. It dynamically routes tasks, enforces tiered authority, and synchronises sub‑agents across functional domains, guaranteeing that every request follows prescribed governance while preserving end‑to‑end traceability.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36</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Key Benefits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Consistent Governance – Automatic enforcement of Tier 1, 1.5, 2 policies eliminates manual oversight gaps and reduces compliance risk.</a:t>
            </a:r>
          </a:p>
          <a:p>
            <a:pPr>
              <a:spcAft>
                <a:spcPts val="800"/>
              </a:spcAft>
              <a:defRPr sz="1800">
                <a:solidFill>
                  <a:srgbClr val="2D2D2D"/>
                </a:solidFill>
              </a:defRPr>
            </a:pPr>
            <a:r>
              <a:t>•  Scalable Agility – Decision‑making is decoupled from execution, allowing sub‑agents to operate in parallel and respond rapidly to changing priorities.</a:t>
            </a:r>
          </a:p>
          <a:p>
            <a:pPr>
              <a:spcAft>
                <a:spcPts val="800"/>
              </a:spcAft>
              <a:defRPr sz="1800">
                <a:solidFill>
                  <a:srgbClr val="2D2D2D"/>
                </a:solidFill>
              </a:defRPr>
            </a:pPr>
            <a:r>
              <a:t>•  Transparent Accountability – Immutable audit trails are generated for every step, supporting swift post‑mortem analysis and continuous improvement.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37</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Use Cases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Cross‑Team Campaign Launch – Marketing defines a new product launch; AIDEN IWO validates budget limits, triggers creative production, schedules rollout, and logs finance approvals.</a:t>
            </a:r>
          </a:p>
          <a:p>
            <a:pPr>
              <a:spcAft>
                <a:spcPts val="800"/>
              </a:spcAft>
              <a:defRPr sz="1800">
                <a:solidFill>
                  <a:srgbClr val="2D2D2D"/>
                </a:solidFill>
              </a:defRPr>
            </a:pPr>
            <a:r>
              <a:t>•  Regulatory Reporting Automation – The compliance team submits a quarterly filing; the orchestrator routes data extraction, formats the report, applies encryption, and delivers it with a complete audit record.</a:t>
            </a:r>
          </a:p>
          <a:p>
            <a:pPr>
              <a:spcAft>
                <a:spcPts val="800"/>
              </a:spcAft>
              <a:defRPr sz="1800">
                <a:solidFill>
                  <a:srgbClr val="2D2D2D"/>
                </a:solidFill>
              </a:defRPr>
            </a:pPr>
            <a:r>
              <a:t>•  Incident Response Coordination – When an outage is detected, AIDEN IWO automatically assembles the response team, assigns diagnostic tasks, updates stakeholders, and compiles a post‑incident review document.</a:t>
            </a:r>
          </a:p>
          <a:p>
            <a:pPr>
              <a:spcAft>
                <a:spcPts val="800"/>
              </a:spcAft>
              <a:defRPr sz="1800">
                <a:solidFill>
                  <a:srgbClr val="2D2D2D"/>
                </a:solidFill>
              </a:defRPr>
            </a:pPr>
            <a:r>
              <a:t>•  Prepared for internal distribution – concise, one‑page brief.</a:t>
            </a:r>
          </a:p>
          <a:p>
            <a:pPr>
              <a:spcAft>
                <a:spcPts val="800"/>
              </a:spcAft>
              <a:defRPr sz="1800">
                <a:solidFill>
                  <a:srgbClr val="2D2D2D"/>
                </a:solidFill>
              </a:defRPr>
            </a:pPr>
            <a:r>
              <a:t>•  # AIDEN IWO – Integrated Workflow Orchestrator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38</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What is AIDEN IWO?</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(Intelligent Workflow Orchestrator) is the core coordination engine of the AIDEN platform. It dynamically routes tasks, enforces tiered authority, and synchronises sub‑agents across functional domains, guaranteeing that every request follows prescribed governance while preserving end‑to‑end traceability.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39</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Key Benefits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Consistent Governance – Automatic enforcement of Tier 1, 1.5, 2 policies eliminates manual oversight gaps and reduces compliance risk.</a:t>
            </a:r>
          </a:p>
          <a:p>
            <a:pPr>
              <a:spcAft>
                <a:spcPts val="800"/>
              </a:spcAft>
              <a:defRPr sz="1800">
                <a:solidFill>
                  <a:srgbClr val="2D2D2D"/>
                </a:solidFill>
              </a:defRPr>
            </a:pPr>
            <a:r>
              <a:t>•  Scalable Agility – Decision‑making is decoupled from execution, allowing sub‑agents to operate in parallel and respond rapidly to changing priorities.</a:t>
            </a:r>
          </a:p>
          <a:p>
            <a:pPr>
              <a:spcAft>
                <a:spcPts val="800"/>
              </a:spcAft>
              <a:defRPr sz="1800">
                <a:solidFill>
                  <a:srgbClr val="2D2D2D"/>
                </a:solidFill>
              </a:defRPr>
            </a:pPr>
            <a:r>
              <a:t>•  Transparent Accountability – Immutable audit trails are generated for every step, supporting swift post‑mortem analysis and continuous improvement.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40</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Use Cases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Cross‑Team Campaign Launch – Marketing defines a new product launch; AIDEN IWO validates budget limits, triggers creative production, schedules rollout, and logs finance approvals.</a:t>
            </a:r>
          </a:p>
          <a:p>
            <a:pPr>
              <a:spcAft>
                <a:spcPts val="800"/>
              </a:spcAft>
              <a:defRPr sz="1800">
                <a:solidFill>
                  <a:srgbClr val="2D2D2D"/>
                </a:solidFill>
              </a:defRPr>
            </a:pPr>
            <a:r>
              <a:t>•  Regulatory Reporting Automation – The compliance team submits a quarterly filing; the orchestrator routes data extraction, formats the report, applies encryption, and delivers it with a complete audit record.</a:t>
            </a:r>
          </a:p>
          <a:p>
            <a:pPr>
              <a:spcAft>
                <a:spcPts val="800"/>
              </a:spcAft>
              <a:defRPr sz="1800">
                <a:solidFill>
                  <a:srgbClr val="2D2D2D"/>
                </a:solidFill>
              </a:defRPr>
            </a:pPr>
            <a:r>
              <a:t>•  Incident Response Coordination – When an outage is detected, AIDEN IWO automatically assembles the response team, assigns diagnostic tasks, updates stakeholders, and compiles a post‑incident review document.</a:t>
            </a:r>
          </a:p>
          <a:p>
            <a:pPr>
              <a:spcAft>
                <a:spcPts val="800"/>
              </a:spcAft>
              <a:defRPr sz="1800">
                <a:solidFill>
                  <a:srgbClr val="2D2D2D"/>
                </a:solidFill>
              </a:defRPr>
            </a:pPr>
            <a:r>
              <a:t>•  Prepared for internal distribution – concise, one‑page brief.</a:t>
            </a:r>
          </a:p>
          <a:p>
            <a:pPr>
              <a:spcAft>
                <a:spcPts val="800"/>
              </a:spcAft>
              <a:defRPr sz="1800">
                <a:solidFill>
                  <a:srgbClr val="2D2D2D"/>
                </a:solidFill>
              </a:defRPr>
            </a:pPr>
            <a:r>
              <a:t>•  # AIDEN IWO – Integrated Workflow Orchestrator</a:t>
            </a:r>
          </a:p>
          <a:p>
            <a:pPr>
              <a:spcAft>
                <a:spcPts val="800"/>
              </a:spcAft>
              <a:defRPr sz="1800">
                <a:solidFill>
                  <a:srgbClr val="2D2D2D"/>
                </a:solidFill>
              </a:defRPr>
            </a:pPr>
            <a:r>
              <a:t>•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41</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What is AIDEN IWO?</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(Intelligent Workflow Orchestrator) is the core coordination engine of the AIDEN platform. It dynamically routes tasks, enforces tiered authority, and synchronises sub‑agents across functional domains, guaranteeing that every request follows prescribed governance while preserving end‑to‑end traceability.</a:t>
            </a:r>
          </a:p>
          <a:p>
            <a:pPr>
              <a:spcAft>
                <a:spcPts val="800"/>
              </a:spcAft>
              <a:defRPr sz="1800">
                <a:solidFill>
                  <a:srgbClr val="2D2D2D"/>
                </a:solidFill>
              </a:defRPr>
            </a:pPr>
            <a:r>
              <a:t>•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42</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Key Benefits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Consistent Governance – Automatic enforcement of Tier 1, 1.5, 2 policies eliminates manual oversight gaps and reduces compliance risk.</a:t>
            </a:r>
          </a:p>
          <a:p>
            <a:pPr>
              <a:spcAft>
                <a:spcPts val="800"/>
              </a:spcAft>
              <a:defRPr sz="1800">
                <a:solidFill>
                  <a:srgbClr val="2D2D2D"/>
                </a:solidFill>
              </a:defRPr>
            </a:pPr>
            <a:r>
              <a:t>•  Scalable Agility – Decision‑making is decoupled from execution, allowing sub‑agents to operate in parallel and respond rapidly to changing priorities.</a:t>
            </a:r>
          </a:p>
          <a:p>
            <a:pPr>
              <a:spcAft>
                <a:spcPts val="800"/>
              </a:spcAft>
              <a:defRPr sz="1800">
                <a:solidFill>
                  <a:srgbClr val="2D2D2D"/>
                </a:solidFill>
              </a:defRPr>
            </a:pPr>
            <a:r>
              <a:t>•  Transparent Accountability – Immutable audit trails are generated for every step, supporting swift post‑mortem analysis and continuous improvement.</a:t>
            </a:r>
          </a:p>
          <a:p>
            <a:pPr>
              <a:spcAft>
                <a:spcPts val="800"/>
              </a:spcAft>
              <a:defRPr sz="1800">
                <a:solidFill>
                  <a:srgbClr val="2D2D2D"/>
                </a:solidFill>
              </a:defRPr>
            </a:pPr>
            <a:r>
              <a:t>•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43</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Use Cases</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Cross‑Team Campaign Launch – Marketing defines a new product launch; AIDEN IWO validates budget limits, triggers creative production, schedules rollout, and logs finance approvals.</a:t>
            </a:r>
          </a:p>
          <a:p>
            <a:pPr>
              <a:spcAft>
                <a:spcPts val="800"/>
              </a:spcAft>
              <a:defRPr sz="1800">
                <a:solidFill>
                  <a:srgbClr val="2D2D2D"/>
                </a:solidFill>
              </a:defRPr>
            </a:pPr>
            <a:r>
              <a:t>•  Regulatory Reporting Automation – The compliance team submits a quarterly filing; the orchestrator routes data extraction, formats the report, applies encryption, and delivers it with a complete audit record.</a:t>
            </a:r>
          </a:p>
          <a:p>
            <a:pPr>
              <a:spcAft>
                <a:spcPts val="800"/>
              </a:spcAft>
              <a:defRPr sz="1800">
                <a:solidFill>
                  <a:srgbClr val="2D2D2D"/>
                </a:solidFill>
              </a:defRPr>
            </a:pPr>
            <a:r>
              <a:t>•  Incident Response Coordination – When an outage is detected, AIDEN IWO automatically assembles the response team, assigns diagnostic tasks, updates stakeholders, and compiles a post‑incident review document.</a:t>
            </a:r>
          </a:p>
          <a:p>
            <a:pPr>
              <a:spcAft>
                <a:spcPts val="800"/>
              </a:spcAft>
              <a:defRPr sz="1800">
                <a:solidFill>
                  <a:srgbClr val="2D2D2D"/>
                </a:solidFill>
              </a:defRPr>
            </a:pPr>
            <a:r>
              <a:t>•  ---</a:t>
            </a:r>
          </a:p>
          <a:p>
            <a:pPr>
              <a:spcAft>
                <a:spcPts val="800"/>
              </a:spcAft>
              <a:defRPr sz="1800">
                <a:solidFill>
                  <a:srgbClr val="2D2D2D"/>
                </a:solidFill>
              </a:defRPr>
            </a:pPr>
            <a:r>
              <a:t>•  Prepared for internal distribution – concise, one‑page brief.</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91C53"/>
        </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4400" b="1">
                <a:solidFill>
                  <a:srgbClr val="FFFFFF"/>
                </a:solidFil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